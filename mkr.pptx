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5"/>
  </p:notesMasterIdLst>
  <p:sldIdLst>
    <p:sldId id="256" r:id="rId5"/>
    <p:sldId id="268" r:id="rId6"/>
    <p:sldId id="269" r:id="rId7"/>
    <p:sldId id="277" r:id="rId8"/>
    <p:sldId id="278" r:id="rId9"/>
    <p:sldId id="270" r:id="rId10"/>
    <p:sldId id="272" r:id="rId11"/>
    <p:sldId id="279" r:id="rId12"/>
    <p:sldId id="280" r:id="rId13"/>
    <p:sldId id="281" r:id="rId14"/>
    <p:sldId id="282" r:id="rId15"/>
    <p:sldId id="271" r:id="rId16"/>
    <p:sldId id="283" r:id="rId17"/>
    <p:sldId id="284" r:id="rId18"/>
    <p:sldId id="285" r:id="rId19"/>
    <p:sldId id="286" r:id="rId20"/>
    <p:sldId id="287" r:id="rId21"/>
    <p:sldId id="288" r:id="rId22"/>
    <p:sldId id="289" r:id="rId23"/>
    <p:sldId id="290" r:id="rId24"/>
    <p:sldId id="291" r:id="rId25"/>
    <p:sldId id="292" r:id="rId26"/>
    <p:sldId id="293" r:id="rId27"/>
    <p:sldId id="294" r:id="rId28"/>
    <p:sldId id="295" r:id="rId29"/>
    <p:sldId id="296" r:id="rId30"/>
    <p:sldId id="297" r:id="rId31"/>
    <p:sldId id="298" r:id="rId32"/>
    <p:sldId id="299" r:id="rId33"/>
    <p:sldId id="300" r:id="rId34"/>
    <p:sldId id="301" r:id="rId35"/>
    <p:sldId id="302" r:id="rId36"/>
    <p:sldId id="303" r:id="rId37"/>
    <p:sldId id="304" r:id="rId38"/>
    <p:sldId id="305" r:id="rId39"/>
    <p:sldId id="306" r:id="rId40"/>
    <p:sldId id="307" r:id="rId41"/>
    <p:sldId id="308" r:id="rId42"/>
    <p:sldId id="274" r:id="rId43"/>
    <p:sldId id="276"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5079B93-9652-6626-7181-414354FAD15D}" name="Sher Dionisio" initials="SD" userId="Sher Dionisio" providerId="Non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F4A440-1C4B-47B9-9485-90EEBB2DC5D1}" v="56" dt="2026-05-29T09:55:09.8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7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heme" Target="theme/theme1.xml"/><Relationship Id="rId8" Type="http://schemas.openxmlformats.org/officeDocument/2006/relationships/slide" Target="slides/slide4.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yagabo Raphasha" userId="788f6913-b15e-48f8-8aa9-eb070542fbdc" providerId="ADAL" clId="{FBB27CBA-4B3E-4359-94FF-572B66EEDA0D}"/>
    <pc:docChg chg="undo redo custSel addSld delSld modSld sldOrd">
      <pc:chgData name="Moyagabo Raphasha" userId="788f6913-b15e-48f8-8aa9-eb070542fbdc" providerId="ADAL" clId="{FBB27CBA-4B3E-4359-94FF-572B66EEDA0D}" dt="2026-05-29T09:04:50.805" v="530" actId="20577"/>
      <pc:docMkLst>
        <pc:docMk/>
      </pc:docMkLst>
      <pc:sldChg chg="modSp mod">
        <pc:chgData name="Moyagabo Raphasha" userId="788f6913-b15e-48f8-8aa9-eb070542fbdc" providerId="ADAL" clId="{FBB27CBA-4B3E-4359-94FF-572B66EEDA0D}" dt="2026-05-28T11:31:37.356" v="42" actId="20577"/>
        <pc:sldMkLst>
          <pc:docMk/>
          <pc:sldMk cId="1813412702" sldId="256"/>
        </pc:sldMkLst>
        <pc:spChg chg="mod">
          <ac:chgData name="Moyagabo Raphasha" userId="788f6913-b15e-48f8-8aa9-eb070542fbdc" providerId="ADAL" clId="{FBB27CBA-4B3E-4359-94FF-572B66EEDA0D}" dt="2026-05-28T11:31:37.356" v="42" actId="20577"/>
          <ac:spMkLst>
            <pc:docMk/>
            <pc:sldMk cId="1813412702" sldId="256"/>
            <ac:spMk id="5" creationId="{40FB8F73-C8DC-961E-E0C4-B8A4B74C9D96}"/>
          </ac:spMkLst>
        </pc:spChg>
      </pc:sldChg>
      <pc:sldChg chg="del">
        <pc:chgData name="Moyagabo Raphasha" userId="788f6913-b15e-48f8-8aa9-eb070542fbdc" providerId="ADAL" clId="{FBB27CBA-4B3E-4359-94FF-572B66EEDA0D}" dt="2026-05-29T08:13:16.152" v="407" actId="2696"/>
        <pc:sldMkLst>
          <pc:docMk/>
          <pc:sldMk cId="2889965112" sldId="259"/>
        </pc:sldMkLst>
      </pc:sldChg>
      <pc:sldChg chg="addSp modSp mod">
        <pc:chgData name="Moyagabo Raphasha" userId="788f6913-b15e-48f8-8aa9-eb070542fbdc" providerId="ADAL" clId="{FBB27CBA-4B3E-4359-94FF-572B66EEDA0D}" dt="2026-05-28T11:34:18.255" v="109" actId="20577"/>
        <pc:sldMkLst>
          <pc:docMk/>
          <pc:sldMk cId="1307932830" sldId="268"/>
        </pc:sldMkLst>
        <pc:spChg chg="mod">
          <ac:chgData name="Moyagabo Raphasha" userId="788f6913-b15e-48f8-8aa9-eb070542fbdc" providerId="ADAL" clId="{FBB27CBA-4B3E-4359-94FF-572B66EEDA0D}" dt="2026-05-28T11:33:29.949" v="86" actId="20577"/>
          <ac:spMkLst>
            <pc:docMk/>
            <pc:sldMk cId="1307932830" sldId="268"/>
            <ac:spMk id="4" creationId="{1BDC815C-4270-36F8-D592-247DFDB5164B}"/>
          </ac:spMkLst>
        </pc:spChg>
        <pc:spChg chg="add mod">
          <ac:chgData name="Moyagabo Raphasha" userId="788f6913-b15e-48f8-8aa9-eb070542fbdc" providerId="ADAL" clId="{FBB27CBA-4B3E-4359-94FF-572B66EEDA0D}" dt="2026-05-28T11:33:59.152" v="108" actId="5793"/>
          <ac:spMkLst>
            <pc:docMk/>
            <pc:sldMk cId="1307932830" sldId="268"/>
            <ac:spMk id="5" creationId="{380C041A-5E6F-2E57-8027-636B4F87FA5D}"/>
          </ac:spMkLst>
        </pc:spChg>
        <pc:spChg chg="mod">
          <ac:chgData name="Moyagabo Raphasha" userId="788f6913-b15e-48f8-8aa9-eb070542fbdc" providerId="ADAL" clId="{FBB27CBA-4B3E-4359-94FF-572B66EEDA0D}" dt="2026-05-28T11:34:18.255" v="109" actId="20577"/>
          <ac:spMkLst>
            <pc:docMk/>
            <pc:sldMk cId="1307932830" sldId="268"/>
            <ac:spMk id="14" creationId="{BCBC7432-5599-31A6-2FDA-FB1C4981A45B}"/>
          </ac:spMkLst>
        </pc:spChg>
      </pc:sldChg>
      <pc:sldChg chg="addSp delSp modSp mod ord">
        <pc:chgData name="Moyagabo Raphasha" userId="788f6913-b15e-48f8-8aa9-eb070542fbdc" providerId="ADAL" clId="{FBB27CBA-4B3E-4359-94FF-572B66EEDA0D}" dt="2026-05-28T11:51:05.952" v="267" actId="14100"/>
        <pc:sldMkLst>
          <pc:docMk/>
          <pc:sldMk cId="1977078966" sldId="269"/>
        </pc:sldMkLst>
        <pc:spChg chg="mod">
          <ac:chgData name="Moyagabo Raphasha" userId="788f6913-b15e-48f8-8aa9-eb070542fbdc" providerId="ADAL" clId="{FBB27CBA-4B3E-4359-94FF-572B66EEDA0D}" dt="2026-05-28T11:34:57.234" v="130" actId="20577"/>
          <ac:spMkLst>
            <pc:docMk/>
            <pc:sldMk cId="1977078966" sldId="269"/>
            <ac:spMk id="2" creationId="{FAC308BA-459D-301F-8B39-EB14A0A87376}"/>
          </ac:spMkLst>
        </pc:spChg>
        <pc:spChg chg="add mod">
          <ac:chgData name="Moyagabo Raphasha" userId="788f6913-b15e-48f8-8aa9-eb070542fbdc" providerId="ADAL" clId="{FBB27CBA-4B3E-4359-94FF-572B66EEDA0D}" dt="2026-05-28T11:50:50.805" v="262" actId="478"/>
          <ac:spMkLst>
            <pc:docMk/>
            <pc:sldMk cId="1977078966" sldId="269"/>
            <ac:spMk id="6" creationId="{0D737F60-9F23-5239-EA54-63F888EC9F8D}"/>
          </ac:spMkLst>
        </pc:spChg>
        <pc:spChg chg="mod">
          <ac:chgData name="Moyagabo Raphasha" userId="788f6913-b15e-48f8-8aa9-eb070542fbdc" providerId="ADAL" clId="{FBB27CBA-4B3E-4359-94FF-572B66EEDA0D}" dt="2026-05-28T11:36:29.841" v="139" actId="27636"/>
          <ac:spMkLst>
            <pc:docMk/>
            <pc:sldMk cId="1977078966" sldId="269"/>
            <ac:spMk id="14" creationId="{AA674B4E-E934-FC53-3B0B-CFD37AD59B00}"/>
          </ac:spMkLst>
        </pc:spChg>
        <pc:picChg chg="add mod">
          <ac:chgData name="Moyagabo Raphasha" userId="788f6913-b15e-48f8-8aa9-eb070542fbdc" providerId="ADAL" clId="{FBB27CBA-4B3E-4359-94FF-572B66EEDA0D}" dt="2026-05-28T11:51:05.952" v="267" actId="14100"/>
          <ac:picMkLst>
            <pc:docMk/>
            <pc:sldMk cId="1977078966" sldId="269"/>
            <ac:picMk id="7" creationId="{FD3C7BFC-815B-EA85-CE3D-91F436ACE4CA}"/>
          </ac:picMkLst>
        </pc:picChg>
        <pc:picChg chg="del">
          <ac:chgData name="Moyagabo Raphasha" userId="788f6913-b15e-48f8-8aa9-eb070542fbdc" providerId="ADAL" clId="{FBB27CBA-4B3E-4359-94FF-572B66EEDA0D}" dt="2026-05-28T11:50:50.805" v="262" actId="478"/>
          <ac:picMkLst>
            <pc:docMk/>
            <pc:sldMk cId="1977078966" sldId="269"/>
            <ac:picMk id="8" creationId="{1395F9DA-57B9-71DD-928F-126BD076638A}"/>
          </ac:picMkLst>
        </pc:picChg>
      </pc:sldChg>
      <pc:sldChg chg="addSp delSp modSp mod">
        <pc:chgData name="Moyagabo Raphasha" userId="788f6913-b15e-48f8-8aa9-eb070542fbdc" providerId="ADAL" clId="{FBB27CBA-4B3E-4359-94FF-572B66EEDA0D}" dt="2026-05-28T11:42:16.624" v="200" actId="27636"/>
        <pc:sldMkLst>
          <pc:docMk/>
          <pc:sldMk cId="1159782697" sldId="270"/>
        </pc:sldMkLst>
        <pc:spChg chg="add mod">
          <ac:chgData name="Moyagabo Raphasha" userId="788f6913-b15e-48f8-8aa9-eb070542fbdc" providerId="ADAL" clId="{FBB27CBA-4B3E-4359-94FF-572B66EEDA0D}" dt="2026-05-28T11:41:42.155" v="194"/>
          <ac:spMkLst>
            <pc:docMk/>
            <pc:sldMk cId="1159782697" sldId="270"/>
            <ac:spMk id="2" creationId="{EA2A3A86-8F0F-3016-3D7B-84FA27CD6CE9}"/>
          </ac:spMkLst>
        </pc:spChg>
        <pc:spChg chg="mod">
          <ac:chgData name="Moyagabo Raphasha" userId="788f6913-b15e-48f8-8aa9-eb070542fbdc" providerId="ADAL" clId="{FBB27CBA-4B3E-4359-94FF-572B66EEDA0D}" dt="2026-05-28T11:41:33.582" v="193" actId="1076"/>
          <ac:spMkLst>
            <pc:docMk/>
            <pc:sldMk cId="1159782697" sldId="270"/>
            <ac:spMk id="12" creationId="{2ABD3D9C-026C-538B-4ED4-B2B6C8F61D76}"/>
          </ac:spMkLst>
        </pc:spChg>
        <pc:spChg chg="mod">
          <ac:chgData name="Moyagabo Raphasha" userId="788f6913-b15e-48f8-8aa9-eb070542fbdc" providerId="ADAL" clId="{FBB27CBA-4B3E-4359-94FF-572B66EEDA0D}" dt="2026-05-28T11:42:16.624" v="200" actId="27636"/>
          <ac:spMkLst>
            <pc:docMk/>
            <pc:sldMk cId="1159782697" sldId="270"/>
            <ac:spMk id="14" creationId="{AA9B8452-D810-7659-4C17-83D2E44CEBCD}"/>
          </ac:spMkLst>
        </pc:spChg>
        <pc:spChg chg="del mod">
          <ac:chgData name="Moyagabo Raphasha" userId="788f6913-b15e-48f8-8aa9-eb070542fbdc" providerId="ADAL" clId="{FBB27CBA-4B3E-4359-94FF-572B66EEDA0D}" dt="2026-05-28T11:41:07.382" v="187" actId="21"/>
          <ac:spMkLst>
            <pc:docMk/>
            <pc:sldMk cId="1159782697" sldId="270"/>
            <ac:spMk id="15" creationId="{EA2A3A86-8F0F-3016-3D7B-84FA27CD6CE9}"/>
          </ac:spMkLst>
        </pc:spChg>
        <pc:picChg chg="mod">
          <ac:chgData name="Moyagabo Raphasha" userId="788f6913-b15e-48f8-8aa9-eb070542fbdc" providerId="ADAL" clId="{FBB27CBA-4B3E-4359-94FF-572B66EEDA0D}" dt="2026-05-28T11:41:25.733" v="191" actId="14100"/>
          <ac:picMkLst>
            <pc:docMk/>
            <pc:sldMk cId="1159782697" sldId="270"/>
            <ac:picMk id="16" creationId="{B3E54B81-9BC6-9E5A-F322-B319720FA752}"/>
          </ac:picMkLst>
        </pc:picChg>
      </pc:sldChg>
      <pc:sldChg chg="addSp delSp modSp mod ord">
        <pc:chgData name="Moyagabo Raphasha" userId="788f6913-b15e-48f8-8aa9-eb070542fbdc" providerId="ADAL" clId="{FBB27CBA-4B3E-4359-94FF-572B66EEDA0D}" dt="2026-05-28T11:55:49.863" v="342" actId="14100"/>
        <pc:sldMkLst>
          <pc:docMk/>
          <pc:sldMk cId="2972167381" sldId="271"/>
        </pc:sldMkLst>
        <pc:spChg chg="del mod">
          <ac:chgData name="Moyagabo Raphasha" userId="788f6913-b15e-48f8-8aa9-eb070542fbdc" providerId="ADAL" clId="{FBB27CBA-4B3E-4359-94FF-572B66EEDA0D}" dt="2026-05-28T11:53:56.997" v="325" actId="931"/>
          <ac:spMkLst>
            <pc:docMk/>
            <pc:sldMk cId="2972167381" sldId="271"/>
            <ac:spMk id="7" creationId="{D38D5FAE-ACF7-4031-3B31-754802A6877C}"/>
          </ac:spMkLst>
        </pc:spChg>
        <pc:spChg chg="add del mod">
          <ac:chgData name="Moyagabo Raphasha" userId="788f6913-b15e-48f8-8aa9-eb070542fbdc" providerId="ADAL" clId="{FBB27CBA-4B3E-4359-94FF-572B66EEDA0D}" dt="2026-05-28T11:55:04.196" v="334" actId="478"/>
          <ac:spMkLst>
            <pc:docMk/>
            <pc:sldMk cId="2972167381" sldId="271"/>
            <ac:spMk id="10" creationId="{D0F528E4-3A2F-491D-8B2F-A875F069BB19}"/>
          </ac:spMkLst>
        </pc:spChg>
        <pc:spChg chg="mod">
          <ac:chgData name="Moyagabo Raphasha" userId="788f6913-b15e-48f8-8aa9-eb070542fbdc" providerId="ADAL" clId="{FBB27CBA-4B3E-4359-94FF-572B66EEDA0D}" dt="2026-05-28T11:52:18.913" v="323" actId="14100"/>
          <ac:spMkLst>
            <pc:docMk/>
            <pc:sldMk cId="2972167381" sldId="271"/>
            <ac:spMk id="15" creationId="{B0013F39-0773-2ADC-C8F5-BDC8BAB5271A}"/>
          </ac:spMkLst>
        </pc:spChg>
        <pc:spChg chg="del mod">
          <ac:chgData name="Moyagabo Raphasha" userId="788f6913-b15e-48f8-8aa9-eb070542fbdc" providerId="ADAL" clId="{FBB27CBA-4B3E-4359-94FF-572B66EEDA0D}" dt="2026-05-28T11:54:58.538" v="333" actId="478"/>
          <ac:spMkLst>
            <pc:docMk/>
            <pc:sldMk cId="2972167381" sldId="271"/>
            <ac:spMk id="16" creationId="{E6A55113-1BA2-3B25-ECD9-7F2B1B5EA1E6}"/>
          </ac:spMkLst>
        </pc:spChg>
        <pc:spChg chg="mod">
          <ac:chgData name="Moyagabo Raphasha" userId="788f6913-b15e-48f8-8aa9-eb070542fbdc" providerId="ADAL" clId="{FBB27CBA-4B3E-4359-94FF-572B66EEDA0D}" dt="2026-05-28T11:55:49.863" v="342" actId="14100"/>
          <ac:spMkLst>
            <pc:docMk/>
            <pc:sldMk cId="2972167381" sldId="271"/>
            <ac:spMk id="17" creationId="{9E6D3AC8-B62C-0F43-5DBB-92A614814AFF}"/>
          </ac:spMkLst>
        </pc:spChg>
        <pc:picChg chg="del mod">
          <ac:chgData name="Moyagabo Raphasha" userId="788f6913-b15e-48f8-8aa9-eb070542fbdc" providerId="ADAL" clId="{FBB27CBA-4B3E-4359-94FF-572B66EEDA0D}" dt="2026-05-28T11:52:25.558" v="324" actId="478"/>
          <ac:picMkLst>
            <pc:docMk/>
            <pc:sldMk cId="2972167381" sldId="271"/>
            <ac:picMk id="2" creationId="{1EB6E407-3902-0130-98D9-1573018416B9}"/>
          </ac:picMkLst>
        </pc:picChg>
        <pc:picChg chg="add mod">
          <ac:chgData name="Moyagabo Raphasha" userId="788f6913-b15e-48f8-8aa9-eb070542fbdc" providerId="ADAL" clId="{FBB27CBA-4B3E-4359-94FF-572B66EEDA0D}" dt="2026-05-28T11:54:03.758" v="327" actId="1076"/>
          <ac:picMkLst>
            <pc:docMk/>
            <pc:sldMk cId="2972167381" sldId="271"/>
            <ac:picMk id="8" creationId="{B1099102-CB1B-D358-6696-8219C3911999}"/>
          </ac:picMkLst>
        </pc:picChg>
      </pc:sldChg>
      <pc:sldChg chg="modSp mod">
        <pc:chgData name="Moyagabo Raphasha" userId="788f6913-b15e-48f8-8aa9-eb070542fbdc" providerId="ADAL" clId="{FBB27CBA-4B3E-4359-94FF-572B66EEDA0D}" dt="2026-05-28T11:45:29.661" v="239" actId="14100"/>
        <pc:sldMkLst>
          <pc:docMk/>
          <pc:sldMk cId="2175486076" sldId="272"/>
        </pc:sldMkLst>
        <pc:spChg chg="mod">
          <ac:chgData name="Moyagabo Raphasha" userId="788f6913-b15e-48f8-8aa9-eb070542fbdc" providerId="ADAL" clId="{FBB27CBA-4B3E-4359-94FF-572B66EEDA0D}" dt="2026-05-28T11:45:29.661" v="239" actId="14100"/>
          <ac:spMkLst>
            <pc:docMk/>
            <pc:sldMk cId="2175486076" sldId="272"/>
            <ac:spMk id="17" creationId="{9EB62227-6FA2-1BA1-2A61-150AA60C4B09}"/>
          </ac:spMkLst>
        </pc:spChg>
        <pc:spChg chg="mod">
          <ac:chgData name="Moyagabo Raphasha" userId="788f6913-b15e-48f8-8aa9-eb070542fbdc" providerId="ADAL" clId="{FBB27CBA-4B3E-4359-94FF-572B66EEDA0D}" dt="2026-05-28T11:45:20.304" v="236" actId="1076"/>
          <ac:spMkLst>
            <pc:docMk/>
            <pc:sldMk cId="2175486076" sldId="272"/>
            <ac:spMk id="22" creationId="{40028162-589B-5C86-7B4D-EDA581753E71}"/>
          </ac:spMkLst>
        </pc:spChg>
      </pc:sldChg>
      <pc:sldChg chg="modSp mod">
        <pc:chgData name="Moyagabo Raphasha" userId="788f6913-b15e-48f8-8aa9-eb070542fbdc" providerId="ADAL" clId="{FBB27CBA-4B3E-4359-94FF-572B66EEDA0D}" dt="2026-05-29T09:04:50.805" v="530" actId="20577"/>
        <pc:sldMkLst>
          <pc:docMk/>
          <pc:sldMk cId="2520751073" sldId="274"/>
        </pc:sldMkLst>
        <pc:spChg chg="mod">
          <ac:chgData name="Moyagabo Raphasha" userId="788f6913-b15e-48f8-8aa9-eb070542fbdc" providerId="ADAL" clId="{FBB27CBA-4B3E-4359-94FF-572B66EEDA0D}" dt="2026-05-28T12:04:13.505" v="395" actId="14100"/>
          <ac:spMkLst>
            <pc:docMk/>
            <pc:sldMk cId="2520751073" sldId="274"/>
            <ac:spMk id="2" creationId="{634ADBD6-0C6B-368B-9D80-E6666D2FECB3}"/>
          </ac:spMkLst>
        </pc:spChg>
        <pc:spChg chg="mod">
          <ac:chgData name="Moyagabo Raphasha" userId="788f6913-b15e-48f8-8aa9-eb070542fbdc" providerId="ADAL" clId="{FBB27CBA-4B3E-4359-94FF-572B66EEDA0D}" dt="2026-05-29T09:04:50.805" v="530" actId="20577"/>
          <ac:spMkLst>
            <pc:docMk/>
            <pc:sldMk cId="2520751073" sldId="274"/>
            <ac:spMk id="14" creationId="{AB240928-9180-14ED-39F3-DC4B586C76B8}"/>
          </ac:spMkLst>
        </pc:spChg>
      </pc:sldChg>
      <pc:sldChg chg="modSp add mod">
        <pc:chgData name="Moyagabo Raphasha" userId="788f6913-b15e-48f8-8aa9-eb070542fbdc" providerId="ADAL" clId="{FBB27CBA-4B3E-4359-94FF-572B66EEDA0D}" dt="2026-05-28T11:39:47.964" v="157" actId="27636"/>
        <pc:sldMkLst>
          <pc:docMk/>
          <pc:sldMk cId="476062948" sldId="277"/>
        </pc:sldMkLst>
        <pc:spChg chg="mod">
          <ac:chgData name="Moyagabo Raphasha" userId="788f6913-b15e-48f8-8aa9-eb070542fbdc" providerId="ADAL" clId="{FBB27CBA-4B3E-4359-94FF-572B66EEDA0D}" dt="2026-05-28T11:38:17.964" v="150" actId="1076"/>
          <ac:spMkLst>
            <pc:docMk/>
            <pc:sldMk cId="476062948" sldId="277"/>
            <ac:spMk id="2" creationId="{6594475B-4A35-6029-B72E-B4FE259EE41F}"/>
          </ac:spMkLst>
        </pc:spChg>
        <pc:spChg chg="mod">
          <ac:chgData name="Moyagabo Raphasha" userId="788f6913-b15e-48f8-8aa9-eb070542fbdc" providerId="ADAL" clId="{FBB27CBA-4B3E-4359-94FF-572B66EEDA0D}" dt="2026-05-28T11:39:47.964" v="157" actId="27636"/>
          <ac:spMkLst>
            <pc:docMk/>
            <pc:sldMk cId="476062948" sldId="277"/>
            <ac:spMk id="14" creationId="{DDF173B0-B7C0-08D7-7417-7E885BA7D02A}"/>
          </ac:spMkLst>
        </pc:spChg>
      </pc:sldChg>
      <pc:sldChg chg="modSp add mod">
        <pc:chgData name="Moyagabo Raphasha" userId="788f6913-b15e-48f8-8aa9-eb070542fbdc" providerId="ADAL" clId="{FBB27CBA-4B3E-4359-94FF-572B66EEDA0D}" dt="2026-05-28T11:40:04.648" v="159" actId="27636"/>
        <pc:sldMkLst>
          <pc:docMk/>
          <pc:sldMk cId="1843864986" sldId="278"/>
        </pc:sldMkLst>
        <pc:spChg chg="mod">
          <ac:chgData name="Moyagabo Raphasha" userId="788f6913-b15e-48f8-8aa9-eb070542fbdc" providerId="ADAL" clId="{FBB27CBA-4B3E-4359-94FF-572B66EEDA0D}" dt="2026-05-28T11:40:04.648" v="159" actId="27636"/>
          <ac:spMkLst>
            <pc:docMk/>
            <pc:sldMk cId="1843864986" sldId="278"/>
            <ac:spMk id="14" creationId="{27C45D2C-1A4F-2EE3-3150-97E996B5F38D}"/>
          </ac:spMkLst>
        </pc:spChg>
      </pc:sldChg>
      <pc:sldChg chg="modSp add mod">
        <pc:chgData name="Moyagabo Raphasha" userId="788f6913-b15e-48f8-8aa9-eb070542fbdc" providerId="ADAL" clId="{FBB27CBA-4B3E-4359-94FF-572B66EEDA0D}" dt="2026-05-28T11:45:48.489" v="245" actId="27636"/>
        <pc:sldMkLst>
          <pc:docMk/>
          <pc:sldMk cId="2111008883" sldId="279"/>
        </pc:sldMkLst>
        <pc:spChg chg="mod">
          <ac:chgData name="Moyagabo Raphasha" userId="788f6913-b15e-48f8-8aa9-eb070542fbdc" providerId="ADAL" clId="{FBB27CBA-4B3E-4359-94FF-572B66EEDA0D}" dt="2026-05-28T11:45:48.489" v="245" actId="27636"/>
          <ac:spMkLst>
            <pc:docMk/>
            <pc:sldMk cId="2111008883" sldId="279"/>
            <ac:spMk id="17" creationId="{393989FB-0AFC-280C-2829-12D417B6F5BD}"/>
          </ac:spMkLst>
        </pc:spChg>
      </pc:sldChg>
      <pc:sldChg chg="modSp add mod">
        <pc:chgData name="Moyagabo Raphasha" userId="788f6913-b15e-48f8-8aa9-eb070542fbdc" providerId="ADAL" clId="{FBB27CBA-4B3E-4359-94FF-572B66EEDA0D}" dt="2026-05-28T11:46:48.561" v="250" actId="27636"/>
        <pc:sldMkLst>
          <pc:docMk/>
          <pc:sldMk cId="3985908222" sldId="280"/>
        </pc:sldMkLst>
        <pc:spChg chg="mod">
          <ac:chgData name="Moyagabo Raphasha" userId="788f6913-b15e-48f8-8aa9-eb070542fbdc" providerId="ADAL" clId="{FBB27CBA-4B3E-4359-94FF-572B66EEDA0D}" dt="2026-05-28T11:46:48.561" v="250" actId="27636"/>
          <ac:spMkLst>
            <pc:docMk/>
            <pc:sldMk cId="3985908222" sldId="280"/>
            <ac:spMk id="17" creationId="{6C2EAE35-C1F6-5FDB-DA72-865343CAB426}"/>
          </ac:spMkLst>
        </pc:spChg>
      </pc:sldChg>
      <pc:sldChg chg="modSp add mod">
        <pc:chgData name="Moyagabo Raphasha" userId="788f6913-b15e-48f8-8aa9-eb070542fbdc" providerId="ADAL" clId="{FBB27CBA-4B3E-4359-94FF-572B66EEDA0D}" dt="2026-05-28T11:47:35.443" v="255" actId="27636"/>
        <pc:sldMkLst>
          <pc:docMk/>
          <pc:sldMk cId="4205016456" sldId="281"/>
        </pc:sldMkLst>
        <pc:spChg chg="mod">
          <ac:chgData name="Moyagabo Raphasha" userId="788f6913-b15e-48f8-8aa9-eb070542fbdc" providerId="ADAL" clId="{FBB27CBA-4B3E-4359-94FF-572B66EEDA0D}" dt="2026-05-28T11:47:35.443" v="255" actId="27636"/>
          <ac:spMkLst>
            <pc:docMk/>
            <pc:sldMk cId="4205016456" sldId="281"/>
            <ac:spMk id="17" creationId="{8E9F9EC4-446C-53E5-386D-AE3D2980AA26}"/>
          </ac:spMkLst>
        </pc:spChg>
      </pc:sldChg>
      <pc:sldChg chg="modSp add mod">
        <pc:chgData name="Moyagabo Raphasha" userId="788f6913-b15e-48f8-8aa9-eb070542fbdc" providerId="ADAL" clId="{FBB27CBA-4B3E-4359-94FF-572B66EEDA0D}" dt="2026-05-28T11:48:55.048" v="261" actId="14100"/>
        <pc:sldMkLst>
          <pc:docMk/>
          <pc:sldMk cId="498817768" sldId="282"/>
        </pc:sldMkLst>
        <pc:spChg chg="mod">
          <ac:chgData name="Moyagabo Raphasha" userId="788f6913-b15e-48f8-8aa9-eb070542fbdc" providerId="ADAL" clId="{FBB27CBA-4B3E-4359-94FF-572B66EEDA0D}" dt="2026-05-28T11:48:55.048" v="261" actId="14100"/>
          <ac:spMkLst>
            <pc:docMk/>
            <pc:sldMk cId="498817768" sldId="282"/>
            <ac:spMk id="17" creationId="{AACC09C1-F942-F58E-912D-AE86E35EAB33}"/>
          </ac:spMkLst>
        </pc:spChg>
        <pc:spChg chg="mod">
          <ac:chgData name="Moyagabo Raphasha" userId="788f6913-b15e-48f8-8aa9-eb070542fbdc" providerId="ADAL" clId="{FBB27CBA-4B3E-4359-94FF-572B66EEDA0D}" dt="2026-05-28T11:48:45.897" v="259" actId="1076"/>
          <ac:spMkLst>
            <pc:docMk/>
            <pc:sldMk cId="498817768" sldId="282"/>
            <ac:spMk id="22" creationId="{E9D3C565-4F81-1813-8B59-3740841CFB74}"/>
          </ac:spMkLst>
        </pc:spChg>
      </pc:sldChg>
      <pc:sldChg chg="modSp add mod">
        <pc:chgData name="Moyagabo Raphasha" userId="788f6913-b15e-48f8-8aa9-eb070542fbdc" providerId="ADAL" clId="{FBB27CBA-4B3E-4359-94FF-572B66EEDA0D}" dt="2026-05-28T11:57:30.532" v="352" actId="27636"/>
        <pc:sldMkLst>
          <pc:docMk/>
          <pc:sldMk cId="162739541" sldId="283"/>
        </pc:sldMkLst>
        <pc:spChg chg="mod">
          <ac:chgData name="Moyagabo Raphasha" userId="788f6913-b15e-48f8-8aa9-eb070542fbdc" providerId="ADAL" clId="{FBB27CBA-4B3E-4359-94FF-572B66EEDA0D}" dt="2026-05-28T11:57:30.532" v="352" actId="27636"/>
          <ac:spMkLst>
            <pc:docMk/>
            <pc:sldMk cId="162739541" sldId="283"/>
            <ac:spMk id="17" creationId="{020206ED-8FC9-4295-4667-E5DD9488AFCA}"/>
          </ac:spMkLst>
        </pc:spChg>
      </pc:sldChg>
      <pc:sldChg chg="modSp add mod">
        <pc:chgData name="Moyagabo Raphasha" userId="788f6913-b15e-48f8-8aa9-eb070542fbdc" providerId="ADAL" clId="{FBB27CBA-4B3E-4359-94FF-572B66EEDA0D}" dt="2026-05-28T11:58:14.626" v="358" actId="20577"/>
        <pc:sldMkLst>
          <pc:docMk/>
          <pc:sldMk cId="1066832470" sldId="284"/>
        </pc:sldMkLst>
        <pc:spChg chg="mod">
          <ac:chgData name="Moyagabo Raphasha" userId="788f6913-b15e-48f8-8aa9-eb070542fbdc" providerId="ADAL" clId="{FBB27CBA-4B3E-4359-94FF-572B66EEDA0D}" dt="2026-05-28T11:58:14.626" v="358" actId="20577"/>
          <ac:spMkLst>
            <pc:docMk/>
            <pc:sldMk cId="1066832470" sldId="284"/>
            <ac:spMk id="17" creationId="{61CA2007-BB30-508E-1A68-1A582B59A6E9}"/>
          </ac:spMkLst>
        </pc:spChg>
      </pc:sldChg>
      <pc:sldChg chg="addSp delSp modSp add mod setBg">
        <pc:chgData name="Moyagabo Raphasha" userId="788f6913-b15e-48f8-8aa9-eb070542fbdc" providerId="ADAL" clId="{FBB27CBA-4B3E-4359-94FF-572B66EEDA0D}" dt="2026-05-28T12:03:12.541" v="388" actId="14100"/>
        <pc:sldMkLst>
          <pc:docMk/>
          <pc:sldMk cId="2651036009" sldId="285"/>
        </pc:sldMkLst>
        <pc:spChg chg="mod">
          <ac:chgData name="Moyagabo Raphasha" userId="788f6913-b15e-48f8-8aa9-eb070542fbdc" providerId="ADAL" clId="{FBB27CBA-4B3E-4359-94FF-572B66EEDA0D}" dt="2026-05-28T11:59:59.271" v="362" actId="26606"/>
          <ac:spMkLst>
            <pc:docMk/>
            <pc:sldMk cId="2651036009" sldId="285"/>
            <ac:spMk id="3" creationId="{DB85CD6E-7B09-60C1-0062-4905E78A365E}"/>
          </ac:spMkLst>
        </pc:spChg>
        <pc:spChg chg="mod">
          <ac:chgData name="Moyagabo Raphasha" userId="788f6913-b15e-48f8-8aa9-eb070542fbdc" providerId="ADAL" clId="{FBB27CBA-4B3E-4359-94FF-572B66EEDA0D}" dt="2026-05-28T11:59:59.349" v="364" actId="27636"/>
          <ac:spMkLst>
            <pc:docMk/>
            <pc:sldMk cId="2651036009" sldId="285"/>
            <ac:spMk id="4" creationId="{AC7D0347-D53A-B664-E6DD-980E022F57B9}"/>
          </ac:spMkLst>
        </pc:spChg>
        <pc:spChg chg="mod">
          <ac:chgData name="Moyagabo Raphasha" userId="788f6913-b15e-48f8-8aa9-eb070542fbdc" providerId="ADAL" clId="{FBB27CBA-4B3E-4359-94FF-572B66EEDA0D}" dt="2026-05-28T11:59:59.271" v="362" actId="26606"/>
          <ac:spMkLst>
            <pc:docMk/>
            <pc:sldMk cId="2651036009" sldId="285"/>
            <ac:spMk id="5" creationId="{2A0C8318-E65F-2CC1-E28D-44E5D32AAB16}"/>
          </ac:spMkLst>
        </pc:spChg>
        <pc:spChg chg="add del mod">
          <ac:chgData name="Moyagabo Raphasha" userId="788f6913-b15e-48f8-8aa9-eb070542fbdc" providerId="ADAL" clId="{FBB27CBA-4B3E-4359-94FF-572B66EEDA0D}" dt="2026-05-28T11:59:51.696" v="361" actId="931"/>
          <ac:spMkLst>
            <pc:docMk/>
            <pc:sldMk cId="2651036009" sldId="285"/>
            <ac:spMk id="6" creationId="{CF4C02EF-698A-FDC1-A38D-A175520D853C}"/>
          </ac:spMkLst>
        </pc:spChg>
        <pc:spChg chg="mod">
          <ac:chgData name="Moyagabo Raphasha" userId="788f6913-b15e-48f8-8aa9-eb070542fbdc" providerId="ADAL" clId="{FBB27CBA-4B3E-4359-94FF-572B66EEDA0D}" dt="2026-05-28T12:01:34.947" v="379" actId="1076"/>
          <ac:spMkLst>
            <pc:docMk/>
            <pc:sldMk cId="2651036009" sldId="285"/>
            <ac:spMk id="15" creationId="{765B603A-5369-3CD6-0C65-EC8E90FBFED9}"/>
          </ac:spMkLst>
        </pc:spChg>
        <pc:spChg chg="mod ord">
          <ac:chgData name="Moyagabo Raphasha" userId="788f6913-b15e-48f8-8aa9-eb070542fbdc" providerId="ADAL" clId="{FBB27CBA-4B3E-4359-94FF-572B66EEDA0D}" dt="2026-05-28T12:03:12.541" v="388" actId="14100"/>
          <ac:spMkLst>
            <pc:docMk/>
            <pc:sldMk cId="2651036009" sldId="285"/>
            <ac:spMk id="17" creationId="{2F6BFD7A-4C2C-D40D-5E49-760EC5DB2409}"/>
          </ac:spMkLst>
        </pc:spChg>
        <pc:spChg chg="add">
          <ac:chgData name="Moyagabo Raphasha" userId="788f6913-b15e-48f8-8aa9-eb070542fbdc" providerId="ADAL" clId="{FBB27CBA-4B3E-4359-94FF-572B66EEDA0D}" dt="2026-05-28T11:59:59.271" v="362" actId="26606"/>
          <ac:spMkLst>
            <pc:docMk/>
            <pc:sldMk cId="2651036009" sldId="285"/>
            <ac:spMk id="22" creationId="{04812C46-200A-4DEB-A05E-3ED6C68C2387}"/>
          </ac:spMkLst>
        </pc:spChg>
        <pc:spChg chg="add">
          <ac:chgData name="Moyagabo Raphasha" userId="788f6913-b15e-48f8-8aa9-eb070542fbdc" providerId="ADAL" clId="{FBB27CBA-4B3E-4359-94FF-572B66EEDA0D}" dt="2026-05-28T11:59:59.271" v="362" actId="26606"/>
          <ac:spMkLst>
            <pc:docMk/>
            <pc:sldMk cId="2651036009" sldId="285"/>
            <ac:spMk id="24" creationId="{D1EA859B-E555-4109-94F3-6700E046E008}"/>
          </ac:spMkLst>
        </pc:spChg>
        <pc:picChg chg="del">
          <ac:chgData name="Moyagabo Raphasha" userId="788f6913-b15e-48f8-8aa9-eb070542fbdc" providerId="ADAL" clId="{FBB27CBA-4B3E-4359-94FF-572B66EEDA0D}" dt="2026-05-28T11:59:03.036" v="360" actId="478"/>
          <ac:picMkLst>
            <pc:docMk/>
            <pc:sldMk cId="2651036009" sldId="285"/>
            <ac:picMk id="8" creationId="{3B9F274F-E013-7737-0C19-2979DC389A79}"/>
          </ac:picMkLst>
        </pc:picChg>
        <pc:picChg chg="add mod ord">
          <ac:chgData name="Moyagabo Raphasha" userId="788f6913-b15e-48f8-8aa9-eb070542fbdc" providerId="ADAL" clId="{FBB27CBA-4B3E-4359-94FF-572B66EEDA0D}" dt="2026-05-28T11:59:59.271" v="362" actId="26606"/>
          <ac:picMkLst>
            <pc:docMk/>
            <pc:sldMk cId="2651036009" sldId="285"/>
            <ac:picMk id="9" creationId="{0B096534-6953-9C0D-DCD9-C04978EE1D4E}"/>
          </ac:picMkLst>
        </pc:picChg>
      </pc:sldChg>
      <pc:sldChg chg="modSp add mod">
        <pc:chgData name="Moyagabo Raphasha" userId="788f6913-b15e-48f8-8aa9-eb070542fbdc" providerId="ADAL" clId="{FBB27CBA-4B3E-4359-94FF-572B66EEDA0D}" dt="2026-05-28T12:03:32" v="390" actId="20577"/>
        <pc:sldMkLst>
          <pc:docMk/>
          <pc:sldMk cId="1156457706" sldId="286"/>
        </pc:sldMkLst>
        <pc:spChg chg="mod">
          <ac:chgData name="Moyagabo Raphasha" userId="788f6913-b15e-48f8-8aa9-eb070542fbdc" providerId="ADAL" clId="{FBB27CBA-4B3E-4359-94FF-572B66EEDA0D}" dt="2026-05-28T12:03:32" v="390" actId="20577"/>
          <ac:spMkLst>
            <pc:docMk/>
            <pc:sldMk cId="1156457706" sldId="286"/>
            <ac:spMk id="17" creationId="{ACD24E78-9096-DF35-7B4D-0003772DECF4}"/>
          </ac:spMkLst>
        </pc:spChg>
      </pc:sldChg>
      <pc:sldChg chg="modSp add mod">
        <pc:chgData name="Moyagabo Raphasha" userId="788f6913-b15e-48f8-8aa9-eb070542fbdc" providerId="ADAL" clId="{FBB27CBA-4B3E-4359-94FF-572B66EEDA0D}" dt="2026-05-29T08:46:23.504" v="409" actId="20577"/>
        <pc:sldMkLst>
          <pc:docMk/>
          <pc:sldMk cId="2799411635" sldId="287"/>
        </pc:sldMkLst>
        <pc:spChg chg="mod">
          <ac:chgData name="Moyagabo Raphasha" userId="788f6913-b15e-48f8-8aa9-eb070542fbdc" providerId="ADAL" clId="{FBB27CBA-4B3E-4359-94FF-572B66EEDA0D}" dt="2026-05-29T08:46:23.504" v="409" actId="20577"/>
          <ac:spMkLst>
            <pc:docMk/>
            <pc:sldMk cId="2799411635" sldId="287"/>
            <ac:spMk id="17" creationId="{4C978D7E-2C9E-2E5B-8A3C-4D7DC408D04B}"/>
          </ac:spMkLst>
        </pc:spChg>
      </pc:sldChg>
      <pc:sldChg chg="modSp add mod">
        <pc:chgData name="Moyagabo Raphasha" userId="788f6913-b15e-48f8-8aa9-eb070542fbdc" providerId="ADAL" clId="{FBB27CBA-4B3E-4359-94FF-572B66EEDA0D}" dt="2026-05-29T08:46:51.827" v="412"/>
        <pc:sldMkLst>
          <pc:docMk/>
          <pc:sldMk cId="2055758711" sldId="288"/>
        </pc:sldMkLst>
        <pc:spChg chg="mod">
          <ac:chgData name="Moyagabo Raphasha" userId="788f6913-b15e-48f8-8aa9-eb070542fbdc" providerId="ADAL" clId="{FBB27CBA-4B3E-4359-94FF-572B66EEDA0D}" dt="2026-05-29T08:46:51.827" v="412"/>
          <ac:spMkLst>
            <pc:docMk/>
            <pc:sldMk cId="2055758711" sldId="288"/>
            <ac:spMk id="17" creationId="{B6A3E3B9-A23A-6CC8-9691-7DB111215A18}"/>
          </ac:spMkLst>
        </pc:spChg>
      </pc:sldChg>
      <pc:sldChg chg="modSp add mod">
        <pc:chgData name="Moyagabo Raphasha" userId="788f6913-b15e-48f8-8aa9-eb070542fbdc" providerId="ADAL" clId="{FBB27CBA-4B3E-4359-94FF-572B66EEDA0D}" dt="2026-05-29T08:47:52.139" v="415"/>
        <pc:sldMkLst>
          <pc:docMk/>
          <pc:sldMk cId="5196304" sldId="289"/>
        </pc:sldMkLst>
        <pc:spChg chg="mod">
          <ac:chgData name="Moyagabo Raphasha" userId="788f6913-b15e-48f8-8aa9-eb070542fbdc" providerId="ADAL" clId="{FBB27CBA-4B3E-4359-94FF-572B66EEDA0D}" dt="2026-05-29T08:47:52.139" v="415"/>
          <ac:spMkLst>
            <pc:docMk/>
            <pc:sldMk cId="5196304" sldId="289"/>
            <ac:spMk id="17" creationId="{BA0B086B-64C4-E01F-6CAC-25894410B27E}"/>
          </ac:spMkLst>
        </pc:spChg>
      </pc:sldChg>
      <pc:sldChg chg="modSp add mod">
        <pc:chgData name="Moyagabo Raphasha" userId="788f6913-b15e-48f8-8aa9-eb070542fbdc" providerId="ADAL" clId="{FBB27CBA-4B3E-4359-94FF-572B66EEDA0D}" dt="2026-05-29T08:48:48.882" v="418" actId="20577"/>
        <pc:sldMkLst>
          <pc:docMk/>
          <pc:sldMk cId="40894250" sldId="290"/>
        </pc:sldMkLst>
        <pc:spChg chg="mod">
          <ac:chgData name="Moyagabo Raphasha" userId="788f6913-b15e-48f8-8aa9-eb070542fbdc" providerId="ADAL" clId="{FBB27CBA-4B3E-4359-94FF-572B66EEDA0D}" dt="2026-05-29T08:48:48.882" v="418" actId="20577"/>
          <ac:spMkLst>
            <pc:docMk/>
            <pc:sldMk cId="40894250" sldId="290"/>
            <ac:spMk id="17" creationId="{4AD739BF-A41B-65E5-5689-A6801088EAC8}"/>
          </ac:spMkLst>
        </pc:spChg>
      </pc:sldChg>
      <pc:sldChg chg="modSp add mod">
        <pc:chgData name="Moyagabo Raphasha" userId="788f6913-b15e-48f8-8aa9-eb070542fbdc" providerId="ADAL" clId="{FBB27CBA-4B3E-4359-94FF-572B66EEDA0D}" dt="2026-05-29T08:50:01.682" v="423" actId="20577"/>
        <pc:sldMkLst>
          <pc:docMk/>
          <pc:sldMk cId="1287367880" sldId="291"/>
        </pc:sldMkLst>
        <pc:spChg chg="mod">
          <ac:chgData name="Moyagabo Raphasha" userId="788f6913-b15e-48f8-8aa9-eb070542fbdc" providerId="ADAL" clId="{FBB27CBA-4B3E-4359-94FF-572B66EEDA0D}" dt="2026-05-29T08:50:01.682" v="423" actId="20577"/>
          <ac:spMkLst>
            <pc:docMk/>
            <pc:sldMk cId="1287367880" sldId="291"/>
            <ac:spMk id="17" creationId="{55BD307A-9EF3-E3FE-346E-15F4403B8841}"/>
          </ac:spMkLst>
        </pc:spChg>
      </pc:sldChg>
      <pc:sldChg chg="modSp add mod">
        <pc:chgData name="Moyagabo Raphasha" userId="788f6913-b15e-48f8-8aa9-eb070542fbdc" providerId="ADAL" clId="{FBB27CBA-4B3E-4359-94FF-572B66EEDA0D}" dt="2026-05-29T08:50:27.524" v="427" actId="20577"/>
        <pc:sldMkLst>
          <pc:docMk/>
          <pc:sldMk cId="1270215597" sldId="292"/>
        </pc:sldMkLst>
        <pc:spChg chg="mod">
          <ac:chgData name="Moyagabo Raphasha" userId="788f6913-b15e-48f8-8aa9-eb070542fbdc" providerId="ADAL" clId="{FBB27CBA-4B3E-4359-94FF-572B66EEDA0D}" dt="2026-05-29T08:50:27.524" v="427" actId="20577"/>
          <ac:spMkLst>
            <pc:docMk/>
            <pc:sldMk cId="1270215597" sldId="292"/>
            <ac:spMk id="17" creationId="{0243E666-D331-3598-1C8C-3B2095060E6D}"/>
          </ac:spMkLst>
        </pc:spChg>
      </pc:sldChg>
      <pc:sldChg chg="modSp add mod">
        <pc:chgData name="Moyagabo Raphasha" userId="788f6913-b15e-48f8-8aa9-eb070542fbdc" providerId="ADAL" clId="{FBB27CBA-4B3E-4359-94FF-572B66EEDA0D}" dt="2026-05-29T08:51:22.430" v="432" actId="20577"/>
        <pc:sldMkLst>
          <pc:docMk/>
          <pc:sldMk cId="3361769445" sldId="293"/>
        </pc:sldMkLst>
        <pc:spChg chg="mod">
          <ac:chgData name="Moyagabo Raphasha" userId="788f6913-b15e-48f8-8aa9-eb070542fbdc" providerId="ADAL" clId="{FBB27CBA-4B3E-4359-94FF-572B66EEDA0D}" dt="2026-05-29T08:51:22.430" v="432" actId="20577"/>
          <ac:spMkLst>
            <pc:docMk/>
            <pc:sldMk cId="3361769445" sldId="293"/>
            <ac:spMk id="17" creationId="{387E70DB-2E26-EC62-5EFC-CC9E52BBCC64}"/>
          </ac:spMkLst>
        </pc:spChg>
      </pc:sldChg>
      <pc:sldChg chg="modSp add mod">
        <pc:chgData name="Moyagabo Raphasha" userId="788f6913-b15e-48f8-8aa9-eb070542fbdc" providerId="ADAL" clId="{FBB27CBA-4B3E-4359-94FF-572B66EEDA0D}" dt="2026-05-29T08:52:52.055" v="436" actId="20577"/>
        <pc:sldMkLst>
          <pc:docMk/>
          <pc:sldMk cId="2229159834" sldId="294"/>
        </pc:sldMkLst>
        <pc:spChg chg="mod">
          <ac:chgData name="Moyagabo Raphasha" userId="788f6913-b15e-48f8-8aa9-eb070542fbdc" providerId="ADAL" clId="{FBB27CBA-4B3E-4359-94FF-572B66EEDA0D}" dt="2026-05-29T08:52:52.055" v="436" actId="20577"/>
          <ac:spMkLst>
            <pc:docMk/>
            <pc:sldMk cId="2229159834" sldId="294"/>
            <ac:spMk id="17" creationId="{042FFF08-79A0-CB32-4288-ADD7A1BA7BE7}"/>
          </ac:spMkLst>
        </pc:spChg>
      </pc:sldChg>
      <pc:sldChg chg="modSp add mod">
        <pc:chgData name="Moyagabo Raphasha" userId="788f6913-b15e-48f8-8aa9-eb070542fbdc" providerId="ADAL" clId="{FBB27CBA-4B3E-4359-94FF-572B66EEDA0D}" dt="2026-05-29T08:53:05.941" v="439"/>
        <pc:sldMkLst>
          <pc:docMk/>
          <pc:sldMk cId="4117934120" sldId="295"/>
        </pc:sldMkLst>
        <pc:spChg chg="mod">
          <ac:chgData name="Moyagabo Raphasha" userId="788f6913-b15e-48f8-8aa9-eb070542fbdc" providerId="ADAL" clId="{FBB27CBA-4B3E-4359-94FF-572B66EEDA0D}" dt="2026-05-29T08:53:05.941" v="439"/>
          <ac:spMkLst>
            <pc:docMk/>
            <pc:sldMk cId="4117934120" sldId="295"/>
            <ac:spMk id="17" creationId="{FD2344EE-936C-66E1-B8DE-54B64C9EA05A}"/>
          </ac:spMkLst>
        </pc:spChg>
      </pc:sldChg>
      <pc:sldChg chg="modSp add mod">
        <pc:chgData name="Moyagabo Raphasha" userId="788f6913-b15e-48f8-8aa9-eb070542fbdc" providerId="ADAL" clId="{FBB27CBA-4B3E-4359-94FF-572B66EEDA0D}" dt="2026-05-29T08:54:31.704" v="443" actId="20577"/>
        <pc:sldMkLst>
          <pc:docMk/>
          <pc:sldMk cId="3842626457" sldId="296"/>
        </pc:sldMkLst>
        <pc:spChg chg="mod">
          <ac:chgData name="Moyagabo Raphasha" userId="788f6913-b15e-48f8-8aa9-eb070542fbdc" providerId="ADAL" clId="{FBB27CBA-4B3E-4359-94FF-572B66EEDA0D}" dt="2026-05-29T08:54:22.497" v="442" actId="1076"/>
          <ac:spMkLst>
            <pc:docMk/>
            <pc:sldMk cId="3842626457" sldId="296"/>
            <ac:spMk id="3" creationId="{70A0ACD6-7BD0-9419-451A-0369754AF763}"/>
          </ac:spMkLst>
        </pc:spChg>
        <pc:spChg chg="mod">
          <ac:chgData name="Moyagabo Raphasha" userId="788f6913-b15e-48f8-8aa9-eb070542fbdc" providerId="ADAL" clId="{FBB27CBA-4B3E-4359-94FF-572B66EEDA0D}" dt="2026-05-29T08:54:31.704" v="443" actId="20577"/>
          <ac:spMkLst>
            <pc:docMk/>
            <pc:sldMk cId="3842626457" sldId="296"/>
            <ac:spMk id="17" creationId="{35CA9397-FB14-CF48-96F0-656A38DD69DD}"/>
          </ac:spMkLst>
        </pc:spChg>
      </pc:sldChg>
      <pc:sldChg chg="modSp add mod">
        <pc:chgData name="Moyagabo Raphasha" userId="788f6913-b15e-48f8-8aa9-eb070542fbdc" providerId="ADAL" clId="{FBB27CBA-4B3E-4359-94FF-572B66EEDA0D}" dt="2026-05-29T08:56:40.157" v="450" actId="20577"/>
        <pc:sldMkLst>
          <pc:docMk/>
          <pc:sldMk cId="2100498982" sldId="297"/>
        </pc:sldMkLst>
        <pc:spChg chg="mod">
          <ac:chgData name="Moyagabo Raphasha" userId="788f6913-b15e-48f8-8aa9-eb070542fbdc" providerId="ADAL" clId="{FBB27CBA-4B3E-4359-94FF-572B66EEDA0D}" dt="2026-05-29T08:56:40.157" v="450" actId="20577"/>
          <ac:spMkLst>
            <pc:docMk/>
            <pc:sldMk cId="2100498982" sldId="297"/>
            <ac:spMk id="17" creationId="{06A5338B-88C7-3F1D-D73F-8CBAC728D587}"/>
          </ac:spMkLst>
        </pc:spChg>
      </pc:sldChg>
      <pc:sldChg chg="modSp add mod">
        <pc:chgData name="Moyagabo Raphasha" userId="788f6913-b15e-48f8-8aa9-eb070542fbdc" providerId="ADAL" clId="{FBB27CBA-4B3E-4359-94FF-572B66EEDA0D}" dt="2026-05-29T08:57:01.267" v="454" actId="20577"/>
        <pc:sldMkLst>
          <pc:docMk/>
          <pc:sldMk cId="70217083" sldId="298"/>
        </pc:sldMkLst>
        <pc:spChg chg="mod">
          <ac:chgData name="Moyagabo Raphasha" userId="788f6913-b15e-48f8-8aa9-eb070542fbdc" providerId="ADAL" clId="{FBB27CBA-4B3E-4359-94FF-572B66EEDA0D}" dt="2026-05-29T08:57:01.267" v="454" actId="20577"/>
          <ac:spMkLst>
            <pc:docMk/>
            <pc:sldMk cId="70217083" sldId="298"/>
            <ac:spMk id="17" creationId="{37E48691-85EA-909E-A4BF-5686B99D68CB}"/>
          </ac:spMkLst>
        </pc:spChg>
      </pc:sldChg>
      <pc:sldChg chg="modSp add mod">
        <pc:chgData name="Moyagabo Raphasha" userId="788f6913-b15e-48f8-8aa9-eb070542fbdc" providerId="ADAL" clId="{FBB27CBA-4B3E-4359-94FF-572B66EEDA0D}" dt="2026-05-29T08:57:13.748" v="457"/>
        <pc:sldMkLst>
          <pc:docMk/>
          <pc:sldMk cId="455412465" sldId="299"/>
        </pc:sldMkLst>
        <pc:spChg chg="mod">
          <ac:chgData name="Moyagabo Raphasha" userId="788f6913-b15e-48f8-8aa9-eb070542fbdc" providerId="ADAL" clId="{FBB27CBA-4B3E-4359-94FF-572B66EEDA0D}" dt="2026-05-29T08:57:13.748" v="457"/>
          <ac:spMkLst>
            <pc:docMk/>
            <pc:sldMk cId="455412465" sldId="299"/>
            <ac:spMk id="17" creationId="{BD278555-DF53-8794-93E5-A352943C9103}"/>
          </ac:spMkLst>
        </pc:spChg>
      </pc:sldChg>
      <pc:sldChg chg="modSp add mod">
        <pc:chgData name="Moyagabo Raphasha" userId="788f6913-b15e-48f8-8aa9-eb070542fbdc" providerId="ADAL" clId="{FBB27CBA-4B3E-4359-94FF-572B66EEDA0D}" dt="2026-05-29T08:58:16.073" v="463" actId="20577"/>
        <pc:sldMkLst>
          <pc:docMk/>
          <pc:sldMk cId="1969412732" sldId="300"/>
        </pc:sldMkLst>
        <pc:spChg chg="mod">
          <ac:chgData name="Moyagabo Raphasha" userId="788f6913-b15e-48f8-8aa9-eb070542fbdc" providerId="ADAL" clId="{FBB27CBA-4B3E-4359-94FF-572B66EEDA0D}" dt="2026-05-29T08:58:16.073" v="463" actId="20577"/>
          <ac:spMkLst>
            <pc:docMk/>
            <pc:sldMk cId="1969412732" sldId="300"/>
            <ac:spMk id="17" creationId="{98CBB259-49CF-A20F-D7E5-7840EC79492E}"/>
          </ac:spMkLst>
        </pc:spChg>
      </pc:sldChg>
      <pc:sldChg chg="modSp add mod">
        <pc:chgData name="Moyagabo Raphasha" userId="788f6913-b15e-48f8-8aa9-eb070542fbdc" providerId="ADAL" clId="{FBB27CBA-4B3E-4359-94FF-572B66EEDA0D}" dt="2026-05-29T08:59:01.388" v="467" actId="20577"/>
        <pc:sldMkLst>
          <pc:docMk/>
          <pc:sldMk cId="1824170523" sldId="301"/>
        </pc:sldMkLst>
        <pc:spChg chg="mod">
          <ac:chgData name="Moyagabo Raphasha" userId="788f6913-b15e-48f8-8aa9-eb070542fbdc" providerId="ADAL" clId="{FBB27CBA-4B3E-4359-94FF-572B66EEDA0D}" dt="2026-05-29T08:59:01.388" v="467" actId="20577"/>
          <ac:spMkLst>
            <pc:docMk/>
            <pc:sldMk cId="1824170523" sldId="301"/>
            <ac:spMk id="17" creationId="{E2F0DB24-4568-03EC-9A8A-48CAB58BF499}"/>
          </ac:spMkLst>
        </pc:spChg>
      </pc:sldChg>
      <pc:sldChg chg="modSp add mod">
        <pc:chgData name="Moyagabo Raphasha" userId="788f6913-b15e-48f8-8aa9-eb070542fbdc" providerId="ADAL" clId="{FBB27CBA-4B3E-4359-94FF-572B66EEDA0D}" dt="2026-05-29T08:59:30.902" v="471" actId="20577"/>
        <pc:sldMkLst>
          <pc:docMk/>
          <pc:sldMk cId="4039174674" sldId="302"/>
        </pc:sldMkLst>
        <pc:spChg chg="mod">
          <ac:chgData name="Moyagabo Raphasha" userId="788f6913-b15e-48f8-8aa9-eb070542fbdc" providerId="ADAL" clId="{FBB27CBA-4B3E-4359-94FF-572B66EEDA0D}" dt="2026-05-29T08:59:30.902" v="471" actId="20577"/>
          <ac:spMkLst>
            <pc:docMk/>
            <pc:sldMk cId="4039174674" sldId="302"/>
            <ac:spMk id="17" creationId="{FA482987-7F61-404C-BA05-0D55906F3EA2}"/>
          </ac:spMkLst>
        </pc:spChg>
      </pc:sldChg>
      <pc:sldChg chg="modSp add mod">
        <pc:chgData name="Moyagabo Raphasha" userId="788f6913-b15e-48f8-8aa9-eb070542fbdc" providerId="ADAL" clId="{FBB27CBA-4B3E-4359-94FF-572B66EEDA0D}" dt="2026-05-29T09:00:09.180" v="475" actId="20577"/>
        <pc:sldMkLst>
          <pc:docMk/>
          <pc:sldMk cId="3708899499" sldId="303"/>
        </pc:sldMkLst>
        <pc:spChg chg="mod">
          <ac:chgData name="Moyagabo Raphasha" userId="788f6913-b15e-48f8-8aa9-eb070542fbdc" providerId="ADAL" clId="{FBB27CBA-4B3E-4359-94FF-572B66EEDA0D}" dt="2026-05-29T09:00:09.180" v="475" actId="20577"/>
          <ac:spMkLst>
            <pc:docMk/>
            <pc:sldMk cId="3708899499" sldId="303"/>
            <ac:spMk id="17" creationId="{B90192C2-DB85-BC99-FB13-10BB1811EBDC}"/>
          </ac:spMkLst>
        </pc:spChg>
      </pc:sldChg>
      <pc:sldChg chg="modSp add mod">
        <pc:chgData name="Moyagabo Raphasha" userId="788f6913-b15e-48f8-8aa9-eb070542fbdc" providerId="ADAL" clId="{FBB27CBA-4B3E-4359-94FF-572B66EEDA0D}" dt="2026-05-29T09:00:35.745" v="479" actId="20577"/>
        <pc:sldMkLst>
          <pc:docMk/>
          <pc:sldMk cId="2335730209" sldId="304"/>
        </pc:sldMkLst>
        <pc:spChg chg="mod">
          <ac:chgData name="Moyagabo Raphasha" userId="788f6913-b15e-48f8-8aa9-eb070542fbdc" providerId="ADAL" clId="{FBB27CBA-4B3E-4359-94FF-572B66EEDA0D}" dt="2026-05-29T09:00:35.745" v="479" actId="20577"/>
          <ac:spMkLst>
            <pc:docMk/>
            <pc:sldMk cId="2335730209" sldId="304"/>
            <ac:spMk id="17" creationId="{F1E2FEC0-85FD-F98D-3B2C-2D518CE2F7C9}"/>
          </ac:spMkLst>
        </pc:spChg>
      </pc:sldChg>
      <pc:sldChg chg="add">
        <pc:chgData name="Moyagabo Raphasha" userId="788f6913-b15e-48f8-8aa9-eb070542fbdc" providerId="ADAL" clId="{FBB27CBA-4B3E-4359-94FF-572B66EEDA0D}" dt="2026-05-29T09:00:45.587" v="480" actId="2890"/>
        <pc:sldMkLst>
          <pc:docMk/>
          <pc:sldMk cId="3223897179" sldId="305"/>
        </pc:sldMkLst>
      </pc:sldChg>
      <pc:sldChg chg="modSp add mod">
        <pc:chgData name="Moyagabo Raphasha" userId="788f6913-b15e-48f8-8aa9-eb070542fbdc" providerId="ADAL" clId="{FBB27CBA-4B3E-4359-94FF-572B66EEDA0D}" dt="2026-05-29T09:01:13.692" v="484" actId="20577"/>
        <pc:sldMkLst>
          <pc:docMk/>
          <pc:sldMk cId="2044772783" sldId="306"/>
        </pc:sldMkLst>
        <pc:spChg chg="mod">
          <ac:chgData name="Moyagabo Raphasha" userId="788f6913-b15e-48f8-8aa9-eb070542fbdc" providerId="ADAL" clId="{FBB27CBA-4B3E-4359-94FF-572B66EEDA0D}" dt="2026-05-29T09:01:13.692" v="484" actId="20577"/>
          <ac:spMkLst>
            <pc:docMk/>
            <pc:sldMk cId="2044772783" sldId="306"/>
            <ac:spMk id="17" creationId="{023837CD-A4A6-6D1F-9B07-F46E9B6F8375}"/>
          </ac:spMkLst>
        </pc:spChg>
      </pc:sldChg>
      <pc:sldChg chg="add">
        <pc:chgData name="Moyagabo Raphasha" userId="788f6913-b15e-48f8-8aa9-eb070542fbdc" providerId="ADAL" clId="{FBB27CBA-4B3E-4359-94FF-572B66EEDA0D}" dt="2026-05-29T09:01:44.962" v="485" actId="2890"/>
        <pc:sldMkLst>
          <pc:docMk/>
          <pc:sldMk cId="1337105571" sldId="307"/>
        </pc:sldMkLst>
      </pc:sldChg>
      <pc:sldChg chg="modSp add mod">
        <pc:chgData name="Moyagabo Raphasha" userId="788f6913-b15e-48f8-8aa9-eb070542fbdc" providerId="ADAL" clId="{FBB27CBA-4B3E-4359-94FF-572B66EEDA0D}" dt="2026-05-29T09:03:17.682" v="489" actId="20577"/>
        <pc:sldMkLst>
          <pc:docMk/>
          <pc:sldMk cId="406576561" sldId="308"/>
        </pc:sldMkLst>
        <pc:spChg chg="mod">
          <ac:chgData name="Moyagabo Raphasha" userId="788f6913-b15e-48f8-8aa9-eb070542fbdc" providerId="ADAL" clId="{FBB27CBA-4B3E-4359-94FF-572B66EEDA0D}" dt="2026-05-29T09:03:17.682" v="489" actId="20577"/>
          <ac:spMkLst>
            <pc:docMk/>
            <pc:sldMk cId="406576561" sldId="308"/>
            <ac:spMk id="17" creationId="{8C7C4391-FFC8-DE68-CA7F-6FDFFC3EFCC5}"/>
          </ac:spMkLst>
        </pc:spChg>
      </pc:sldChg>
      <pc:sldChg chg="modSp add del mod">
        <pc:chgData name="Moyagabo Raphasha" userId="788f6913-b15e-48f8-8aa9-eb070542fbdc" providerId="ADAL" clId="{FBB27CBA-4B3E-4359-94FF-572B66EEDA0D}" dt="2026-05-29T09:04:38.706" v="495" actId="2696"/>
        <pc:sldMkLst>
          <pc:docMk/>
          <pc:sldMk cId="258322230" sldId="309"/>
        </pc:sldMkLst>
        <pc:spChg chg="mod">
          <ac:chgData name="Moyagabo Raphasha" userId="788f6913-b15e-48f8-8aa9-eb070542fbdc" providerId="ADAL" clId="{FBB27CBA-4B3E-4359-94FF-572B66EEDA0D}" dt="2026-05-29T09:03:57.106" v="494" actId="20577"/>
          <ac:spMkLst>
            <pc:docMk/>
            <pc:sldMk cId="258322230" sldId="309"/>
            <ac:spMk id="17" creationId="{8C875F31-DCE9-6365-452A-370AAF2FE18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262D2F-43F4-484D-8E1E-064702A39883}" type="datetimeFigureOut">
              <a:rPr lang="en-US" smtClean="0"/>
              <a:t>5/29/2026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069018-15EF-FA44-A0CD-93FBD5651F86}" type="slidenum">
              <a:rPr lang="en-US" smtClean="0"/>
              <a:t>‹#›</a:t>
            </a:fld>
            <a:endParaRPr lang="en-US"/>
          </a:p>
        </p:txBody>
      </p:sp>
    </p:spTree>
    <p:extLst>
      <p:ext uri="{BB962C8B-B14F-4D97-AF65-F5344CB8AC3E}">
        <p14:creationId xmlns:p14="http://schemas.microsoft.com/office/powerpoint/2010/main" val="37810889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B4069018-15EF-FA44-A0CD-93FBD5651F86}" type="slidenum">
              <a:rPr lang="en-US" smtClean="0"/>
              <a:t>3</a:t>
            </a:fld>
            <a:endParaRPr lang="en-US"/>
          </a:p>
        </p:txBody>
      </p:sp>
    </p:spTree>
    <p:extLst>
      <p:ext uri="{BB962C8B-B14F-4D97-AF65-F5344CB8AC3E}">
        <p14:creationId xmlns:p14="http://schemas.microsoft.com/office/powerpoint/2010/main" val="14868735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2CC3F92-5E07-EBFC-70B2-201981493643}"/>
              </a:ext>
            </a:extLst>
          </p:cNvPr>
          <p:cNvSpPr>
            <a:spLocks noGrp="1"/>
          </p:cNvSpPr>
          <p:nvPr>
            <p:ph type="title"/>
          </p:nvPr>
        </p:nvSpPr>
        <p:spPr>
          <a:xfrm>
            <a:off x="1190622" y="1000757"/>
            <a:ext cx="2828926" cy="3362007"/>
          </a:xfrm>
        </p:spPr>
        <p:txBody>
          <a:bodyPr anchor="b"/>
          <a:lstStyle/>
          <a:p>
            <a:r>
              <a:rPr lang="en-US"/>
              <a:t>Click to edit Master title style</a:t>
            </a:r>
          </a:p>
        </p:txBody>
      </p:sp>
      <p:sp>
        <p:nvSpPr>
          <p:cNvPr id="10" name="Subtitle 2">
            <a:extLst>
              <a:ext uri="{FF2B5EF4-FFF2-40B4-BE49-F238E27FC236}">
                <a16:creationId xmlns:a16="http://schemas.microsoft.com/office/drawing/2014/main" id="{058D411A-2B44-E0C5-601C-606B8B493A48}"/>
              </a:ext>
            </a:extLst>
          </p:cNvPr>
          <p:cNvSpPr>
            <a:spLocks noGrp="1"/>
          </p:cNvSpPr>
          <p:nvPr>
            <p:ph type="subTitle" idx="1"/>
          </p:nvPr>
        </p:nvSpPr>
        <p:spPr>
          <a:xfrm>
            <a:off x="1577005" y="4728524"/>
            <a:ext cx="2442543" cy="1494475"/>
          </a:xfrm>
        </p:spPr>
        <p:txBody>
          <a:bodyPr anchor="b">
            <a:normAutofit/>
          </a:bodyPr>
          <a:lstStyle>
            <a:lvl1pPr marL="0" indent="0" algn="l">
              <a:buNone/>
              <a:defRPr sz="1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8" name="Picture Placeholder 7">
            <a:extLst>
              <a:ext uri="{FF2B5EF4-FFF2-40B4-BE49-F238E27FC236}">
                <a16:creationId xmlns:a16="http://schemas.microsoft.com/office/drawing/2014/main" id="{C9C2D540-C69C-CEAB-0B32-AEC43BC5FA7B}"/>
              </a:ext>
            </a:extLst>
          </p:cNvPr>
          <p:cNvSpPr>
            <a:spLocks noGrp="1"/>
          </p:cNvSpPr>
          <p:nvPr>
            <p:ph type="pic" sz="quarter" idx="13" hasCustomPrompt="1"/>
          </p:nvPr>
        </p:nvSpPr>
        <p:spPr>
          <a:xfrm>
            <a:off x="4405936" y="0"/>
            <a:ext cx="7786063" cy="6858000"/>
          </a:xfrm>
          <a:noFill/>
        </p:spPr>
        <p:txBody>
          <a:bodyPr/>
          <a:lstStyle>
            <a:lvl1pPr>
              <a:defRPr/>
            </a:lvl1pPr>
          </a:lstStyle>
          <a:p>
            <a:r>
              <a:rPr lang="en-US"/>
              <a:t>  </a:t>
            </a:r>
          </a:p>
        </p:txBody>
      </p:sp>
    </p:spTree>
    <p:extLst>
      <p:ext uri="{BB962C8B-B14F-4D97-AF65-F5344CB8AC3E}">
        <p14:creationId xmlns:p14="http://schemas.microsoft.com/office/powerpoint/2010/main" val="245210001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A0A79EC8-112B-47F4-5D3E-70AAE7CB0F34}"/>
              </a:ext>
            </a:extLst>
          </p:cNvPr>
          <p:cNvSpPr>
            <a:spLocks noGrp="1"/>
          </p:cNvSpPr>
          <p:nvPr>
            <p:ph type="title"/>
          </p:nvPr>
        </p:nvSpPr>
        <p:spPr>
          <a:xfrm>
            <a:off x="6843094" y="1000757"/>
            <a:ext cx="4158284" cy="2614293"/>
          </a:xfrm>
        </p:spPr>
        <p:txBody>
          <a:bodyPr anchor="b"/>
          <a:lstStyle/>
          <a:p>
            <a:r>
              <a:rPr lang="en-US"/>
              <a:t>Click to edit Master title style</a:t>
            </a:r>
          </a:p>
        </p:txBody>
      </p:sp>
      <p:sp>
        <p:nvSpPr>
          <p:cNvPr id="8" name="Picture Placeholder 7">
            <a:extLst>
              <a:ext uri="{FF2B5EF4-FFF2-40B4-BE49-F238E27FC236}">
                <a16:creationId xmlns:a16="http://schemas.microsoft.com/office/drawing/2014/main" id="{C9C2D540-C69C-CEAB-0B32-AEC43BC5FA7B}"/>
              </a:ext>
            </a:extLst>
          </p:cNvPr>
          <p:cNvSpPr>
            <a:spLocks noGrp="1"/>
          </p:cNvSpPr>
          <p:nvPr>
            <p:ph type="pic" sz="quarter" idx="13" hasCustomPrompt="1"/>
          </p:nvPr>
        </p:nvSpPr>
        <p:spPr>
          <a:xfrm>
            <a:off x="0" y="0"/>
            <a:ext cx="5348904" cy="6858000"/>
          </a:xfrm>
          <a:noFill/>
        </p:spPr>
        <p:txBody>
          <a:bodyPr/>
          <a:lstStyle>
            <a:lvl1pPr>
              <a:defRPr/>
            </a:lvl1pPr>
          </a:lstStyle>
          <a:p>
            <a:r>
              <a:rPr lang="en-US"/>
              <a:t>   </a:t>
            </a:r>
          </a:p>
        </p:txBody>
      </p:sp>
      <p:sp>
        <p:nvSpPr>
          <p:cNvPr id="14" name="Footer Placeholder 13">
            <a:extLst>
              <a:ext uri="{FF2B5EF4-FFF2-40B4-BE49-F238E27FC236}">
                <a16:creationId xmlns:a16="http://schemas.microsoft.com/office/drawing/2014/main" id="{4BBFE655-5E2D-48CE-1C91-B81AEA4CE1B6}"/>
              </a:ext>
            </a:extLst>
          </p:cNvPr>
          <p:cNvSpPr>
            <a:spLocks noGrp="1"/>
          </p:cNvSpPr>
          <p:nvPr>
            <p:ph type="ftr" sz="quarter" idx="16"/>
          </p:nvPr>
        </p:nvSpPr>
        <p:spPr>
          <a:xfrm>
            <a:off x="6933235" y="13328"/>
            <a:ext cx="2738772" cy="621671"/>
          </a:xfrm>
        </p:spPr>
        <p:txBody>
          <a:bodyPr/>
          <a:lstStyle/>
          <a:p>
            <a:r>
              <a:rPr lang="en-US"/>
              <a:t>EUGENIA LOPEZ</a:t>
            </a:r>
          </a:p>
        </p:txBody>
      </p:sp>
      <p:sp>
        <p:nvSpPr>
          <p:cNvPr id="13" name="Date Placeholder 12">
            <a:extLst>
              <a:ext uri="{FF2B5EF4-FFF2-40B4-BE49-F238E27FC236}">
                <a16:creationId xmlns:a16="http://schemas.microsoft.com/office/drawing/2014/main" id="{99211BEB-B07A-D14E-FD4C-79884A14B495}"/>
              </a:ext>
            </a:extLst>
          </p:cNvPr>
          <p:cNvSpPr>
            <a:spLocks noGrp="1"/>
          </p:cNvSpPr>
          <p:nvPr>
            <p:ph type="dt" sz="half" idx="15"/>
          </p:nvPr>
        </p:nvSpPr>
        <p:spPr/>
        <p:txBody>
          <a:bodyPr/>
          <a:lstStyle/>
          <a:p>
            <a:fld id="{143CE1A5-2D8B-4EEB-9265-061C3837448A}" type="datetime1">
              <a:rPr lang="en-US" smtClean="0"/>
              <a:t>5/29/2026</a:t>
            </a:fld>
            <a:endParaRPr lang="en-US"/>
          </a:p>
        </p:txBody>
      </p:sp>
      <p:sp>
        <p:nvSpPr>
          <p:cNvPr id="15" name="Slide Number Placeholder 14">
            <a:extLst>
              <a:ext uri="{FF2B5EF4-FFF2-40B4-BE49-F238E27FC236}">
                <a16:creationId xmlns:a16="http://schemas.microsoft.com/office/drawing/2014/main" id="{743F5667-633A-91DE-24B0-EF1392427E7E}"/>
              </a:ext>
            </a:extLst>
          </p:cNvPr>
          <p:cNvSpPr>
            <a:spLocks noGrp="1"/>
          </p:cNvSpPr>
          <p:nvPr>
            <p:ph type="sldNum" sz="quarter" idx="17"/>
          </p:nvPr>
        </p:nvSpPr>
        <p:spPr/>
        <p:txBody>
          <a:bodyPr/>
          <a:lstStyle/>
          <a:p>
            <a:fld id="{24D65F33-A771-944D-9289-CA575F1D1B7F}" type="slidenum">
              <a:rPr lang="en-US" smtClean="0"/>
              <a:pPr/>
              <a:t>‹#›</a:t>
            </a:fld>
            <a:endParaRPr lang="en-US"/>
          </a:p>
        </p:txBody>
      </p:sp>
      <p:sp>
        <p:nvSpPr>
          <p:cNvPr id="20" name="Text Placeholder 19">
            <a:extLst>
              <a:ext uri="{FF2B5EF4-FFF2-40B4-BE49-F238E27FC236}">
                <a16:creationId xmlns:a16="http://schemas.microsoft.com/office/drawing/2014/main" id="{F777AFAD-8FE8-D68A-6510-5620CD6B6FAF}"/>
              </a:ext>
            </a:extLst>
          </p:cNvPr>
          <p:cNvSpPr>
            <a:spLocks noGrp="1"/>
          </p:cNvSpPr>
          <p:nvPr>
            <p:ph type="body" sz="quarter" idx="18"/>
          </p:nvPr>
        </p:nvSpPr>
        <p:spPr>
          <a:xfrm>
            <a:off x="7224713" y="3981450"/>
            <a:ext cx="3776662" cy="2241550"/>
          </a:xfrm>
        </p:spPr>
        <p:txBody>
          <a:bodyPr anchor="t"/>
          <a:lstStyle>
            <a:lvl1pPr marL="228600" indent="-228600">
              <a:lnSpc>
                <a:spcPct val="90000"/>
              </a:lnSpc>
              <a:spcBef>
                <a:spcPts val="0"/>
              </a:spcBef>
              <a:spcAft>
                <a:spcPts val="600"/>
              </a:spcAft>
              <a:buFont typeface="Arial" panose="020B0604020202020204" pitchFamily="34" charset="0"/>
              <a:buChar char="•"/>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7021530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bout">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53ACE9A1-3AF7-E0E5-66F2-93827C7E633B}"/>
              </a:ext>
            </a:extLst>
          </p:cNvPr>
          <p:cNvSpPr>
            <a:spLocks noGrp="1"/>
          </p:cNvSpPr>
          <p:nvPr>
            <p:ph type="title"/>
          </p:nvPr>
        </p:nvSpPr>
        <p:spPr>
          <a:xfrm>
            <a:off x="1190622" y="999803"/>
            <a:ext cx="4158283" cy="2623192"/>
          </a:xfrm>
        </p:spPr>
        <p:txBody>
          <a:bodyPr anchor="b"/>
          <a:lstStyle/>
          <a:p>
            <a:r>
              <a:rPr lang="en-US"/>
              <a:t>Click to edit Master title style</a:t>
            </a:r>
          </a:p>
        </p:txBody>
      </p:sp>
      <p:sp>
        <p:nvSpPr>
          <p:cNvPr id="13" name="Footer Placeholder 12">
            <a:extLst>
              <a:ext uri="{FF2B5EF4-FFF2-40B4-BE49-F238E27FC236}">
                <a16:creationId xmlns:a16="http://schemas.microsoft.com/office/drawing/2014/main" id="{B1439972-02DA-79D3-2813-EFFE1BF357B1}"/>
              </a:ext>
            </a:extLst>
          </p:cNvPr>
          <p:cNvSpPr>
            <a:spLocks noGrp="1"/>
          </p:cNvSpPr>
          <p:nvPr>
            <p:ph type="ftr" sz="quarter" idx="16"/>
          </p:nvPr>
        </p:nvSpPr>
        <p:spPr/>
        <p:txBody>
          <a:bodyPr/>
          <a:lstStyle/>
          <a:p>
            <a:r>
              <a:rPr lang="en-US"/>
              <a:t>EUGENIA LOPEZ</a:t>
            </a:r>
          </a:p>
        </p:txBody>
      </p:sp>
      <p:sp>
        <p:nvSpPr>
          <p:cNvPr id="12" name="Date Placeholder 11">
            <a:extLst>
              <a:ext uri="{FF2B5EF4-FFF2-40B4-BE49-F238E27FC236}">
                <a16:creationId xmlns:a16="http://schemas.microsoft.com/office/drawing/2014/main" id="{E3374AB6-CE46-DFF1-1ED4-7C835B6E03F0}"/>
              </a:ext>
            </a:extLst>
          </p:cNvPr>
          <p:cNvSpPr>
            <a:spLocks noGrp="1"/>
          </p:cNvSpPr>
          <p:nvPr>
            <p:ph type="dt" sz="half" idx="15"/>
          </p:nvPr>
        </p:nvSpPr>
        <p:spPr/>
        <p:txBody>
          <a:bodyPr/>
          <a:lstStyle/>
          <a:p>
            <a:fld id="{A6464C96-A54F-4CB5-9EC3-06FF693837B6}" type="datetime1">
              <a:rPr lang="en-US" smtClean="0"/>
              <a:t>5/29/2026</a:t>
            </a:fld>
            <a:endParaRPr lang="en-US"/>
          </a:p>
        </p:txBody>
      </p:sp>
      <p:sp>
        <p:nvSpPr>
          <p:cNvPr id="14" name="Slide Number Placeholder 13">
            <a:extLst>
              <a:ext uri="{FF2B5EF4-FFF2-40B4-BE49-F238E27FC236}">
                <a16:creationId xmlns:a16="http://schemas.microsoft.com/office/drawing/2014/main" id="{43C32CCA-68F0-B5CB-303C-A0C85CB80710}"/>
              </a:ext>
            </a:extLst>
          </p:cNvPr>
          <p:cNvSpPr>
            <a:spLocks noGrp="1"/>
          </p:cNvSpPr>
          <p:nvPr>
            <p:ph type="sldNum" sz="quarter" idx="17"/>
          </p:nvPr>
        </p:nvSpPr>
        <p:spPr/>
        <p:txBody>
          <a:bodyPr/>
          <a:lstStyle/>
          <a:p>
            <a:fld id="{24D65F33-A771-944D-9289-CA575F1D1B7F}" type="slidenum">
              <a:rPr lang="en-US" smtClean="0"/>
              <a:pPr/>
              <a:t>‹#›</a:t>
            </a:fld>
            <a:endParaRPr lang="en-US"/>
          </a:p>
        </p:txBody>
      </p:sp>
      <p:sp>
        <p:nvSpPr>
          <p:cNvPr id="16" name="Text Placeholder 15">
            <a:extLst>
              <a:ext uri="{FF2B5EF4-FFF2-40B4-BE49-F238E27FC236}">
                <a16:creationId xmlns:a16="http://schemas.microsoft.com/office/drawing/2014/main" id="{476CBB19-A83F-1844-8C0F-1A225A6E66DF}"/>
              </a:ext>
            </a:extLst>
          </p:cNvPr>
          <p:cNvSpPr>
            <a:spLocks noGrp="1"/>
          </p:cNvSpPr>
          <p:nvPr>
            <p:ph type="body" sz="quarter" idx="18"/>
          </p:nvPr>
        </p:nvSpPr>
        <p:spPr>
          <a:xfrm>
            <a:off x="1576388" y="3981450"/>
            <a:ext cx="3771900" cy="224155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7">
            <a:extLst>
              <a:ext uri="{FF2B5EF4-FFF2-40B4-BE49-F238E27FC236}">
                <a16:creationId xmlns:a16="http://schemas.microsoft.com/office/drawing/2014/main" id="{C9C2D540-C69C-CEAB-0B32-AEC43BC5FA7B}"/>
              </a:ext>
            </a:extLst>
          </p:cNvPr>
          <p:cNvSpPr>
            <a:spLocks noGrp="1"/>
          </p:cNvSpPr>
          <p:nvPr>
            <p:ph type="pic" sz="quarter" idx="13" hasCustomPrompt="1"/>
          </p:nvPr>
        </p:nvSpPr>
        <p:spPr>
          <a:xfrm>
            <a:off x="6843095" y="634997"/>
            <a:ext cx="5348904" cy="6223003"/>
          </a:xfrm>
          <a:noFill/>
        </p:spPr>
        <p:txBody>
          <a:bodyPr/>
          <a:lstStyle>
            <a:lvl1pPr>
              <a:defRPr/>
            </a:lvl1pPr>
          </a:lstStyle>
          <a:p>
            <a:r>
              <a:rPr lang="en-US"/>
              <a:t>  </a:t>
            </a:r>
          </a:p>
        </p:txBody>
      </p:sp>
    </p:spTree>
    <p:extLst>
      <p:ext uri="{BB962C8B-B14F-4D97-AF65-F5344CB8AC3E}">
        <p14:creationId xmlns:p14="http://schemas.microsoft.com/office/powerpoint/2010/main" val="348381905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tatemen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892E69F6-2B95-3A25-BCE7-0C3D0A8333D9}"/>
              </a:ext>
            </a:extLst>
          </p:cNvPr>
          <p:cNvSpPr>
            <a:spLocks noGrp="1"/>
          </p:cNvSpPr>
          <p:nvPr>
            <p:ph type="title"/>
          </p:nvPr>
        </p:nvSpPr>
        <p:spPr>
          <a:xfrm>
            <a:off x="3466722" y="1001715"/>
            <a:ext cx="7534656" cy="4855464"/>
          </a:xfrm>
        </p:spPr>
        <p:txBody>
          <a:bodyPr anchor="ctr"/>
          <a:lstStyle/>
          <a:p>
            <a:r>
              <a:rPr lang="en-US"/>
              <a:t>Click to edit Master title style</a:t>
            </a:r>
          </a:p>
        </p:txBody>
      </p:sp>
      <p:sp>
        <p:nvSpPr>
          <p:cNvPr id="10" name="Footer Placeholder 9">
            <a:extLst>
              <a:ext uri="{FF2B5EF4-FFF2-40B4-BE49-F238E27FC236}">
                <a16:creationId xmlns:a16="http://schemas.microsoft.com/office/drawing/2014/main" id="{EAA53DA6-26B8-5945-423A-CBA67AF14387}"/>
              </a:ext>
            </a:extLst>
          </p:cNvPr>
          <p:cNvSpPr>
            <a:spLocks noGrp="1"/>
          </p:cNvSpPr>
          <p:nvPr>
            <p:ph type="ftr" sz="quarter" idx="15"/>
          </p:nvPr>
        </p:nvSpPr>
        <p:spPr/>
        <p:txBody>
          <a:bodyPr/>
          <a:lstStyle/>
          <a:p>
            <a:r>
              <a:rPr lang="en-US"/>
              <a:t>EUGENIA LOPEZ</a:t>
            </a:r>
          </a:p>
        </p:txBody>
      </p:sp>
      <p:sp>
        <p:nvSpPr>
          <p:cNvPr id="9" name="Date Placeholder 8">
            <a:extLst>
              <a:ext uri="{FF2B5EF4-FFF2-40B4-BE49-F238E27FC236}">
                <a16:creationId xmlns:a16="http://schemas.microsoft.com/office/drawing/2014/main" id="{BE37F581-F5F0-FB8D-1E82-9E548C16678C}"/>
              </a:ext>
            </a:extLst>
          </p:cNvPr>
          <p:cNvSpPr>
            <a:spLocks noGrp="1"/>
          </p:cNvSpPr>
          <p:nvPr>
            <p:ph type="dt" sz="half" idx="14"/>
          </p:nvPr>
        </p:nvSpPr>
        <p:spPr/>
        <p:txBody>
          <a:bodyPr/>
          <a:lstStyle/>
          <a:p>
            <a:fld id="{260C3557-0522-42EC-9A35-CFFD114DCD55}" type="datetime1">
              <a:rPr lang="en-US" smtClean="0"/>
              <a:t>5/29/2026</a:t>
            </a:fld>
            <a:endParaRPr lang="en-US"/>
          </a:p>
        </p:txBody>
      </p:sp>
      <p:sp>
        <p:nvSpPr>
          <p:cNvPr id="11" name="Slide Number Placeholder 10">
            <a:extLst>
              <a:ext uri="{FF2B5EF4-FFF2-40B4-BE49-F238E27FC236}">
                <a16:creationId xmlns:a16="http://schemas.microsoft.com/office/drawing/2014/main" id="{7077B35A-8DAC-F90D-D724-A9949DF29FBD}"/>
              </a:ext>
            </a:extLst>
          </p:cNvPr>
          <p:cNvSpPr>
            <a:spLocks noGrp="1"/>
          </p:cNvSpPr>
          <p:nvPr>
            <p:ph type="sldNum" sz="quarter" idx="16"/>
          </p:nvPr>
        </p:nvSpPr>
        <p:spPr/>
        <p:txBody>
          <a:bodyPr/>
          <a:lstStyle/>
          <a:p>
            <a:fld id="{24D65F33-A771-944D-9289-CA575F1D1B7F}" type="slidenum">
              <a:rPr lang="en-US" smtClean="0"/>
              <a:pPr/>
              <a:t>‹#›</a:t>
            </a:fld>
            <a:endParaRPr lang="en-US"/>
          </a:p>
        </p:txBody>
      </p:sp>
      <p:sp>
        <p:nvSpPr>
          <p:cNvPr id="8" name="Picture Placeholder 7">
            <a:extLst>
              <a:ext uri="{FF2B5EF4-FFF2-40B4-BE49-F238E27FC236}">
                <a16:creationId xmlns:a16="http://schemas.microsoft.com/office/drawing/2014/main" id="{C9C2D540-C69C-CEAB-0B32-AEC43BC5FA7B}"/>
              </a:ext>
            </a:extLst>
          </p:cNvPr>
          <p:cNvSpPr>
            <a:spLocks noGrp="1"/>
          </p:cNvSpPr>
          <p:nvPr>
            <p:ph type="pic" sz="quarter" idx="13" hasCustomPrompt="1"/>
          </p:nvPr>
        </p:nvSpPr>
        <p:spPr>
          <a:xfrm>
            <a:off x="1" y="634997"/>
            <a:ext cx="2736924" cy="6223003"/>
          </a:xfrm>
          <a:noFill/>
        </p:spPr>
        <p:txBody>
          <a:bodyPr/>
          <a:lstStyle>
            <a:lvl1pPr>
              <a:defRPr/>
            </a:lvl1pPr>
          </a:lstStyle>
          <a:p>
            <a:r>
              <a:rPr lang="en-US"/>
              <a:t>  </a:t>
            </a:r>
          </a:p>
        </p:txBody>
      </p:sp>
    </p:spTree>
    <p:extLst>
      <p:ext uri="{BB962C8B-B14F-4D97-AF65-F5344CB8AC3E}">
        <p14:creationId xmlns:p14="http://schemas.microsoft.com/office/powerpoint/2010/main" val="160999991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ducation">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0B3EFB4-1260-A6D3-17B8-6A6823F06EE2}"/>
              </a:ext>
            </a:extLst>
          </p:cNvPr>
          <p:cNvSpPr>
            <a:spLocks noGrp="1"/>
          </p:cNvSpPr>
          <p:nvPr>
            <p:ph type="title"/>
          </p:nvPr>
        </p:nvSpPr>
        <p:spPr>
          <a:xfrm>
            <a:off x="1190622" y="1000759"/>
            <a:ext cx="9810756" cy="493720"/>
          </a:xfrm>
        </p:spPr>
        <p:txBody>
          <a:bodyPr/>
          <a:lstStyle/>
          <a:p>
            <a:r>
              <a:rPr lang="en-US"/>
              <a:t>Click to edit Master title style</a:t>
            </a:r>
          </a:p>
        </p:txBody>
      </p:sp>
      <p:sp>
        <p:nvSpPr>
          <p:cNvPr id="12" name="Footer Placeholder 11">
            <a:extLst>
              <a:ext uri="{FF2B5EF4-FFF2-40B4-BE49-F238E27FC236}">
                <a16:creationId xmlns:a16="http://schemas.microsoft.com/office/drawing/2014/main" id="{3EB3A59F-813B-31D9-652C-53C97ED4B9A8}"/>
              </a:ext>
            </a:extLst>
          </p:cNvPr>
          <p:cNvSpPr>
            <a:spLocks noGrp="1"/>
          </p:cNvSpPr>
          <p:nvPr>
            <p:ph type="ftr" sz="quarter" idx="18"/>
          </p:nvPr>
        </p:nvSpPr>
        <p:spPr/>
        <p:txBody>
          <a:bodyPr/>
          <a:lstStyle/>
          <a:p>
            <a:r>
              <a:rPr lang="en-US"/>
              <a:t>EUGENIA LOPEZ</a:t>
            </a:r>
          </a:p>
        </p:txBody>
      </p:sp>
      <p:sp>
        <p:nvSpPr>
          <p:cNvPr id="11" name="Date Placeholder 10">
            <a:extLst>
              <a:ext uri="{FF2B5EF4-FFF2-40B4-BE49-F238E27FC236}">
                <a16:creationId xmlns:a16="http://schemas.microsoft.com/office/drawing/2014/main" id="{DFF91651-A2A7-3270-AA09-49B11B8BEF92}"/>
              </a:ext>
            </a:extLst>
          </p:cNvPr>
          <p:cNvSpPr>
            <a:spLocks noGrp="1"/>
          </p:cNvSpPr>
          <p:nvPr>
            <p:ph type="dt" sz="half" idx="17"/>
          </p:nvPr>
        </p:nvSpPr>
        <p:spPr/>
        <p:txBody>
          <a:bodyPr/>
          <a:lstStyle/>
          <a:p>
            <a:fld id="{04EFA73E-5F90-42EE-BF99-1D4C6632BA2A}" type="datetime1">
              <a:rPr lang="en-US" smtClean="0"/>
              <a:t>5/29/2026</a:t>
            </a:fld>
            <a:endParaRPr lang="en-US"/>
          </a:p>
        </p:txBody>
      </p:sp>
      <p:sp>
        <p:nvSpPr>
          <p:cNvPr id="13" name="Slide Number Placeholder 12">
            <a:extLst>
              <a:ext uri="{FF2B5EF4-FFF2-40B4-BE49-F238E27FC236}">
                <a16:creationId xmlns:a16="http://schemas.microsoft.com/office/drawing/2014/main" id="{FF341229-9976-5379-6741-A4EA09B2A22F}"/>
              </a:ext>
            </a:extLst>
          </p:cNvPr>
          <p:cNvSpPr>
            <a:spLocks noGrp="1"/>
          </p:cNvSpPr>
          <p:nvPr>
            <p:ph type="sldNum" sz="quarter" idx="19"/>
          </p:nvPr>
        </p:nvSpPr>
        <p:spPr/>
        <p:txBody>
          <a:bodyPr/>
          <a:lstStyle/>
          <a:p>
            <a:fld id="{24D65F33-A771-944D-9289-CA575F1D1B7F}" type="slidenum">
              <a:rPr lang="en-US" smtClean="0"/>
              <a:pPr/>
              <a:t>‹#›</a:t>
            </a:fld>
            <a:endParaRPr lang="en-US"/>
          </a:p>
        </p:txBody>
      </p:sp>
      <p:sp>
        <p:nvSpPr>
          <p:cNvPr id="7" name="Text Placeholder 29">
            <a:extLst>
              <a:ext uri="{FF2B5EF4-FFF2-40B4-BE49-F238E27FC236}">
                <a16:creationId xmlns:a16="http://schemas.microsoft.com/office/drawing/2014/main" id="{D5A4256C-B192-D197-63A4-7B144DF2152E}"/>
              </a:ext>
            </a:extLst>
          </p:cNvPr>
          <p:cNvSpPr>
            <a:spLocks noGrp="1"/>
          </p:cNvSpPr>
          <p:nvPr>
            <p:ph type="body" sz="quarter" idx="16"/>
          </p:nvPr>
        </p:nvSpPr>
        <p:spPr>
          <a:xfrm>
            <a:off x="1577358" y="1748475"/>
            <a:ext cx="3929577" cy="1482222"/>
          </a:xfrm>
        </p:spPr>
        <p:txBody>
          <a:bodyPr>
            <a:normAutofit/>
          </a:bodyPr>
          <a:lstStyle>
            <a:lvl1pPr>
              <a:lnSpc>
                <a:spcPct val="125000"/>
              </a:lnSpc>
              <a:spcBef>
                <a:spcPts val="0"/>
              </a:spcBef>
              <a:defRPr sz="12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7" name="Text Placeholder 29">
            <a:extLst>
              <a:ext uri="{FF2B5EF4-FFF2-40B4-BE49-F238E27FC236}">
                <a16:creationId xmlns:a16="http://schemas.microsoft.com/office/drawing/2014/main" id="{CE4C0529-0745-9666-A4B6-33EBDE982F43}"/>
              </a:ext>
            </a:extLst>
          </p:cNvPr>
          <p:cNvSpPr>
            <a:spLocks noGrp="1"/>
          </p:cNvSpPr>
          <p:nvPr>
            <p:ph type="body" sz="quarter" idx="14"/>
          </p:nvPr>
        </p:nvSpPr>
        <p:spPr>
          <a:xfrm>
            <a:off x="5905502" y="1751829"/>
            <a:ext cx="3929577" cy="1482222"/>
          </a:xfrm>
        </p:spPr>
        <p:txBody>
          <a:bodyPr>
            <a:normAutofit/>
          </a:bodyPr>
          <a:lstStyle>
            <a:lvl1pPr>
              <a:lnSpc>
                <a:spcPct val="125000"/>
              </a:lnSpc>
              <a:spcBef>
                <a:spcPts val="0"/>
              </a:spcBef>
              <a:defRPr sz="12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7">
            <a:extLst>
              <a:ext uri="{FF2B5EF4-FFF2-40B4-BE49-F238E27FC236}">
                <a16:creationId xmlns:a16="http://schemas.microsoft.com/office/drawing/2014/main" id="{C9C2D540-C69C-CEAB-0B32-AEC43BC5FA7B}"/>
              </a:ext>
            </a:extLst>
          </p:cNvPr>
          <p:cNvSpPr>
            <a:spLocks noGrp="1"/>
          </p:cNvSpPr>
          <p:nvPr>
            <p:ph type="pic" sz="quarter" idx="13" hasCustomPrompt="1"/>
          </p:nvPr>
        </p:nvSpPr>
        <p:spPr>
          <a:xfrm>
            <a:off x="0" y="3623950"/>
            <a:ext cx="12192000" cy="3234049"/>
          </a:xfrm>
          <a:noFill/>
        </p:spPr>
        <p:txBody>
          <a:bodyPr/>
          <a:lstStyle>
            <a:lvl1pPr>
              <a:defRPr/>
            </a:lvl1pPr>
          </a:lstStyle>
          <a:p>
            <a:r>
              <a:rPr lang="en-US"/>
              <a:t>  </a:t>
            </a:r>
          </a:p>
        </p:txBody>
      </p:sp>
    </p:spTree>
    <p:extLst>
      <p:ext uri="{BB962C8B-B14F-4D97-AF65-F5344CB8AC3E}">
        <p14:creationId xmlns:p14="http://schemas.microsoft.com/office/powerpoint/2010/main" val="83634643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xperienc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AD4511B2-BEB1-B910-8AD3-1A9260AC9720}"/>
              </a:ext>
            </a:extLst>
          </p:cNvPr>
          <p:cNvSpPr>
            <a:spLocks noGrp="1"/>
          </p:cNvSpPr>
          <p:nvPr>
            <p:ph type="title"/>
          </p:nvPr>
        </p:nvSpPr>
        <p:spPr>
          <a:xfrm>
            <a:off x="1190622" y="1000757"/>
            <a:ext cx="9810756" cy="493776"/>
          </a:xfrm>
        </p:spPr>
        <p:txBody>
          <a:bodyPr/>
          <a:lstStyle/>
          <a:p>
            <a:r>
              <a:rPr lang="en-US"/>
              <a:t>Click to edit Master title style</a:t>
            </a:r>
          </a:p>
        </p:txBody>
      </p:sp>
      <p:sp>
        <p:nvSpPr>
          <p:cNvPr id="14" name="Footer Placeholder 13">
            <a:extLst>
              <a:ext uri="{FF2B5EF4-FFF2-40B4-BE49-F238E27FC236}">
                <a16:creationId xmlns:a16="http://schemas.microsoft.com/office/drawing/2014/main" id="{7875843C-B9BC-7BD6-C025-522392638FB9}"/>
              </a:ext>
            </a:extLst>
          </p:cNvPr>
          <p:cNvSpPr>
            <a:spLocks noGrp="1"/>
          </p:cNvSpPr>
          <p:nvPr>
            <p:ph type="ftr" sz="quarter" idx="19"/>
          </p:nvPr>
        </p:nvSpPr>
        <p:spPr/>
        <p:txBody>
          <a:bodyPr/>
          <a:lstStyle/>
          <a:p>
            <a:r>
              <a:rPr lang="en-US"/>
              <a:t>EUGENIA LOPEZ</a:t>
            </a:r>
          </a:p>
        </p:txBody>
      </p:sp>
      <p:sp>
        <p:nvSpPr>
          <p:cNvPr id="13" name="Date Placeholder 12">
            <a:extLst>
              <a:ext uri="{FF2B5EF4-FFF2-40B4-BE49-F238E27FC236}">
                <a16:creationId xmlns:a16="http://schemas.microsoft.com/office/drawing/2014/main" id="{E36EB8C9-4C38-CF7B-3AAD-ED7D3353F392}"/>
              </a:ext>
            </a:extLst>
          </p:cNvPr>
          <p:cNvSpPr>
            <a:spLocks noGrp="1"/>
          </p:cNvSpPr>
          <p:nvPr>
            <p:ph type="dt" sz="half" idx="18"/>
          </p:nvPr>
        </p:nvSpPr>
        <p:spPr/>
        <p:txBody>
          <a:bodyPr/>
          <a:lstStyle/>
          <a:p>
            <a:fld id="{AC3C7DAA-3182-409F-9D1E-37AD8791380C}" type="datetime1">
              <a:rPr lang="en-US" smtClean="0"/>
              <a:t>5/29/2026</a:t>
            </a:fld>
            <a:endParaRPr lang="en-US"/>
          </a:p>
        </p:txBody>
      </p:sp>
      <p:sp>
        <p:nvSpPr>
          <p:cNvPr id="15" name="Slide Number Placeholder 14">
            <a:extLst>
              <a:ext uri="{FF2B5EF4-FFF2-40B4-BE49-F238E27FC236}">
                <a16:creationId xmlns:a16="http://schemas.microsoft.com/office/drawing/2014/main" id="{5E8850A8-CC09-F420-C956-C257793339A4}"/>
              </a:ext>
            </a:extLst>
          </p:cNvPr>
          <p:cNvSpPr>
            <a:spLocks noGrp="1"/>
          </p:cNvSpPr>
          <p:nvPr>
            <p:ph type="sldNum" sz="quarter" idx="20"/>
          </p:nvPr>
        </p:nvSpPr>
        <p:spPr/>
        <p:txBody>
          <a:bodyPr/>
          <a:lstStyle/>
          <a:p>
            <a:fld id="{24D65F33-A771-944D-9289-CA575F1D1B7F}" type="slidenum">
              <a:rPr lang="en-US" smtClean="0"/>
              <a:pPr/>
              <a:t>‹#›</a:t>
            </a:fld>
            <a:endParaRPr lang="en-US"/>
          </a:p>
        </p:txBody>
      </p:sp>
      <p:sp>
        <p:nvSpPr>
          <p:cNvPr id="10" name="Text Placeholder 29">
            <a:extLst>
              <a:ext uri="{FF2B5EF4-FFF2-40B4-BE49-F238E27FC236}">
                <a16:creationId xmlns:a16="http://schemas.microsoft.com/office/drawing/2014/main" id="{6115AD76-2D58-2947-D999-569371B4DCD8}"/>
              </a:ext>
            </a:extLst>
          </p:cNvPr>
          <p:cNvSpPr>
            <a:spLocks noGrp="1"/>
          </p:cNvSpPr>
          <p:nvPr>
            <p:ph type="body" sz="quarter" idx="17"/>
          </p:nvPr>
        </p:nvSpPr>
        <p:spPr>
          <a:xfrm>
            <a:off x="1577358" y="1748475"/>
            <a:ext cx="3929577" cy="4471170"/>
          </a:xfrm>
        </p:spPr>
        <p:txBody>
          <a:bodyPr>
            <a:normAutofit/>
          </a:bodyPr>
          <a:lstStyle>
            <a:lvl1pPr>
              <a:lnSpc>
                <a:spcPct val="125000"/>
              </a:lnSpc>
              <a:spcBef>
                <a:spcPts val="0"/>
              </a:spcBef>
              <a:defRPr sz="12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29">
            <a:extLst>
              <a:ext uri="{FF2B5EF4-FFF2-40B4-BE49-F238E27FC236}">
                <a16:creationId xmlns:a16="http://schemas.microsoft.com/office/drawing/2014/main" id="{99E0F73A-895A-8394-D4F1-C4D8879CC1E5}"/>
              </a:ext>
            </a:extLst>
          </p:cNvPr>
          <p:cNvSpPr>
            <a:spLocks noGrp="1"/>
          </p:cNvSpPr>
          <p:nvPr>
            <p:ph type="body" sz="quarter" idx="14"/>
          </p:nvPr>
        </p:nvSpPr>
        <p:spPr>
          <a:xfrm>
            <a:off x="5905502" y="1751829"/>
            <a:ext cx="3929577" cy="4471170"/>
          </a:xfrm>
        </p:spPr>
        <p:txBody>
          <a:bodyPr>
            <a:normAutofit/>
          </a:bodyPr>
          <a:lstStyle>
            <a:lvl1pPr>
              <a:lnSpc>
                <a:spcPct val="125000"/>
              </a:lnSpc>
              <a:spcBef>
                <a:spcPts val="0"/>
              </a:spcBef>
              <a:defRPr sz="12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9114834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6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Image Content">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984B6766-6741-0252-E14D-5C6E99E51902}"/>
              </a:ext>
            </a:extLst>
          </p:cNvPr>
          <p:cNvSpPr>
            <a:spLocks noGrp="1"/>
          </p:cNvSpPr>
          <p:nvPr>
            <p:ph type="title"/>
          </p:nvPr>
        </p:nvSpPr>
        <p:spPr>
          <a:xfrm>
            <a:off x="1190622" y="1000753"/>
            <a:ext cx="4704116" cy="756615"/>
          </a:xfrm>
        </p:spPr>
        <p:txBody>
          <a:bodyPr/>
          <a:lstStyle>
            <a:lvl1pPr>
              <a:lnSpc>
                <a:spcPct val="70000"/>
              </a:lnSpc>
              <a:defRPr/>
            </a:lvl1pPr>
          </a:lstStyle>
          <a:p>
            <a:r>
              <a:rPr lang="en-US"/>
              <a:t>Click to edit Master title style</a:t>
            </a:r>
          </a:p>
        </p:txBody>
      </p:sp>
      <p:sp>
        <p:nvSpPr>
          <p:cNvPr id="17" name="Footer Placeholder 16">
            <a:extLst>
              <a:ext uri="{FF2B5EF4-FFF2-40B4-BE49-F238E27FC236}">
                <a16:creationId xmlns:a16="http://schemas.microsoft.com/office/drawing/2014/main" id="{366E975E-8600-0212-A279-1EAB6F47F618}"/>
              </a:ext>
            </a:extLst>
          </p:cNvPr>
          <p:cNvSpPr>
            <a:spLocks noGrp="1"/>
          </p:cNvSpPr>
          <p:nvPr>
            <p:ph type="ftr" sz="quarter" idx="20"/>
          </p:nvPr>
        </p:nvSpPr>
        <p:spPr/>
        <p:txBody>
          <a:bodyPr/>
          <a:lstStyle/>
          <a:p>
            <a:r>
              <a:rPr lang="en-US"/>
              <a:t>EUGENIA LOPEZ</a:t>
            </a:r>
          </a:p>
        </p:txBody>
      </p:sp>
      <p:sp>
        <p:nvSpPr>
          <p:cNvPr id="16" name="Date Placeholder 15">
            <a:extLst>
              <a:ext uri="{FF2B5EF4-FFF2-40B4-BE49-F238E27FC236}">
                <a16:creationId xmlns:a16="http://schemas.microsoft.com/office/drawing/2014/main" id="{729A8429-9C4A-6AB2-255D-28B68D58FE96}"/>
              </a:ext>
            </a:extLst>
          </p:cNvPr>
          <p:cNvSpPr>
            <a:spLocks noGrp="1"/>
          </p:cNvSpPr>
          <p:nvPr>
            <p:ph type="dt" sz="half" idx="19"/>
          </p:nvPr>
        </p:nvSpPr>
        <p:spPr/>
        <p:txBody>
          <a:bodyPr/>
          <a:lstStyle/>
          <a:p>
            <a:fld id="{6A9BC7FF-2016-4B3D-AEF0-1AD6686EAE20}" type="datetime1">
              <a:rPr lang="en-US" smtClean="0"/>
              <a:t>5/29/2026</a:t>
            </a:fld>
            <a:endParaRPr lang="en-US"/>
          </a:p>
        </p:txBody>
      </p:sp>
      <p:sp>
        <p:nvSpPr>
          <p:cNvPr id="18" name="Slide Number Placeholder 17">
            <a:extLst>
              <a:ext uri="{FF2B5EF4-FFF2-40B4-BE49-F238E27FC236}">
                <a16:creationId xmlns:a16="http://schemas.microsoft.com/office/drawing/2014/main" id="{53F694D4-3C3D-65B3-8197-7D0AD17239C9}"/>
              </a:ext>
            </a:extLst>
          </p:cNvPr>
          <p:cNvSpPr>
            <a:spLocks noGrp="1"/>
          </p:cNvSpPr>
          <p:nvPr>
            <p:ph type="sldNum" sz="quarter" idx="21"/>
          </p:nvPr>
        </p:nvSpPr>
        <p:spPr/>
        <p:txBody>
          <a:bodyPr/>
          <a:lstStyle/>
          <a:p>
            <a:fld id="{24D65F33-A771-944D-9289-CA575F1D1B7F}" type="slidenum">
              <a:rPr lang="en-US" smtClean="0"/>
              <a:pPr/>
              <a:t>‹#›</a:t>
            </a:fld>
            <a:endParaRPr lang="en-US"/>
          </a:p>
        </p:txBody>
      </p:sp>
      <p:sp>
        <p:nvSpPr>
          <p:cNvPr id="19" name="Text Placeholder 29">
            <a:extLst>
              <a:ext uri="{FF2B5EF4-FFF2-40B4-BE49-F238E27FC236}">
                <a16:creationId xmlns:a16="http://schemas.microsoft.com/office/drawing/2014/main" id="{A94752D1-5440-1401-1821-F62236A624EB}"/>
              </a:ext>
            </a:extLst>
          </p:cNvPr>
          <p:cNvSpPr>
            <a:spLocks noGrp="1"/>
          </p:cNvSpPr>
          <p:nvPr>
            <p:ph type="body" sz="quarter" idx="22"/>
          </p:nvPr>
        </p:nvSpPr>
        <p:spPr>
          <a:xfrm>
            <a:off x="6286499" y="987433"/>
            <a:ext cx="4704115" cy="756611"/>
          </a:xfrm>
        </p:spPr>
        <p:txBody>
          <a:bodyPr anchor="b">
            <a:normAutofit/>
          </a:bodyPr>
          <a:lstStyle>
            <a:lvl1pPr>
              <a:lnSpc>
                <a:spcPct val="125000"/>
              </a:lnSpc>
              <a:spcBef>
                <a:spcPts val="0"/>
              </a:spcBef>
              <a:defRPr sz="1200"/>
            </a:lvl1pPr>
          </a:lstStyle>
          <a:p>
            <a:pPr lvl="0"/>
            <a:r>
              <a:rPr lang="en-US"/>
              <a:t>Click to edit Master text styles</a:t>
            </a:r>
          </a:p>
          <a:p>
            <a:pPr lvl="1"/>
            <a:r>
              <a:rPr lang="en-US"/>
              <a:t>Second level</a:t>
            </a:r>
          </a:p>
          <a:p>
            <a:pPr lvl="2"/>
            <a:r>
              <a:rPr lang="en-US"/>
              <a:t>Third level</a:t>
            </a:r>
          </a:p>
        </p:txBody>
      </p:sp>
      <p:sp>
        <p:nvSpPr>
          <p:cNvPr id="33" name="Picture Placeholder 7">
            <a:extLst>
              <a:ext uri="{FF2B5EF4-FFF2-40B4-BE49-F238E27FC236}">
                <a16:creationId xmlns:a16="http://schemas.microsoft.com/office/drawing/2014/main" id="{72989F11-2CBF-C2A7-A791-19D9E4229308}"/>
              </a:ext>
            </a:extLst>
          </p:cNvPr>
          <p:cNvSpPr>
            <a:spLocks noGrp="1"/>
          </p:cNvSpPr>
          <p:nvPr>
            <p:ph type="pic" sz="quarter" idx="16" hasCustomPrompt="1"/>
          </p:nvPr>
        </p:nvSpPr>
        <p:spPr>
          <a:xfrm>
            <a:off x="3" y="2123130"/>
            <a:ext cx="5905499" cy="2605396"/>
          </a:xfrm>
          <a:noFill/>
        </p:spPr>
        <p:txBody>
          <a:bodyPr/>
          <a:lstStyle>
            <a:lvl1pPr>
              <a:defRPr/>
            </a:lvl1pPr>
          </a:lstStyle>
          <a:p>
            <a:r>
              <a:rPr lang="en-US"/>
              <a:t>  </a:t>
            </a:r>
          </a:p>
        </p:txBody>
      </p:sp>
      <p:sp>
        <p:nvSpPr>
          <p:cNvPr id="9" name="Text Placeholder 29">
            <a:extLst>
              <a:ext uri="{FF2B5EF4-FFF2-40B4-BE49-F238E27FC236}">
                <a16:creationId xmlns:a16="http://schemas.microsoft.com/office/drawing/2014/main" id="{261E8F51-773B-EC58-E703-966A5440846C}"/>
              </a:ext>
            </a:extLst>
          </p:cNvPr>
          <p:cNvSpPr>
            <a:spLocks noGrp="1"/>
          </p:cNvSpPr>
          <p:nvPr>
            <p:ph type="body" sz="quarter" idx="18"/>
          </p:nvPr>
        </p:nvSpPr>
        <p:spPr>
          <a:xfrm>
            <a:off x="1571626" y="5094281"/>
            <a:ext cx="4323112" cy="1128717"/>
          </a:xfrm>
        </p:spPr>
        <p:txBody>
          <a:bodyPr anchor="t">
            <a:normAutofit/>
          </a:bodyPr>
          <a:lstStyle>
            <a:lvl1pPr>
              <a:lnSpc>
                <a:spcPct val="125000"/>
              </a:lnSpc>
              <a:spcBef>
                <a:spcPts val="0"/>
              </a:spcBef>
              <a:defRPr sz="1200"/>
            </a:lvl1pPr>
          </a:lstStyle>
          <a:p>
            <a:pPr lvl="0"/>
            <a:r>
              <a:rPr lang="en-US"/>
              <a:t>Click to edit Master text styles</a:t>
            </a:r>
          </a:p>
          <a:p>
            <a:pPr lvl="1"/>
            <a:r>
              <a:rPr lang="en-US"/>
              <a:t>Second level</a:t>
            </a:r>
          </a:p>
          <a:p>
            <a:pPr lvl="2"/>
            <a:r>
              <a:rPr lang="en-US"/>
              <a:t>Third level</a:t>
            </a:r>
          </a:p>
        </p:txBody>
      </p:sp>
      <p:sp>
        <p:nvSpPr>
          <p:cNvPr id="8" name="Picture Placeholder 7">
            <a:extLst>
              <a:ext uri="{FF2B5EF4-FFF2-40B4-BE49-F238E27FC236}">
                <a16:creationId xmlns:a16="http://schemas.microsoft.com/office/drawing/2014/main" id="{B72F4DB5-F664-373B-A176-114831BB7DBA}"/>
              </a:ext>
            </a:extLst>
          </p:cNvPr>
          <p:cNvSpPr>
            <a:spLocks noGrp="1"/>
          </p:cNvSpPr>
          <p:nvPr>
            <p:ph type="pic" sz="quarter" idx="15" hasCustomPrompt="1"/>
          </p:nvPr>
        </p:nvSpPr>
        <p:spPr>
          <a:xfrm>
            <a:off x="6286500" y="2123130"/>
            <a:ext cx="5905499" cy="4734870"/>
          </a:xfrm>
          <a:noFill/>
        </p:spPr>
        <p:txBody>
          <a:bodyPr/>
          <a:lstStyle>
            <a:lvl1pPr>
              <a:defRPr/>
            </a:lvl1pPr>
          </a:lstStyle>
          <a:p>
            <a:r>
              <a:rPr lang="en-US"/>
              <a:t>  </a:t>
            </a:r>
          </a:p>
        </p:txBody>
      </p:sp>
    </p:spTree>
    <p:extLst>
      <p:ext uri="{BB962C8B-B14F-4D97-AF65-F5344CB8AC3E}">
        <p14:creationId xmlns:p14="http://schemas.microsoft.com/office/powerpoint/2010/main" val="146460323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 image content">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DEFCAB3-7FE0-3527-3838-A9860DF2A0FE}"/>
              </a:ext>
            </a:extLst>
          </p:cNvPr>
          <p:cNvSpPr>
            <a:spLocks noGrp="1"/>
          </p:cNvSpPr>
          <p:nvPr>
            <p:ph type="title"/>
          </p:nvPr>
        </p:nvSpPr>
        <p:spPr>
          <a:xfrm>
            <a:off x="6843094" y="1000757"/>
            <a:ext cx="4158284" cy="2614292"/>
          </a:xfrm>
        </p:spPr>
        <p:txBody>
          <a:bodyPr anchor="b"/>
          <a:lstStyle/>
          <a:p>
            <a:r>
              <a:rPr lang="en-US"/>
              <a:t>Click to edit Master title style</a:t>
            </a:r>
          </a:p>
        </p:txBody>
      </p:sp>
      <p:sp>
        <p:nvSpPr>
          <p:cNvPr id="8" name="Picture Placeholder 7">
            <a:extLst>
              <a:ext uri="{FF2B5EF4-FFF2-40B4-BE49-F238E27FC236}">
                <a16:creationId xmlns:a16="http://schemas.microsoft.com/office/drawing/2014/main" id="{C9C2D540-C69C-CEAB-0B32-AEC43BC5FA7B}"/>
              </a:ext>
            </a:extLst>
          </p:cNvPr>
          <p:cNvSpPr>
            <a:spLocks noGrp="1"/>
          </p:cNvSpPr>
          <p:nvPr>
            <p:ph type="pic" sz="quarter" idx="13" hasCustomPrompt="1"/>
          </p:nvPr>
        </p:nvSpPr>
        <p:spPr>
          <a:xfrm>
            <a:off x="-1" y="0"/>
            <a:ext cx="6286497" cy="6223000"/>
          </a:xfrm>
          <a:noFill/>
        </p:spPr>
        <p:txBody>
          <a:bodyPr/>
          <a:lstStyle>
            <a:lvl1pPr>
              <a:defRPr/>
            </a:lvl1pPr>
          </a:lstStyle>
          <a:p>
            <a:r>
              <a:rPr lang="en-US"/>
              <a:t>  </a:t>
            </a:r>
          </a:p>
        </p:txBody>
      </p:sp>
      <p:sp>
        <p:nvSpPr>
          <p:cNvPr id="14" name="Footer Placeholder 13">
            <a:extLst>
              <a:ext uri="{FF2B5EF4-FFF2-40B4-BE49-F238E27FC236}">
                <a16:creationId xmlns:a16="http://schemas.microsoft.com/office/drawing/2014/main" id="{DEB48C59-1856-412B-5F2D-56050D6FD37A}"/>
              </a:ext>
            </a:extLst>
          </p:cNvPr>
          <p:cNvSpPr>
            <a:spLocks noGrp="1"/>
          </p:cNvSpPr>
          <p:nvPr>
            <p:ph type="ftr" sz="quarter" idx="17"/>
          </p:nvPr>
        </p:nvSpPr>
        <p:spPr>
          <a:xfrm>
            <a:off x="6843086" y="13328"/>
            <a:ext cx="2828913" cy="621671"/>
          </a:xfrm>
        </p:spPr>
        <p:txBody>
          <a:bodyPr/>
          <a:lstStyle/>
          <a:p>
            <a:r>
              <a:rPr lang="en-US"/>
              <a:t>EUGENIA LOPEZ</a:t>
            </a:r>
          </a:p>
        </p:txBody>
      </p:sp>
      <p:sp>
        <p:nvSpPr>
          <p:cNvPr id="13" name="Date Placeholder 12">
            <a:extLst>
              <a:ext uri="{FF2B5EF4-FFF2-40B4-BE49-F238E27FC236}">
                <a16:creationId xmlns:a16="http://schemas.microsoft.com/office/drawing/2014/main" id="{7A2341E2-C125-2A85-BD46-E4A218F286D0}"/>
              </a:ext>
            </a:extLst>
          </p:cNvPr>
          <p:cNvSpPr>
            <a:spLocks noGrp="1"/>
          </p:cNvSpPr>
          <p:nvPr>
            <p:ph type="dt" sz="half" idx="16"/>
          </p:nvPr>
        </p:nvSpPr>
        <p:spPr/>
        <p:txBody>
          <a:bodyPr/>
          <a:lstStyle/>
          <a:p>
            <a:fld id="{1EFDF2D3-3A9D-4C3F-BF3B-56A91311D99E}" type="datetime1">
              <a:rPr lang="en-US" smtClean="0"/>
              <a:t>5/29/2026</a:t>
            </a:fld>
            <a:endParaRPr lang="en-US"/>
          </a:p>
        </p:txBody>
      </p:sp>
      <p:sp>
        <p:nvSpPr>
          <p:cNvPr id="15" name="Slide Number Placeholder 14">
            <a:extLst>
              <a:ext uri="{FF2B5EF4-FFF2-40B4-BE49-F238E27FC236}">
                <a16:creationId xmlns:a16="http://schemas.microsoft.com/office/drawing/2014/main" id="{7EE668E5-E2E6-0C4C-3031-D00BEA716726}"/>
              </a:ext>
            </a:extLst>
          </p:cNvPr>
          <p:cNvSpPr>
            <a:spLocks noGrp="1"/>
          </p:cNvSpPr>
          <p:nvPr>
            <p:ph type="sldNum" sz="quarter" idx="18"/>
          </p:nvPr>
        </p:nvSpPr>
        <p:spPr/>
        <p:txBody>
          <a:bodyPr/>
          <a:lstStyle/>
          <a:p>
            <a:fld id="{24D65F33-A771-944D-9289-CA575F1D1B7F}" type="slidenum">
              <a:rPr lang="en-US" smtClean="0"/>
              <a:pPr/>
              <a:t>‹#›</a:t>
            </a:fld>
            <a:endParaRPr lang="en-US"/>
          </a:p>
        </p:txBody>
      </p:sp>
      <p:sp>
        <p:nvSpPr>
          <p:cNvPr id="12" name="Text Placeholder 11">
            <a:extLst>
              <a:ext uri="{FF2B5EF4-FFF2-40B4-BE49-F238E27FC236}">
                <a16:creationId xmlns:a16="http://schemas.microsoft.com/office/drawing/2014/main" id="{E391C788-7B92-2C1F-50CE-43AD246D802B}"/>
              </a:ext>
            </a:extLst>
          </p:cNvPr>
          <p:cNvSpPr>
            <a:spLocks noGrp="1"/>
          </p:cNvSpPr>
          <p:nvPr>
            <p:ph type="body" sz="quarter" idx="15"/>
          </p:nvPr>
        </p:nvSpPr>
        <p:spPr>
          <a:xfrm>
            <a:off x="7224713" y="3981450"/>
            <a:ext cx="3776662" cy="22415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20937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ulti image ">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2B6C6C48-2B0C-AF7C-68AA-D38D3DA95E07}"/>
              </a:ext>
            </a:extLst>
          </p:cNvPr>
          <p:cNvSpPr>
            <a:spLocks noGrp="1"/>
          </p:cNvSpPr>
          <p:nvPr>
            <p:ph type="title"/>
          </p:nvPr>
        </p:nvSpPr>
        <p:spPr>
          <a:xfrm>
            <a:off x="1190622" y="4347525"/>
            <a:ext cx="4709493" cy="458627"/>
          </a:xfrm>
        </p:spPr>
        <p:txBody>
          <a:bodyPr/>
          <a:lstStyle/>
          <a:p>
            <a:r>
              <a:rPr lang="en-US"/>
              <a:t>Click to edit Master title style</a:t>
            </a:r>
          </a:p>
        </p:txBody>
      </p:sp>
      <p:sp>
        <p:nvSpPr>
          <p:cNvPr id="15" name="Footer Placeholder 14">
            <a:extLst>
              <a:ext uri="{FF2B5EF4-FFF2-40B4-BE49-F238E27FC236}">
                <a16:creationId xmlns:a16="http://schemas.microsoft.com/office/drawing/2014/main" id="{098526CA-6215-DE95-8BC3-D6497389F061}"/>
              </a:ext>
            </a:extLst>
          </p:cNvPr>
          <p:cNvSpPr>
            <a:spLocks noGrp="1"/>
          </p:cNvSpPr>
          <p:nvPr>
            <p:ph type="ftr" sz="quarter" idx="22"/>
          </p:nvPr>
        </p:nvSpPr>
        <p:spPr/>
        <p:txBody>
          <a:bodyPr/>
          <a:lstStyle/>
          <a:p>
            <a:r>
              <a:rPr lang="en-US"/>
              <a:t>EUGENIA LOPEZ</a:t>
            </a:r>
          </a:p>
        </p:txBody>
      </p:sp>
      <p:sp>
        <p:nvSpPr>
          <p:cNvPr id="14" name="Date Placeholder 13">
            <a:extLst>
              <a:ext uri="{FF2B5EF4-FFF2-40B4-BE49-F238E27FC236}">
                <a16:creationId xmlns:a16="http://schemas.microsoft.com/office/drawing/2014/main" id="{C41BA090-CE81-7B84-3E7C-DFFF1176D649}"/>
              </a:ext>
            </a:extLst>
          </p:cNvPr>
          <p:cNvSpPr>
            <a:spLocks noGrp="1"/>
          </p:cNvSpPr>
          <p:nvPr>
            <p:ph type="dt" sz="half" idx="21"/>
          </p:nvPr>
        </p:nvSpPr>
        <p:spPr/>
        <p:txBody>
          <a:bodyPr/>
          <a:lstStyle/>
          <a:p>
            <a:fld id="{C0AF7EA6-803A-4A9F-8731-E6BB79165C43}" type="datetime1">
              <a:rPr lang="en-US" smtClean="0"/>
              <a:t>5/29/2026</a:t>
            </a:fld>
            <a:endParaRPr lang="en-US"/>
          </a:p>
        </p:txBody>
      </p:sp>
      <p:sp>
        <p:nvSpPr>
          <p:cNvPr id="16" name="Slide Number Placeholder 15">
            <a:extLst>
              <a:ext uri="{FF2B5EF4-FFF2-40B4-BE49-F238E27FC236}">
                <a16:creationId xmlns:a16="http://schemas.microsoft.com/office/drawing/2014/main" id="{E90CC3C1-F295-DF40-806F-60CB2F0A4794}"/>
              </a:ext>
            </a:extLst>
          </p:cNvPr>
          <p:cNvSpPr>
            <a:spLocks noGrp="1"/>
          </p:cNvSpPr>
          <p:nvPr>
            <p:ph type="sldNum" sz="quarter" idx="23"/>
          </p:nvPr>
        </p:nvSpPr>
        <p:spPr/>
        <p:txBody>
          <a:bodyPr/>
          <a:lstStyle/>
          <a:p>
            <a:fld id="{24D65F33-A771-944D-9289-CA575F1D1B7F}" type="slidenum">
              <a:rPr lang="en-US" smtClean="0"/>
              <a:pPr/>
              <a:t>‹#›</a:t>
            </a:fld>
            <a:endParaRPr lang="en-US"/>
          </a:p>
        </p:txBody>
      </p:sp>
      <p:sp>
        <p:nvSpPr>
          <p:cNvPr id="8" name="Picture Placeholder 7">
            <a:extLst>
              <a:ext uri="{FF2B5EF4-FFF2-40B4-BE49-F238E27FC236}">
                <a16:creationId xmlns:a16="http://schemas.microsoft.com/office/drawing/2014/main" id="{323D6629-B12F-699F-B997-31309132E2D0}"/>
              </a:ext>
            </a:extLst>
          </p:cNvPr>
          <p:cNvSpPr>
            <a:spLocks noGrp="1"/>
          </p:cNvSpPr>
          <p:nvPr>
            <p:ph type="pic" sz="quarter" idx="15" hasCustomPrompt="1"/>
          </p:nvPr>
        </p:nvSpPr>
        <p:spPr>
          <a:xfrm>
            <a:off x="1190623" y="976964"/>
            <a:ext cx="4709493" cy="3004802"/>
          </a:xfrm>
          <a:noFill/>
        </p:spPr>
        <p:txBody>
          <a:bodyPr/>
          <a:lstStyle>
            <a:lvl1pPr>
              <a:defRPr/>
            </a:lvl1pPr>
          </a:lstStyle>
          <a:p>
            <a:r>
              <a:rPr lang="en-US"/>
              <a:t>  </a:t>
            </a:r>
          </a:p>
        </p:txBody>
      </p:sp>
      <p:sp>
        <p:nvSpPr>
          <p:cNvPr id="36" name="Picture Placeholder 7">
            <a:extLst>
              <a:ext uri="{FF2B5EF4-FFF2-40B4-BE49-F238E27FC236}">
                <a16:creationId xmlns:a16="http://schemas.microsoft.com/office/drawing/2014/main" id="{500C3197-46AF-1548-E952-0499BD0A4F3A}"/>
              </a:ext>
            </a:extLst>
          </p:cNvPr>
          <p:cNvSpPr>
            <a:spLocks noGrp="1"/>
          </p:cNvSpPr>
          <p:nvPr>
            <p:ph type="pic" sz="quarter" idx="18" hasCustomPrompt="1"/>
          </p:nvPr>
        </p:nvSpPr>
        <p:spPr>
          <a:xfrm>
            <a:off x="6334101" y="971387"/>
            <a:ext cx="2736924" cy="1724789"/>
          </a:xfrm>
          <a:noFill/>
        </p:spPr>
        <p:txBody>
          <a:bodyPr/>
          <a:lstStyle>
            <a:lvl1pPr>
              <a:defRPr/>
            </a:lvl1pPr>
          </a:lstStyle>
          <a:p>
            <a:r>
              <a:rPr lang="en-US"/>
              <a:t>  </a:t>
            </a:r>
          </a:p>
        </p:txBody>
      </p:sp>
      <p:sp>
        <p:nvSpPr>
          <p:cNvPr id="38" name="Picture Placeholder 7">
            <a:extLst>
              <a:ext uri="{FF2B5EF4-FFF2-40B4-BE49-F238E27FC236}">
                <a16:creationId xmlns:a16="http://schemas.microsoft.com/office/drawing/2014/main" id="{F5DFC99C-CF09-5E92-A7F1-149F06AABC54}"/>
              </a:ext>
            </a:extLst>
          </p:cNvPr>
          <p:cNvSpPr>
            <a:spLocks noGrp="1"/>
          </p:cNvSpPr>
          <p:nvPr>
            <p:ph type="pic" sz="quarter" idx="20" hasCustomPrompt="1"/>
          </p:nvPr>
        </p:nvSpPr>
        <p:spPr>
          <a:xfrm>
            <a:off x="9468522" y="971387"/>
            <a:ext cx="2736926" cy="1724789"/>
          </a:xfrm>
          <a:noFill/>
        </p:spPr>
        <p:txBody>
          <a:bodyPr/>
          <a:lstStyle>
            <a:lvl1pPr>
              <a:defRPr/>
            </a:lvl1pPr>
          </a:lstStyle>
          <a:p>
            <a:r>
              <a:rPr lang="en-US"/>
              <a:t>  </a:t>
            </a:r>
          </a:p>
        </p:txBody>
      </p:sp>
      <p:sp>
        <p:nvSpPr>
          <p:cNvPr id="35" name="Picture Placeholder 7">
            <a:extLst>
              <a:ext uri="{FF2B5EF4-FFF2-40B4-BE49-F238E27FC236}">
                <a16:creationId xmlns:a16="http://schemas.microsoft.com/office/drawing/2014/main" id="{08042D2B-076D-3DCC-DB90-D0870471AADE}"/>
              </a:ext>
            </a:extLst>
          </p:cNvPr>
          <p:cNvSpPr>
            <a:spLocks noGrp="1"/>
          </p:cNvSpPr>
          <p:nvPr>
            <p:ph type="pic" sz="quarter" idx="17" hasCustomPrompt="1"/>
          </p:nvPr>
        </p:nvSpPr>
        <p:spPr>
          <a:xfrm>
            <a:off x="6334101" y="3117742"/>
            <a:ext cx="2736924" cy="1688410"/>
          </a:xfrm>
          <a:noFill/>
        </p:spPr>
        <p:txBody>
          <a:bodyPr/>
          <a:lstStyle>
            <a:lvl1pPr>
              <a:defRPr/>
            </a:lvl1pPr>
          </a:lstStyle>
          <a:p>
            <a:r>
              <a:rPr lang="en-US"/>
              <a:t>  </a:t>
            </a:r>
          </a:p>
        </p:txBody>
      </p:sp>
      <p:sp>
        <p:nvSpPr>
          <p:cNvPr id="37" name="Picture Placeholder 7">
            <a:extLst>
              <a:ext uri="{FF2B5EF4-FFF2-40B4-BE49-F238E27FC236}">
                <a16:creationId xmlns:a16="http://schemas.microsoft.com/office/drawing/2014/main" id="{80D30DF9-D425-F777-8961-E87BBDAF02C4}"/>
              </a:ext>
            </a:extLst>
          </p:cNvPr>
          <p:cNvSpPr>
            <a:spLocks noGrp="1"/>
          </p:cNvSpPr>
          <p:nvPr>
            <p:ph type="pic" sz="quarter" idx="19" hasCustomPrompt="1"/>
          </p:nvPr>
        </p:nvSpPr>
        <p:spPr>
          <a:xfrm>
            <a:off x="9468522" y="3117742"/>
            <a:ext cx="2736926" cy="1688410"/>
          </a:xfrm>
          <a:noFill/>
        </p:spPr>
        <p:txBody>
          <a:bodyPr/>
          <a:lstStyle>
            <a:lvl1pPr>
              <a:defRPr/>
            </a:lvl1pPr>
          </a:lstStyle>
          <a:p>
            <a:r>
              <a:rPr lang="en-US"/>
              <a:t>  </a:t>
            </a:r>
          </a:p>
        </p:txBody>
      </p:sp>
      <p:sp>
        <p:nvSpPr>
          <p:cNvPr id="11" name="Text Placeholder 29">
            <a:extLst>
              <a:ext uri="{FF2B5EF4-FFF2-40B4-BE49-F238E27FC236}">
                <a16:creationId xmlns:a16="http://schemas.microsoft.com/office/drawing/2014/main" id="{65EE16AB-CE9A-066E-87FB-8E3D93BF5958}"/>
              </a:ext>
            </a:extLst>
          </p:cNvPr>
          <p:cNvSpPr>
            <a:spLocks noGrp="1"/>
          </p:cNvSpPr>
          <p:nvPr>
            <p:ph type="body" sz="quarter" idx="16"/>
          </p:nvPr>
        </p:nvSpPr>
        <p:spPr>
          <a:xfrm>
            <a:off x="1577358" y="5109523"/>
            <a:ext cx="4322758" cy="1113477"/>
          </a:xfrm>
        </p:spPr>
        <p:txBody>
          <a:bodyPr>
            <a:normAutofit/>
          </a:bodyPr>
          <a:lstStyle>
            <a:lvl1pPr>
              <a:lnSpc>
                <a:spcPct val="125000"/>
              </a:lnSpc>
              <a:spcBef>
                <a:spcPts val="0"/>
              </a:spcBef>
              <a:defRPr sz="12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29">
            <a:extLst>
              <a:ext uri="{FF2B5EF4-FFF2-40B4-BE49-F238E27FC236}">
                <a16:creationId xmlns:a16="http://schemas.microsoft.com/office/drawing/2014/main" id="{818A0BA5-13A9-4AA7-C9C8-C19C3F2253C2}"/>
              </a:ext>
            </a:extLst>
          </p:cNvPr>
          <p:cNvSpPr>
            <a:spLocks noGrp="1"/>
          </p:cNvSpPr>
          <p:nvPr>
            <p:ph type="body" sz="quarter" idx="14"/>
          </p:nvPr>
        </p:nvSpPr>
        <p:spPr>
          <a:xfrm>
            <a:off x="6676262" y="5109524"/>
            <a:ext cx="4325116" cy="1113476"/>
          </a:xfrm>
        </p:spPr>
        <p:txBody>
          <a:bodyPr>
            <a:normAutofit/>
          </a:bodyPr>
          <a:lstStyle>
            <a:lvl1pPr>
              <a:lnSpc>
                <a:spcPct val="125000"/>
              </a:lnSpc>
              <a:spcBef>
                <a:spcPts val="0"/>
              </a:spcBef>
              <a:defRPr sz="12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6666930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 image content 2">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10FE3B9-CCDC-2B15-44E8-77C24C8A4360}"/>
              </a:ext>
            </a:extLst>
          </p:cNvPr>
          <p:cNvSpPr>
            <a:spLocks noGrp="1"/>
          </p:cNvSpPr>
          <p:nvPr>
            <p:ph type="title"/>
          </p:nvPr>
        </p:nvSpPr>
        <p:spPr>
          <a:xfrm>
            <a:off x="1190622" y="5100630"/>
            <a:ext cx="4325115" cy="1131268"/>
          </a:xfrm>
        </p:spPr>
        <p:txBody>
          <a:bodyPr/>
          <a:lstStyle/>
          <a:p>
            <a:r>
              <a:rPr lang="en-US"/>
              <a:t>Click to edit Master title style</a:t>
            </a:r>
          </a:p>
        </p:txBody>
      </p:sp>
      <p:sp>
        <p:nvSpPr>
          <p:cNvPr id="14" name="Footer Placeholder 13">
            <a:extLst>
              <a:ext uri="{FF2B5EF4-FFF2-40B4-BE49-F238E27FC236}">
                <a16:creationId xmlns:a16="http://schemas.microsoft.com/office/drawing/2014/main" id="{62F85F3E-34BC-8B30-7EE2-3D35237E7DBF}"/>
              </a:ext>
            </a:extLst>
          </p:cNvPr>
          <p:cNvSpPr>
            <a:spLocks noGrp="1"/>
          </p:cNvSpPr>
          <p:nvPr>
            <p:ph type="ftr" sz="quarter" idx="18"/>
          </p:nvPr>
        </p:nvSpPr>
        <p:spPr/>
        <p:txBody>
          <a:bodyPr/>
          <a:lstStyle/>
          <a:p>
            <a:r>
              <a:rPr lang="en-US"/>
              <a:t>EUGENIA LOPEZ</a:t>
            </a:r>
          </a:p>
        </p:txBody>
      </p:sp>
      <p:sp>
        <p:nvSpPr>
          <p:cNvPr id="13" name="Date Placeholder 12">
            <a:extLst>
              <a:ext uri="{FF2B5EF4-FFF2-40B4-BE49-F238E27FC236}">
                <a16:creationId xmlns:a16="http://schemas.microsoft.com/office/drawing/2014/main" id="{0C7A73C3-BC12-A228-2C84-B0530C73B833}"/>
              </a:ext>
            </a:extLst>
          </p:cNvPr>
          <p:cNvSpPr>
            <a:spLocks noGrp="1"/>
          </p:cNvSpPr>
          <p:nvPr>
            <p:ph type="dt" sz="half" idx="17"/>
          </p:nvPr>
        </p:nvSpPr>
        <p:spPr/>
        <p:txBody>
          <a:bodyPr/>
          <a:lstStyle/>
          <a:p>
            <a:fld id="{CF92EA12-4C97-4D4E-B12E-1E931343C0F2}" type="datetime1">
              <a:rPr lang="en-US" smtClean="0"/>
              <a:t>5/29/2026</a:t>
            </a:fld>
            <a:endParaRPr lang="en-US"/>
          </a:p>
        </p:txBody>
      </p:sp>
      <p:sp>
        <p:nvSpPr>
          <p:cNvPr id="15" name="Slide Number Placeholder 14">
            <a:extLst>
              <a:ext uri="{FF2B5EF4-FFF2-40B4-BE49-F238E27FC236}">
                <a16:creationId xmlns:a16="http://schemas.microsoft.com/office/drawing/2014/main" id="{15E574FA-76E7-6D97-9FCF-E7BA145E9158}"/>
              </a:ext>
            </a:extLst>
          </p:cNvPr>
          <p:cNvSpPr>
            <a:spLocks noGrp="1"/>
          </p:cNvSpPr>
          <p:nvPr>
            <p:ph type="sldNum" sz="quarter" idx="19"/>
          </p:nvPr>
        </p:nvSpPr>
        <p:spPr/>
        <p:txBody>
          <a:bodyPr/>
          <a:lstStyle/>
          <a:p>
            <a:fld id="{24D65F33-A771-944D-9289-CA575F1D1B7F}" type="slidenum">
              <a:rPr lang="en-US" smtClean="0"/>
              <a:pPr/>
              <a:t>‹#›</a:t>
            </a:fld>
            <a:endParaRPr lang="en-US"/>
          </a:p>
        </p:txBody>
      </p:sp>
      <p:sp>
        <p:nvSpPr>
          <p:cNvPr id="33" name="Picture Placeholder 7">
            <a:extLst>
              <a:ext uri="{FF2B5EF4-FFF2-40B4-BE49-F238E27FC236}">
                <a16:creationId xmlns:a16="http://schemas.microsoft.com/office/drawing/2014/main" id="{72989F11-2CBF-C2A7-A791-19D9E4229308}"/>
              </a:ext>
            </a:extLst>
          </p:cNvPr>
          <p:cNvSpPr>
            <a:spLocks noGrp="1"/>
          </p:cNvSpPr>
          <p:nvPr>
            <p:ph type="pic" sz="quarter" idx="16" hasCustomPrompt="1"/>
          </p:nvPr>
        </p:nvSpPr>
        <p:spPr>
          <a:xfrm>
            <a:off x="0" y="634997"/>
            <a:ext cx="11001370" cy="4085591"/>
          </a:xfrm>
          <a:noFill/>
        </p:spPr>
        <p:txBody>
          <a:bodyPr/>
          <a:lstStyle>
            <a:lvl1pPr>
              <a:defRPr/>
            </a:lvl1pPr>
          </a:lstStyle>
          <a:p>
            <a:r>
              <a:rPr lang="en-US"/>
              <a:t>  </a:t>
            </a:r>
          </a:p>
        </p:txBody>
      </p:sp>
      <p:sp>
        <p:nvSpPr>
          <p:cNvPr id="17" name="Text Placeholder 16">
            <a:extLst>
              <a:ext uri="{FF2B5EF4-FFF2-40B4-BE49-F238E27FC236}">
                <a16:creationId xmlns:a16="http://schemas.microsoft.com/office/drawing/2014/main" id="{04658BA4-B060-0E70-1E82-94C4D7635598}"/>
              </a:ext>
            </a:extLst>
          </p:cNvPr>
          <p:cNvSpPr>
            <a:spLocks noGrp="1"/>
          </p:cNvSpPr>
          <p:nvPr>
            <p:ph type="body" sz="quarter" idx="20"/>
          </p:nvPr>
        </p:nvSpPr>
        <p:spPr>
          <a:xfrm>
            <a:off x="6096000" y="5100638"/>
            <a:ext cx="4905375" cy="1139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2240033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5F7D5DA-9751-FFAB-A0BA-ABCA674F8926}"/>
              </a:ext>
            </a:extLst>
          </p:cNvPr>
          <p:cNvSpPr>
            <a:spLocks noGrp="1"/>
          </p:cNvSpPr>
          <p:nvPr>
            <p:ph type="title"/>
          </p:nvPr>
        </p:nvSpPr>
        <p:spPr>
          <a:xfrm>
            <a:off x="7786070" y="1009653"/>
            <a:ext cx="3215308" cy="3718873"/>
          </a:xfrm>
        </p:spPr>
        <p:txBody>
          <a:bodyPr anchor="b"/>
          <a:lstStyle/>
          <a:p>
            <a:r>
              <a:rPr lang="en-US"/>
              <a:t>Click to edit Master title style</a:t>
            </a:r>
          </a:p>
        </p:txBody>
      </p:sp>
      <p:sp>
        <p:nvSpPr>
          <p:cNvPr id="12" name="Footer Placeholder 11">
            <a:extLst>
              <a:ext uri="{FF2B5EF4-FFF2-40B4-BE49-F238E27FC236}">
                <a16:creationId xmlns:a16="http://schemas.microsoft.com/office/drawing/2014/main" id="{EABB222A-10E1-6572-664B-442460A34295}"/>
              </a:ext>
            </a:extLst>
          </p:cNvPr>
          <p:cNvSpPr>
            <a:spLocks noGrp="1"/>
          </p:cNvSpPr>
          <p:nvPr>
            <p:ph type="ftr" sz="quarter" idx="18"/>
          </p:nvPr>
        </p:nvSpPr>
        <p:spPr/>
        <p:txBody>
          <a:bodyPr/>
          <a:lstStyle/>
          <a:p>
            <a:r>
              <a:rPr lang="en-US"/>
              <a:t>EUGENIA LOPEZ</a:t>
            </a:r>
          </a:p>
        </p:txBody>
      </p:sp>
      <p:sp>
        <p:nvSpPr>
          <p:cNvPr id="11" name="Date Placeholder 10">
            <a:extLst>
              <a:ext uri="{FF2B5EF4-FFF2-40B4-BE49-F238E27FC236}">
                <a16:creationId xmlns:a16="http://schemas.microsoft.com/office/drawing/2014/main" id="{F054A044-8842-73D8-F988-F9BD11672E6F}"/>
              </a:ext>
            </a:extLst>
          </p:cNvPr>
          <p:cNvSpPr>
            <a:spLocks noGrp="1"/>
          </p:cNvSpPr>
          <p:nvPr>
            <p:ph type="dt" sz="half" idx="17"/>
          </p:nvPr>
        </p:nvSpPr>
        <p:spPr/>
        <p:txBody>
          <a:bodyPr/>
          <a:lstStyle/>
          <a:p>
            <a:fld id="{7C2A3985-F00A-40AE-A000-56745036470F}" type="datetime1">
              <a:rPr lang="en-US" smtClean="0"/>
              <a:t>5/29/2026</a:t>
            </a:fld>
            <a:endParaRPr lang="en-US"/>
          </a:p>
        </p:txBody>
      </p:sp>
      <p:sp>
        <p:nvSpPr>
          <p:cNvPr id="13" name="Slide Number Placeholder 12">
            <a:extLst>
              <a:ext uri="{FF2B5EF4-FFF2-40B4-BE49-F238E27FC236}">
                <a16:creationId xmlns:a16="http://schemas.microsoft.com/office/drawing/2014/main" id="{D99B6D05-B2B5-8DCF-8414-C493199967C4}"/>
              </a:ext>
            </a:extLst>
          </p:cNvPr>
          <p:cNvSpPr>
            <a:spLocks noGrp="1"/>
          </p:cNvSpPr>
          <p:nvPr>
            <p:ph type="sldNum" sz="quarter" idx="19"/>
          </p:nvPr>
        </p:nvSpPr>
        <p:spPr/>
        <p:txBody>
          <a:bodyPr/>
          <a:lstStyle/>
          <a:p>
            <a:fld id="{24D65F33-A771-944D-9289-CA575F1D1B7F}" type="slidenum">
              <a:rPr lang="en-US" smtClean="0"/>
              <a:pPr/>
              <a:t>‹#›</a:t>
            </a:fld>
            <a:endParaRPr lang="en-US"/>
          </a:p>
        </p:txBody>
      </p:sp>
      <p:sp>
        <p:nvSpPr>
          <p:cNvPr id="33" name="Picture Placeholder 7">
            <a:extLst>
              <a:ext uri="{FF2B5EF4-FFF2-40B4-BE49-F238E27FC236}">
                <a16:creationId xmlns:a16="http://schemas.microsoft.com/office/drawing/2014/main" id="{72989F11-2CBF-C2A7-A791-19D9E4229308}"/>
              </a:ext>
            </a:extLst>
          </p:cNvPr>
          <p:cNvSpPr>
            <a:spLocks noGrp="1"/>
          </p:cNvSpPr>
          <p:nvPr>
            <p:ph type="pic" sz="quarter" idx="16" hasCustomPrompt="1"/>
          </p:nvPr>
        </p:nvSpPr>
        <p:spPr>
          <a:xfrm>
            <a:off x="0" y="658795"/>
            <a:ext cx="7229470" cy="6199205"/>
          </a:xfrm>
          <a:noFill/>
        </p:spPr>
        <p:txBody>
          <a:bodyPr/>
          <a:lstStyle>
            <a:lvl1pPr>
              <a:defRPr/>
            </a:lvl1pPr>
          </a:lstStyle>
          <a:p>
            <a:r>
              <a:rPr lang="en-US"/>
              <a:t>  </a:t>
            </a:r>
          </a:p>
        </p:txBody>
      </p:sp>
      <p:sp>
        <p:nvSpPr>
          <p:cNvPr id="8" name="Text Placeholder 29">
            <a:extLst>
              <a:ext uri="{FF2B5EF4-FFF2-40B4-BE49-F238E27FC236}">
                <a16:creationId xmlns:a16="http://schemas.microsoft.com/office/drawing/2014/main" id="{F970E206-5075-C9F9-2F55-80DA7D658625}"/>
              </a:ext>
            </a:extLst>
          </p:cNvPr>
          <p:cNvSpPr>
            <a:spLocks noGrp="1"/>
          </p:cNvSpPr>
          <p:nvPr>
            <p:ph type="body" sz="quarter" idx="14"/>
          </p:nvPr>
        </p:nvSpPr>
        <p:spPr>
          <a:xfrm>
            <a:off x="8172446" y="5109523"/>
            <a:ext cx="2828931" cy="1155069"/>
          </a:xfrm>
        </p:spPr>
        <p:txBody>
          <a:bodyPr>
            <a:normAutofit/>
          </a:bodyPr>
          <a:lstStyle>
            <a:lvl1pPr>
              <a:lnSpc>
                <a:spcPct val="125000"/>
              </a:lnSpc>
              <a:spcBef>
                <a:spcPts val="0"/>
              </a:spcBef>
              <a:defRPr sz="12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684302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865A134-EFD2-51B2-D979-FA9C1ED59EE4}"/>
              </a:ext>
            </a:extLst>
          </p:cNvPr>
          <p:cNvSpPr>
            <a:spLocks noGrp="1"/>
          </p:cNvSpPr>
          <p:nvPr>
            <p:ph type="title"/>
          </p:nvPr>
        </p:nvSpPr>
        <p:spPr/>
        <p:txBody>
          <a:bodyPr/>
          <a:lstStyle/>
          <a:p>
            <a:r>
              <a:rPr lang="en-US"/>
              <a:t>Click to edit Master title style</a:t>
            </a:r>
          </a:p>
        </p:txBody>
      </p:sp>
      <p:sp>
        <p:nvSpPr>
          <p:cNvPr id="13" name="Footer Placeholder 12">
            <a:extLst>
              <a:ext uri="{FF2B5EF4-FFF2-40B4-BE49-F238E27FC236}">
                <a16:creationId xmlns:a16="http://schemas.microsoft.com/office/drawing/2014/main" id="{12C436CD-66D0-AD96-860B-1CC343639B0F}"/>
              </a:ext>
            </a:extLst>
          </p:cNvPr>
          <p:cNvSpPr>
            <a:spLocks noGrp="1"/>
          </p:cNvSpPr>
          <p:nvPr>
            <p:ph type="ftr" sz="quarter" idx="16"/>
          </p:nvPr>
        </p:nvSpPr>
        <p:spPr/>
        <p:txBody>
          <a:bodyPr/>
          <a:lstStyle/>
          <a:p>
            <a:r>
              <a:rPr lang="en-US"/>
              <a:t>EUGENIA LOPEZ</a:t>
            </a:r>
          </a:p>
        </p:txBody>
      </p:sp>
      <p:sp>
        <p:nvSpPr>
          <p:cNvPr id="12" name="Date Placeholder 11">
            <a:extLst>
              <a:ext uri="{FF2B5EF4-FFF2-40B4-BE49-F238E27FC236}">
                <a16:creationId xmlns:a16="http://schemas.microsoft.com/office/drawing/2014/main" id="{CC879992-4E05-57F1-E509-95916EB888D5}"/>
              </a:ext>
            </a:extLst>
          </p:cNvPr>
          <p:cNvSpPr>
            <a:spLocks noGrp="1"/>
          </p:cNvSpPr>
          <p:nvPr>
            <p:ph type="dt" sz="half" idx="15"/>
          </p:nvPr>
        </p:nvSpPr>
        <p:spPr/>
        <p:txBody>
          <a:bodyPr/>
          <a:lstStyle/>
          <a:p>
            <a:fld id="{D1418879-614A-4688-AE01-EF921A93E005}" type="datetime1">
              <a:rPr lang="en-US" smtClean="0"/>
              <a:t>5/29/2026</a:t>
            </a:fld>
            <a:endParaRPr lang="en-US"/>
          </a:p>
        </p:txBody>
      </p:sp>
      <p:sp>
        <p:nvSpPr>
          <p:cNvPr id="14" name="Slide Number Placeholder 13">
            <a:extLst>
              <a:ext uri="{FF2B5EF4-FFF2-40B4-BE49-F238E27FC236}">
                <a16:creationId xmlns:a16="http://schemas.microsoft.com/office/drawing/2014/main" id="{E7E7E567-2E09-D40A-ED79-F2A77BA468A1}"/>
              </a:ext>
            </a:extLst>
          </p:cNvPr>
          <p:cNvSpPr>
            <a:spLocks noGrp="1"/>
          </p:cNvSpPr>
          <p:nvPr>
            <p:ph type="sldNum" sz="quarter" idx="17"/>
          </p:nvPr>
        </p:nvSpPr>
        <p:spPr/>
        <p:txBody>
          <a:bodyPr/>
          <a:lstStyle/>
          <a:p>
            <a:fld id="{24D65F33-A771-944D-9289-CA575F1D1B7F}" type="slidenum">
              <a:rPr lang="en-US" smtClean="0"/>
              <a:pPr/>
              <a:t>‹#›</a:t>
            </a:fld>
            <a:endParaRPr lang="en-US"/>
          </a:p>
        </p:txBody>
      </p:sp>
      <p:sp>
        <p:nvSpPr>
          <p:cNvPr id="11" name="Text Placeholder 10">
            <a:extLst>
              <a:ext uri="{FF2B5EF4-FFF2-40B4-BE49-F238E27FC236}">
                <a16:creationId xmlns:a16="http://schemas.microsoft.com/office/drawing/2014/main" id="{5C02D5DC-4448-9D20-F623-5B3B8EA81AF3}"/>
              </a:ext>
            </a:extLst>
          </p:cNvPr>
          <p:cNvSpPr>
            <a:spLocks noGrp="1"/>
          </p:cNvSpPr>
          <p:nvPr>
            <p:ph type="body" sz="quarter" idx="14"/>
          </p:nvPr>
        </p:nvSpPr>
        <p:spPr>
          <a:xfrm>
            <a:off x="1576388" y="2495550"/>
            <a:ext cx="9424987" cy="3714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3122888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ACAC06-7823-9FE6-3AD6-3316271CDF6F}"/>
              </a:ext>
            </a:extLst>
          </p:cNvPr>
          <p:cNvSpPr>
            <a:spLocks noGrp="1"/>
          </p:cNvSpPr>
          <p:nvPr>
            <p:ph type="title"/>
          </p:nvPr>
        </p:nvSpPr>
        <p:spPr>
          <a:xfrm>
            <a:off x="1190622" y="1381759"/>
            <a:ext cx="9810756" cy="747715"/>
          </a:xfrm>
          <a:prstGeom prst="rect">
            <a:avLst/>
          </a:prstGeom>
        </p:spPr>
        <p:txBody>
          <a:bodyPr vert="horz" lIns="91440" tIns="45720" rIns="91440" bIns="45720" rtlCol="0" anchor="t">
            <a:normAutofit/>
          </a:bodyPr>
          <a:lstStyle/>
          <a:p>
            <a:r>
              <a:rPr lang="en-US"/>
              <a:t>Click to edit Master title style</a:t>
            </a:r>
          </a:p>
        </p:txBody>
      </p:sp>
      <p:sp>
        <p:nvSpPr>
          <p:cNvPr id="5" name="Footer Placeholder 4">
            <a:extLst>
              <a:ext uri="{FF2B5EF4-FFF2-40B4-BE49-F238E27FC236}">
                <a16:creationId xmlns:a16="http://schemas.microsoft.com/office/drawing/2014/main" id="{93D78434-6A1E-AE1B-3DE9-15DEE585D288}"/>
              </a:ext>
            </a:extLst>
          </p:cNvPr>
          <p:cNvSpPr>
            <a:spLocks noGrp="1"/>
          </p:cNvSpPr>
          <p:nvPr>
            <p:ph type="ftr" sz="quarter" idx="3"/>
          </p:nvPr>
        </p:nvSpPr>
        <p:spPr>
          <a:xfrm>
            <a:off x="1190622" y="13328"/>
            <a:ext cx="7924804" cy="621671"/>
          </a:xfrm>
          <a:prstGeom prst="rect">
            <a:avLst/>
          </a:prstGeom>
        </p:spPr>
        <p:txBody>
          <a:bodyPr vert="horz" lIns="91440" tIns="45720" rIns="91440" bIns="45720" rtlCol="0" anchor="ctr"/>
          <a:lstStyle>
            <a:lvl1pPr algn="l" rtl="0">
              <a:defRPr sz="1000" b="0" i="0" spc="70" baseline="0">
                <a:solidFill>
                  <a:schemeClr val="tx1"/>
                </a:solidFill>
                <a:latin typeface="+mj-lt"/>
              </a:defRPr>
            </a:lvl1pPr>
          </a:lstStyle>
          <a:p>
            <a:r>
              <a:rPr lang="en-US"/>
              <a:t>EUGENIA LOPEZ</a:t>
            </a:r>
          </a:p>
        </p:txBody>
      </p:sp>
      <p:sp>
        <p:nvSpPr>
          <p:cNvPr id="4" name="Date Placeholder 3">
            <a:extLst>
              <a:ext uri="{FF2B5EF4-FFF2-40B4-BE49-F238E27FC236}">
                <a16:creationId xmlns:a16="http://schemas.microsoft.com/office/drawing/2014/main" id="{677861A9-D75A-3871-6BE2-D5C47DDE8848}"/>
              </a:ext>
            </a:extLst>
          </p:cNvPr>
          <p:cNvSpPr>
            <a:spLocks noGrp="1"/>
          </p:cNvSpPr>
          <p:nvPr>
            <p:ph type="dt" sz="half" idx="2"/>
          </p:nvPr>
        </p:nvSpPr>
        <p:spPr>
          <a:xfrm>
            <a:off x="9672014" y="0"/>
            <a:ext cx="942971" cy="621671"/>
          </a:xfrm>
          <a:prstGeom prst="rect">
            <a:avLst/>
          </a:prstGeom>
        </p:spPr>
        <p:txBody>
          <a:bodyPr vert="horz" lIns="0" tIns="45720" rIns="0" bIns="45720" rtlCol="0" anchor="ctr"/>
          <a:lstStyle>
            <a:lvl1pPr algn="r" rtl="0">
              <a:defRPr sz="1000" b="0" i="0" spc="70" baseline="0">
                <a:solidFill>
                  <a:schemeClr val="tx1"/>
                </a:solidFill>
                <a:latin typeface="+mj-lt"/>
              </a:defRPr>
            </a:lvl1pPr>
          </a:lstStyle>
          <a:p>
            <a:fld id="{DACF1C67-0645-4F4D-919D-A9289D71D4E8}" type="datetime1">
              <a:rPr lang="en-US" smtClean="0"/>
              <a:t>5/29/2026</a:t>
            </a:fld>
            <a:endParaRPr lang="en-US"/>
          </a:p>
        </p:txBody>
      </p:sp>
      <p:sp>
        <p:nvSpPr>
          <p:cNvPr id="6" name="Slide Number Placeholder 5">
            <a:extLst>
              <a:ext uri="{FF2B5EF4-FFF2-40B4-BE49-F238E27FC236}">
                <a16:creationId xmlns:a16="http://schemas.microsoft.com/office/drawing/2014/main" id="{CE3429A1-1A28-E680-45E7-AB46B4A178BB}"/>
              </a:ext>
            </a:extLst>
          </p:cNvPr>
          <p:cNvSpPr>
            <a:spLocks noGrp="1"/>
          </p:cNvSpPr>
          <p:nvPr>
            <p:ph type="sldNum" sz="quarter" idx="4"/>
          </p:nvPr>
        </p:nvSpPr>
        <p:spPr>
          <a:xfrm>
            <a:off x="10614988" y="0"/>
            <a:ext cx="386389" cy="621671"/>
          </a:xfrm>
          <a:prstGeom prst="rect">
            <a:avLst/>
          </a:prstGeom>
        </p:spPr>
        <p:txBody>
          <a:bodyPr vert="horz" lIns="0" tIns="45720" rIns="0" bIns="45720" rtlCol="0" anchor="ctr"/>
          <a:lstStyle>
            <a:lvl1pPr algn="r" rtl="0">
              <a:defRPr sz="1000" b="0" i="0" spc="70" baseline="0">
                <a:solidFill>
                  <a:schemeClr val="tx1"/>
                </a:solidFill>
                <a:latin typeface="+mj-lt"/>
              </a:defRPr>
            </a:lvl1pPr>
          </a:lstStyle>
          <a:p>
            <a:fld id="{24D65F33-A771-944D-9289-CA575F1D1B7F}" type="slidenum">
              <a:rPr lang="en-US" smtClean="0"/>
              <a:pPr/>
              <a:t>‹#›</a:t>
            </a:fld>
            <a:endParaRPr lang="en-US"/>
          </a:p>
        </p:txBody>
      </p:sp>
      <p:sp>
        <p:nvSpPr>
          <p:cNvPr id="3" name="Text Placeholder 2">
            <a:extLst>
              <a:ext uri="{FF2B5EF4-FFF2-40B4-BE49-F238E27FC236}">
                <a16:creationId xmlns:a16="http://schemas.microsoft.com/office/drawing/2014/main" id="{765F6F4B-8C5B-4B93-078F-F1D83797DC7B}"/>
              </a:ext>
            </a:extLst>
          </p:cNvPr>
          <p:cNvSpPr>
            <a:spLocks noGrp="1"/>
          </p:cNvSpPr>
          <p:nvPr>
            <p:ph type="body" idx="1"/>
          </p:nvPr>
        </p:nvSpPr>
        <p:spPr>
          <a:xfrm>
            <a:off x="1577004" y="2509519"/>
            <a:ext cx="9424373" cy="37134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040522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l" defTabSz="914400" rtl="0" eaLnBrk="1" latinLnBrk="0" hangingPunct="1">
        <a:lnSpc>
          <a:spcPct val="90000"/>
        </a:lnSpc>
        <a:spcBef>
          <a:spcPct val="0"/>
        </a:spcBef>
        <a:buNone/>
        <a:defRPr sz="3200" b="1" i="0" kern="1200" spc="-70" baseline="0">
          <a:solidFill>
            <a:schemeClr val="tx1"/>
          </a:solidFill>
          <a:latin typeface="+mj-lt"/>
          <a:ea typeface="+mj-ea"/>
          <a:cs typeface="+mj-cs"/>
        </a:defRPr>
      </a:lvl1pPr>
    </p:titleStyle>
    <p:bodyStyle>
      <a:lvl1pPr marL="0" indent="0" algn="l" defTabSz="914400" rtl="0" eaLnBrk="1" latinLnBrk="0" hangingPunct="1">
        <a:lnSpc>
          <a:spcPct val="125000"/>
        </a:lnSpc>
        <a:spcBef>
          <a:spcPts val="1000"/>
        </a:spcBef>
        <a:buFont typeface="Arial" panose="020B0604020202020204" pitchFamily="34" charset="0"/>
        <a:buNone/>
        <a:defRPr sz="1200" b="0" i="0" kern="1200">
          <a:solidFill>
            <a:schemeClr val="tx1"/>
          </a:solidFill>
          <a:latin typeface="+mn-lt"/>
          <a:ea typeface="+mn-ea"/>
          <a:cs typeface="+mn-cs"/>
        </a:defRPr>
      </a:lvl1pPr>
      <a:lvl2pPr marL="457200" indent="0" algn="l" defTabSz="914400" rtl="0" eaLnBrk="1" latinLnBrk="0" hangingPunct="1">
        <a:lnSpc>
          <a:spcPct val="125000"/>
        </a:lnSpc>
        <a:spcBef>
          <a:spcPts val="500"/>
        </a:spcBef>
        <a:buFont typeface="Arial" panose="020B0604020202020204" pitchFamily="34" charset="0"/>
        <a:buNone/>
        <a:defRPr sz="1200" b="0" i="0" kern="1200">
          <a:solidFill>
            <a:schemeClr val="tx1"/>
          </a:solidFill>
          <a:latin typeface="+mn-lt"/>
          <a:ea typeface="+mn-ea"/>
          <a:cs typeface="+mn-cs"/>
        </a:defRPr>
      </a:lvl2pPr>
      <a:lvl3pPr marL="914400" indent="0" algn="l" defTabSz="914400" rtl="0" eaLnBrk="1" latinLnBrk="0" hangingPunct="1">
        <a:lnSpc>
          <a:spcPct val="125000"/>
        </a:lnSpc>
        <a:spcBef>
          <a:spcPts val="500"/>
        </a:spcBef>
        <a:buFont typeface="Arial" panose="020B0604020202020204" pitchFamily="34" charset="0"/>
        <a:buNone/>
        <a:defRPr sz="1200" b="0" i="0" kern="1200">
          <a:solidFill>
            <a:schemeClr val="tx1"/>
          </a:solidFill>
          <a:latin typeface="+mn-lt"/>
          <a:ea typeface="+mn-ea"/>
          <a:cs typeface="+mn-cs"/>
        </a:defRPr>
      </a:lvl3pPr>
      <a:lvl4pPr marL="1371600" indent="0" algn="l" defTabSz="914400" rtl="0" eaLnBrk="1" latinLnBrk="0" hangingPunct="1">
        <a:lnSpc>
          <a:spcPct val="125000"/>
        </a:lnSpc>
        <a:spcBef>
          <a:spcPts val="500"/>
        </a:spcBef>
        <a:buFont typeface="Arial" panose="020B0604020202020204" pitchFamily="34" charset="0"/>
        <a:buNone/>
        <a:defRPr sz="1200" b="0" i="0" kern="1200">
          <a:solidFill>
            <a:schemeClr val="tx1"/>
          </a:solidFill>
          <a:latin typeface="+mn-lt"/>
          <a:ea typeface="+mn-ea"/>
          <a:cs typeface="+mn-cs"/>
        </a:defRPr>
      </a:lvl4pPr>
      <a:lvl5pPr marL="1828800" indent="0" algn="l" defTabSz="914400" rtl="0" eaLnBrk="1" latinLnBrk="0" hangingPunct="1">
        <a:lnSpc>
          <a:spcPct val="125000"/>
        </a:lnSpc>
        <a:spcBef>
          <a:spcPts val="500"/>
        </a:spcBef>
        <a:buFont typeface="Arial" panose="020B0604020202020204" pitchFamily="34" charset="0"/>
        <a:buNone/>
        <a:defRPr sz="12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bibliotecaepb.blogspot.com/2020/02/celebracions-do-dia-da-paz.html" TargetMode="External"/><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hyperlink" Target="https://www.oajaiml.com/archive/knocking-the-future-unraveling-the-role-of-guests-experience-using-chatbot-on-their-acceptance-and-intention-to-visit-saudi-arabian-hotels"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hyperlink" Target="https://thenationonlineng.net/tech-can-help-women-lawyers-excel-says-nba-women-forum/" TargetMode="External"/><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thenationonlineng.net/tech-can-help-women-lawyers-excel-says-nba-women-forum/" TargetMode="External"/><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thenationonlineng.net/tech-can-help-women-lawyers-excel-says-nba-women-forum/" TargetMode="External"/><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pxhere.com/en/photo/1248612" TargetMode="External"/><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pxhere.com/en/photo/1248612" TargetMode="External"/><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pxhere.com/en/photo/1248612" TargetMode="External"/><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pxhere.com/en/photo/1248612" TargetMode="External"/><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pxhere.com/en/photo/1248612" TargetMode="External"/><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pxhere.com/en/photo/1248612" TargetMode="External"/><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pxhere.com/en/photo/1248612" TargetMode="External"/><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pxhere.com/en/photo/1248612" TargetMode="External"/><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pxhere.com/en/photo/1248612" TargetMode="External"/><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pxhere.com/en/photo/1248612" TargetMode="External"/><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pxhere.com/en/photo/1248612" TargetMode="External"/><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pxhere.com/en/photo/1248612" TargetMode="External"/><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pxhere.com/en/photo/1248612" TargetMode="External"/><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pxhere.com/en/photo/1248612" TargetMode="External"/><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pxhere.com/en/photo/1248612" TargetMode="External"/><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pxhere.com/en/photo/1248612" TargetMode="External"/><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pxhere.com/en/photo/1248612" TargetMode="External"/><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pxhere.com/en/photo/1248612" TargetMode="External"/><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pxhere.com/en/photo/1248612" TargetMode="External"/><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pxhere.com/en/photo/1248612" TargetMode="External"/><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pxhere.com/en/photo/1248612" TargetMode="External"/><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pxhere.com/en/photo/1248612" TargetMode="External"/><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pxhere.com/en/photo/1248612" TargetMode="External"/><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pxhere.com/en/photo/1248612" TargetMode="External"/><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C0A1ED06-4733-4020-9C60-81D4D8014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0CA3509-3AF9-45FE-93ED-57BB5D5E8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7388" y="181576"/>
            <a:ext cx="11823637" cy="650108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Placeholder 7" descr="A mirror with red balls">
            <a:extLst>
              <a:ext uri="{FF2B5EF4-FFF2-40B4-BE49-F238E27FC236}">
                <a16:creationId xmlns:a16="http://schemas.microsoft.com/office/drawing/2014/main" id="{A7B547AE-0ED1-F708-2948-7882FF343C58}"/>
              </a:ext>
            </a:extLst>
          </p:cNvPr>
          <p:cNvPicPr>
            <a:picLocks noGrp="1" noChangeAspect="1"/>
          </p:cNvPicPr>
          <p:nvPr>
            <p:ph type="pic" sz="quarter" idx="13"/>
          </p:nvPr>
        </p:nvPicPr>
        <p:blipFill>
          <a:blip r:embed="rId2">
            <a:alphaModFix amt="60000"/>
          </a:blip>
          <a:srcRect t="12647" b="4996"/>
          <a:stretch>
            <a:fillRect/>
          </a:stretch>
        </p:blipFill>
        <p:spPr>
          <a:xfrm>
            <a:off x="180975" y="182880"/>
            <a:ext cx="11823637" cy="6499784"/>
          </a:xfrm>
          <a:prstGeom prst="rect">
            <a:avLst/>
          </a:prstGeom>
        </p:spPr>
      </p:pic>
      <p:sp>
        <p:nvSpPr>
          <p:cNvPr id="4" name="Title 3">
            <a:extLst>
              <a:ext uri="{FF2B5EF4-FFF2-40B4-BE49-F238E27FC236}">
                <a16:creationId xmlns:a16="http://schemas.microsoft.com/office/drawing/2014/main" id="{1E95B946-FDBA-2944-A2C5-31ACC880C419}"/>
              </a:ext>
            </a:extLst>
          </p:cNvPr>
          <p:cNvSpPr>
            <a:spLocks noGrp="1"/>
          </p:cNvSpPr>
          <p:nvPr>
            <p:ph type="ctrTitle"/>
          </p:nvPr>
        </p:nvSpPr>
        <p:spPr>
          <a:xfrm>
            <a:off x="838200" y="525195"/>
            <a:ext cx="10165218" cy="2806506"/>
          </a:xfrm>
        </p:spPr>
        <p:txBody>
          <a:bodyPr vert="horz" lIns="91440" tIns="45720" rIns="91440" bIns="45720" rtlCol="0" anchor="b">
            <a:normAutofit/>
          </a:bodyPr>
          <a:lstStyle/>
          <a:p>
            <a:r>
              <a:rPr lang="en-US" sz="4000">
                <a:solidFill>
                  <a:srgbClr val="FFFFFF"/>
                </a:solidFill>
              </a:rPr>
              <a:t>Maya CyberSecurity Awareness Bot</a:t>
            </a:r>
          </a:p>
        </p:txBody>
      </p:sp>
      <p:sp>
        <p:nvSpPr>
          <p:cNvPr id="5" name="Subtitle 4">
            <a:extLst>
              <a:ext uri="{FF2B5EF4-FFF2-40B4-BE49-F238E27FC236}">
                <a16:creationId xmlns:a16="http://schemas.microsoft.com/office/drawing/2014/main" id="{40FB8F73-C8DC-961E-E0C4-B8A4B74C9D96}"/>
              </a:ext>
            </a:extLst>
          </p:cNvPr>
          <p:cNvSpPr>
            <a:spLocks noGrp="1"/>
          </p:cNvSpPr>
          <p:nvPr>
            <p:ph type="subTitle" idx="4294967295"/>
          </p:nvPr>
        </p:nvSpPr>
        <p:spPr>
          <a:xfrm>
            <a:off x="838200" y="3526300"/>
            <a:ext cx="10165218" cy="2588458"/>
          </a:xfrm>
        </p:spPr>
        <p:txBody>
          <a:bodyPr vert="horz" lIns="91440" tIns="45720" rIns="91440" bIns="45720" rtlCol="0" anchor="t">
            <a:normAutofit lnSpcReduction="10000"/>
          </a:bodyPr>
          <a:lstStyle/>
          <a:p>
            <a:pPr>
              <a:lnSpc>
                <a:spcPct val="90000"/>
              </a:lnSpc>
            </a:pPr>
            <a:r>
              <a:rPr lang="en-US" sz="2000" b="1" dirty="0">
                <a:solidFill>
                  <a:srgbClr val="FF0000"/>
                </a:solidFill>
              </a:rPr>
              <a:t>Protecting South African Digital Citizens</a:t>
            </a:r>
            <a:endParaRPr lang="en-US" b="1" dirty="0">
              <a:solidFill>
                <a:srgbClr val="FF0000"/>
              </a:solidFill>
            </a:endParaRPr>
          </a:p>
          <a:p>
            <a:pPr>
              <a:lnSpc>
                <a:spcPct val="90000"/>
              </a:lnSpc>
            </a:pPr>
            <a:r>
              <a:rPr lang="en-US" sz="2000" dirty="0">
                <a:solidFill>
                  <a:srgbClr val="FFFFFF"/>
                </a:solidFill>
              </a:rPr>
              <a:t> </a:t>
            </a:r>
            <a:br>
              <a:rPr lang="en-US" sz="2000" dirty="0"/>
            </a:br>
            <a:r>
              <a:rPr lang="en-US" sz="2000" b="1" dirty="0">
                <a:solidFill>
                  <a:srgbClr val="FFFFFF"/>
                </a:solidFill>
              </a:rPr>
              <a:t>Student Name</a:t>
            </a:r>
            <a:r>
              <a:rPr lang="en-US" sz="2000" dirty="0">
                <a:solidFill>
                  <a:srgbClr val="FFFFFF"/>
                </a:solidFill>
              </a:rPr>
              <a:t> :Moyagabo </a:t>
            </a:r>
            <a:r>
              <a:rPr lang="en-US" sz="2000" dirty="0" err="1">
                <a:solidFill>
                  <a:srgbClr val="FFFFFF"/>
                </a:solidFill>
              </a:rPr>
              <a:t>Kebogile</a:t>
            </a:r>
            <a:r>
              <a:rPr lang="en-US" sz="2000" dirty="0">
                <a:solidFill>
                  <a:srgbClr val="FFFFFF"/>
                </a:solidFill>
              </a:rPr>
              <a:t> Raphasha</a:t>
            </a:r>
          </a:p>
          <a:p>
            <a:pPr>
              <a:lnSpc>
                <a:spcPct val="90000"/>
              </a:lnSpc>
            </a:pPr>
            <a:r>
              <a:rPr lang="en-US" sz="2000" b="1" dirty="0">
                <a:solidFill>
                  <a:srgbClr val="FFFFFF"/>
                </a:solidFill>
              </a:rPr>
              <a:t>Student Number </a:t>
            </a:r>
            <a:r>
              <a:rPr lang="en-US" sz="2000" dirty="0">
                <a:solidFill>
                  <a:srgbClr val="FFFFFF"/>
                </a:solidFill>
              </a:rPr>
              <a:t>: st10471918</a:t>
            </a:r>
          </a:p>
          <a:p>
            <a:pPr>
              <a:lnSpc>
                <a:spcPct val="90000"/>
              </a:lnSpc>
            </a:pPr>
            <a:r>
              <a:rPr lang="en-US" sz="2000" b="1" dirty="0" err="1">
                <a:solidFill>
                  <a:srgbClr val="FFFFFF"/>
                </a:solidFill>
              </a:rPr>
              <a:t>Module:</a:t>
            </a:r>
            <a:r>
              <a:rPr lang="en-US" sz="2000" dirty="0" err="1">
                <a:solidFill>
                  <a:srgbClr val="FFFFFF"/>
                </a:solidFill>
              </a:rPr>
              <a:t>Programming</a:t>
            </a:r>
            <a:r>
              <a:rPr lang="en-US" sz="2000" dirty="0">
                <a:solidFill>
                  <a:srgbClr val="FFFFFF"/>
                </a:solidFill>
              </a:rPr>
              <a:t> 2A – PROG6221</a:t>
            </a:r>
          </a:p>
          <a:p>
            <a:pPr>
              <a:lnSpc>
                <a:spcPct val="90000"/>
              </a:lnSpc>
            </a:pPr>
            <a:r>
              <a:rPr lang="en-US" sz="2000" b="1" dirty="0">
                <a:solidFill>
                  <a:srgbClr val="FFFFFF"/>
                </a:solidFill>
              </a:rPr>
              <a:t>Institution</a:t>
            </a:r>
            <a:r>
              <a:rPr lang="en-US" sz="2000" dirty="0">
                <a:solidFill>
                  <a:srgbClr val="FFFFFF"/>
                </a:solidFill>
              </a:rPr>
              <a:t> : Rosebank Collage IIE</a:t>
            </a:r>
          </a:p>
          <a:p>
            <a:pPr>
              <a:lnSpc>
                <a:spcPct val="90000"/>
              </a:lnSpc>
            </a:pPr>
            <a:r>
              <a:rPr lang="en-US" sz="2000" b="1" i="1" u="sng" dirty="0">
                <a:solidFill>
                  <a:srgbClr val="FF0000"/>
                </a:solidFill>
              </a:rPr>
              <a:t>Part 2 –ENHANCED CHATBOT</a:t>
            </a:r>
          </a:p>
        </p:txBody>
      </p:sp>
    </p:spTree>
    <p:extLst>
      <p:ext uri="{BB962C8B-B14F-4D97-AF65-F5344CB8AC3E}">
        <p14:creationId xmlns:p14="http://schemas.microsoft.com/office/powerpoint/2010/main" val="18134127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D6296-0131-EEEC-2864-91F54947905D}"/>
              </a:ext>
            </a:extLst>
          </p:cNvPr>
          <p:cNvSpPr>
            <a:spLocks noGrp="1"/>
          </p:cNvSpPr>
          <p:nvPr>
            <p:ph type="title"/>
          </p:nvPr>
        </p:nvSpPr>
        <p:spPr>
          <a:xfrm>
            <a:off x="6843094" y="1000757"/>
            <a:ext cx="4158284" cy="2614293"/>
          </a:xfrm>
        </p:spPr>
        <p:txBody>
          <a:bodyPr/>
          <a:lstStyle/>
          <a:p>
            <a:r>
              <a:rPr lang="en-US" dirty="0">
                <a:solidFill>
                  <a:schemeClr val="bg1"/>
                </a:solidFill>
              </a:rPr>
              <a:t>Project Background</a:t>
            </a:r>
          </a:p>
        </p:txBody>
      </p:sp>
      <p:pic>
        <p:nvPicPr>
          <p:cNvPr id="8" name="Picture Placeholder 7" descr="A blue and white gears with icons&#10;&#10;AI-generated content may be incorrect.">
            <a:extLst>
              <a:ext uri="{FF2B5EF4-FFF2-40B4-BE49-F238E27FC236}">
                <a16:creationId xmlns:a16="http://schemas.microsoft.com/office/drawing/2014/main" id="{A1566ADA-39C0-2F26-A0B9-140D7A5DFD28}"/>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l="28064" r="28064"/>
          <a:stretch/>
        </p:blipFill>
        <p:spPr>
          <a:xfrm>
            <a:off x="0" y="0"/>
            <a:ext cx="5348904" cy="6858000"/>
          </a:xfrm>
        </p:spPr>
      </p:pic>
      <p:sp>
        <p:nvSpPr>
          <p:cNvPr id="4" name="Footer Placeholder 3">
            <a:extLst>
              <a:ext uri="{FF2B5EF4-FFF2-40B4-BE49-F238E27FC236}">
                <a16:creationId xmlns:a16="http://schemas.microsoft.com/office/drawing/2014/main" id="{1BDC815C-4270-36F8-D592-247DFDB5164B}"/>
              </a:ext>
            </a:extLst>
          </p:cNvPr>
          <p:cNvSpPr>
            <a:spLocks noGrp="1"/>
          </p:cNvSpPr>
          <p:nvPr>
            <p:ph type="ftr" sz="quarter" idx="16"/>
          </p:nvPr>
        </p:nvSpPr>
        <p:spPr>
          <a:xfrm>
            <a:off x="6933234" y="13328"/>
            <a:ext cx="4720285" cy="621671"/>
          </a:xfrm>
        </p:spPr>
        <p:txBody>
          <a:bodyPr/>
          <a:lstStyle/>
          <a:p>
            <a:r>
              <a:rPr lang="en-US" sz="3200" b="1" dirty="0">
                <a:solidFill>
                  <a:schemeClr val="bg1"/>
                </a:solidFill>
              </a:rPr>
              <a:t>Project Overview</a:t>
            </a:r>
            <a:endParaRPr lang="en-US" sz="3200" b="1" dirty="0"/>
          </a:p>
        </p:txBody>
      </p:sp>
      <p:sp>
        <p:nvSpPr>
          <p:cNvPr id="6" name="Slide Number Placeholder 5">
            <a:extLst>
              <a:ext uri="{FF2B5EF4-FFF2-40B4-BE49-F238E27FC236}">
                <a16:creationId xmlns:a16="http://schemas.microsoft.com/office/drawing/2014/main" id="{4399782E-5A80-09BF-00C3-B893C48865A9}"/>
              </a:ext>
            </a:extLst>
          </p:cNvPr>
          <p:cNvSpPr>
            <a:spLocks noGrp="1"/>
          </p:cNvSpPr>
          <p:nvPr>
            <p:ph type="sldNum" sz="quarter" idx="17"/>
          </p:nvPr>
        </p:nvSpPr>
        <p:spPr>
          <a:xfrm>
            <a:off x="10614988" y="0"/>
            <a:ext cx="386389" cy="621671"/>
          </a:xfrm>
        </p:spPr>
        <p:txBody>
          <a:bodyPr/>
          <a:lstStyle/>
          <a:p>
            <a:fld id="{24D65F33-A771-944D-9289-CA575F1D1B7F}" type="slidenum">
              <a:rPr lang="en-US" smtClean="0"/>
              <a:pPr/>
              <a:t>2</a:t>
            </a:fld>
            <a:endParaRPr lang="en-US"/>
          </a:p>
        </p:txBody>
      </p:sp>
      <p:sp>
        <p:nvSpPr>
          <p:cNvPr id="14" name="Text Placeholder 13">
            <a:extLst>
              <a:ext uri="{FF2B5EF4-FFF2-40B4-BE49-F238E27FC236}">
                <a16:creationId xmlns:a16="http://schemas.microsoft.com/office/drawing/2014/main" id="{BCBC7432-5599-31A6-2FDA-FB1C4981A45B}"/>
              </a:ext>
            </a:extLst>
          </p:cNvPr>
          <p:cNvSpPr>
            <a:spLocks noGrp="1"/>
          </p:cNvSpPr>
          <p:nvPr>
            <p:ph type="body" sz="quarter" idx="18"/>
          </p:nvPr>
        </p:nvSpPr>
        <p:spPr>
          <a:xfrm>
            <a:off x="7224713" y="3981450"/>
            <a:ext cx="3776662" cy="2241550"/>
          </a:xfrm>
        </p:spPr>
        <p:txBody>
          <a:bodyPr/>
          <a:lstStyle/>
          <a:p>
            <a:r>
              <a:rPr lang="en-US" dirty="0">
                <a:solidFill>
                  <a:schemeClr val="bg1"/>
                </a:solidFill>
                <a:ea typeface="+mn-lt"/>
                <a:cs typeface="+mn-lt"/>
              </a:rPr>
              <a:t>The Problem South Africa has seen a significant rise in cyberattacks targeting individuals, businesses, and government institutions — including phishing, malware, and social engineering. The Goal The Department of Cybersecurity launched a campaign to educate citizens. Maya was built to support this by simulating real-life cyber threat scenarios conversationally..</a:t>
            </a:r>
          </a:p>
          <a:p>
            <a:endParaRPr lang="en-US" dirty="0">
              <a:solidFill>
                <a:schemeClr val="bg1"/>
              </a:solidFill>
            </a:endParaRPr>
          </a:p>
        </p:txBody>
      </p:sp>
      <p:sp>
        <p:nvSpPr>
          <p:cNvPr id="3" name="TextBox 2">
            <a:extLst>
              <a:ext uri="{FF2B5EF4-FFF2-40B4-BE49-F238E27FC236}">
                <a16:creationId xmlns:a16="http://schemas.microsoft.com/office/drawing/2014/main" id="{7185C951-737C-4CAB-18A3-30B1726A7E72}"/>
              </a:ext>
            </a:extLst>
          </p:cNvPr>
          <p:cNvSpPr txBox="1"/>
          <p:nvPr/>
        </p:nvSpPr>
        <p:spPr>
          <a:xfrm>
            <a:off x="0" y="6858000"/>
            <a:ext cx="5348288" cy="317500"/>
          </a:xfrm>
          <a:prstGeom prst="rect">
            <a:avLst/>
          </a:prstGeom>
        </p:spPr>
        <p:txBody>
          <a:bodyPr>
            <a:normAutofit fontScale="85000" lnSpcReduction="10000"/>
          </a:bodyPr>
          <a:lstStyle/>
          <a:p>
            <a:r>
              <a:rPr lang="en-US"/>
              <a:t>ThePhoto by PhotoAuthor is licensed under CCYYSA.</a:t>
            </a:r>
          </a:p>
        </p:txBody>
      </p:sp>
      <p:sp>
        <p:nvSpPr>
          <p:cNvPr id="5" name="Text Placeholder 13">
            <a:extLst>
              <a:ext uri="{FF2B5EF4-FFF2-40B4-BE49-F238E27FC236}">
                <a16:creationId xmlns:a16="http://schemas.microsoft.com/office/drawing/2014/main" id="{380C041A-5E6F-2E57-8027-636B4F87FA5D}"/>
              </a:ext>
            </a:extLst>
          </p:cNvPr>
          <p:cNvSpPr txBox="1">
            <a:spLocks/>
          </p:cNvSpPr>
          <p:nvPr/>
        </p:nvSpPr>
        <p:spPr>
          <a:xfrm>
            <a:off x="7122493" y="987429"/>
            <a:ext cx="3776662" cy="224155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0"/>
              </a:spcBef>
              <a:spcAft>
                <a:spcPts val="600"/>
              </a:spcAft>
              <a:buFont typeface="Arial" panose="020B0604020202020204" pitchFamily="34" charset="0"/>
              <a:buChar char="•"/>
              <a:defRPr sz="1200" b="0" i="0" kern="1200">
                <a:solidFill>
                  <a:schemeClr val="tx1"/>
                </a:solidFill>
                <a:latin typeface="+mn-lt"/>
                <a:ea typeface="+mn-ea"/>
                <a:cs typeface="+mn-cs"/>
              </a:defRPr>
            </a:lvl1pPr>
            <a:lvl2pPr marL="457200" indent="0" algn="l" defTabSz="914400" rtl="0" eaLnBrk="1" latinLnBrk="0" hangingPunct="1">
              <a:lnSpc>
                <a:spcPct val="125000"/>
              </a:lnSpc>
              <a:spcBef>
                <a:spcPts val="500"/>
              </a:spcBef>
              <a:buFont typeface="Arial" panose="020B0604020202020204" pitchFamily="34" charset="0"/>
              <a:buNone/>
              <a:defRPr sz="1200" b="0" i="0" kern="1200">
                <a:solidFill>
                  <a:schemeClr val="tx1"/>
                </a:solidFill>
                <a:latin typeface="+mn-lt"/>
                <a:ea typeface="+mn-ea"/>
                <a:cs typeface="+mn-cs"/>
              </a:defRPr>
            </a:lvl2pPr>
            <a:lvl3pPr marL="914400" indent="0" algn="l" defTabSz="914400" rtl="0" eaLnBrk="1" latinLnBrk="0" hangingPunct="1">
              <a:lnSpc>
                <a:spcPct val="125000"/>
              </a:lnSpc>
              <a:spcBef>
                <a:spcPts val="500"/>
              </a:spcBef>
              <a:buFont typeface="Arial" panose="020B0604020202020204" pitchFamily="34" charset="0"/>
              <a:buNone/>
              <a:defRPr sz="1200" b="0" i="0" kern="1200">
                <a:solidFill>
                  <a:schemeClr val="tx1"/>
                </a:solidFill>
                <a:latin typeface="+mn-lt"/>
                <a:ea typeface="+mn-ea"/>
                <a:cs typeface="+mn-cs"/>
              </a:defRPr>
            </a:lvl3pPr>
            <a:lvl4pPr marL="1371600" indent="0" algn="l" defTabSz="914400" rtl="0" eaLnBrk="1" latinLnBrk="0" hangingPunct="1">
              <a:lnSpc>
                <a:spcPct val="125000"/>
              </a:lnSpc>
              <a:spcBef>
                <a:spcPts val="500"/>
              </a:spcBef>
              <a:buFont typeface="Arial" panose="020B0604020202020204" pitchFamily="34" charset="0"/>
              <a:buNone/>
              <a:defRPr sz="1200" b="0" i="0" kern="1200">
                <a:solidFill>
                  <a:schemeClr val="tx1"/>
                </a:solidFill>
                <a:latin typeface="+mn-lt"/>
                <a:ea typeface="+mn-ea"/>
                <a:cs typeface="+mn-cs"/>
              </a:defRPr>
            </a:lvl4pPr>
            <a:lvl5pPr marL="1828800" indent="0" algn="l" defTabSz="914400" rtl="0" eaLnBrk="1" latinLnBrk="0" hangingPunct="1">
              <a:lnSpc>
                <a:spcPct val="125000"/>
              </a:lnSpc>
              <a:spcBef>
                <a:spcPts val="500"/>
              </a:spcBef>
              <a:buFont typeface="Arial" panose="020B0604020202020204" pitchFamily="34" charset="0"/>
              <a:buNone/>
              <a:defRPr sz="12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GB" b="1" dirty="0">
              <a:solidFill>
                <a:schemeClr val="bg1"/>
              </a:solidFill>
            </a:endParaRPr>
          </a:p>
          <a:p>
            <a:r>
              <a:rPr lang="en-GB" dirty="0">
                <a:solidFill>
                  <a:schemeClr val="bg1"/>
                </a:solidFill>
              </a:rPr>
              <a:t>The Maya Cybersecurity Bot is a C# WPF (Windows Presentation Foundation) desktop application. It simulates a cybersecurity assistant that teaches South African users about online safety. The project is split across 6 files, each with a specific responsibility: </a:t>
            </a:r>
            <a:r>
              <a:rPr lang="en-GB" dirty="0" err="1">
                <a:solidFill>
                  <a:schemeClr val="bg1"/>
                </a:solidFill>
              </a:rPr>
              <a:t>AsciiArt.cs</a:t>
            </a:r>
            <a:r>
              <a:rPr lang="en-GB" dirty="0">
                <a:solidFill>
                  <a:schemeClr val="bg1"/>
                </a:solidFill>
              </a:rPr>
              <a:t>, </a:t>
            </a:r>
            <a:r>
              <a:rPr lang="en-GB" dirty="0" err="1">
                <a:solidFill>
                  <a:schemeClr val="bg1"/>
                </a:solidFill>
              </a:rPr>
              <a:t>AudioPlayer.cs</a:t>
            </a:r>
            <a:r>
              <a:rPr lang="en-GB" dirty="0">
                <a:solidFill>
                  <a:schemeClr val="bg1"/>
                </a:solidFill>
              </a:rPr>
              <a:t>, </a:t>
            </a:r>
            <a:r>
              <a:rPr lang="en-GB" dirty="0" err="1">
                <a:solidFill>
                  <a:schemeClr val="bg1"/>
                </a:solidFill>
              </a:rPr>
              <a:t>ChatMessage.cs</a:t>
            </a:r>
            <a:r>
              <a:rPr lang="en-GB" dirty="0">
                <a:solidFill>
                  <a:schemeClr val="bg1"/>
                </a:solidFill>
              </a:rPr>
              <a:t>, </a:t>
            </a:r>
            <a:r>
              <a:rPr lang="en-GB" dirty="0" err="1">
                <a:solidFill>
                  <a:schemeClr val="bg1"/>
                </a:solidFill>
              </a:rPr>
              <a:t>ChatService.cs</a:t>
            </a:r>
            <a:r>
              <a:rPr lang="en-GB" dirty="0">
                <a:solidFill>
                  <a:schemeClr val="bg1"/>
                </a:solidFill>
              </a:rPr>
              <a:t>, </a:t>
            </a:r>
            <a:r>
              <a:rPr lang="en-GB" dirty="0" err="1">
                <a:solidFill>
                  <a:schemeClr val="bg1"/>
                </a:solidFill>
              </a:rPr>
              <a:t>MainWindow.xaml</a:t>
            </a:r>
            <a:r>
              <a:rPr lang="en-GB" dirty="0">
                <a:solidFill>
                  <a:schemeClr val="bg1"/>
                </a:solidFill>
              </a:rPr>
              <a:t>, and </a:t>
            </a:r>
            <a:r>
              <a:rPr lang="en-GB" dirty="0" err="1">
                <a:solidFill>
                  <a:schemeClr val="bg1"/>
                </a:solidFill>
              </a:rPr>
              <a:t>MainWindow.xaml.cs</a:t>
            </a:r>
            <a:r>
              <a:rPr lang="en-GB" dirty="0">
                <a:solidFill>
                  <a:schemeClr val="bg1"/>
                </a:solidFill>
              </a:rPr>
              <a:t>. They all live inside the namespace MayaCyberSecurityBot2.</a:t>
            </a:r>
          </a:p>
          <a:p>
            <a:pPr marL="0" indent="0">
              <a:buNone/>
            </a:pPr>
            <a:endParaRPr lang="en-US" dirty="0">
              <a:solidFill>
                <a:schemeClr val="bg1"/>
              </a:solidFill>
            </a:endParaRPr>
          </a:p>
        </p:txBody>
      </p:sp>
    </p:spTree>
    <p:extLst>
      <p:ext uri="{BB962C8B-B14F-4D97-AF65-F5344CB8AC3E}">
        <p14:creationId xmlns:p14="http://schemas.microsoft.com/office/powerpoint/2010/main" val="13079328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308BA-459D-301F-8B39-EB14A0A87376}"/>
              </a:ext>
            </a:extLst>
          </p:cNvPr>
          <p:cNvSpPr>
            <a:spLocks noGrp="1"/>
          </p:cNvSpPr>
          <p:nvPr>
            <p:ph type="title"/>
          </p:nvPr>
        </p:nvSpPr>
        <p:spPr>
          <a:xfrm>
            <a:off x="1576841" y="-1087868"/>
            <a:ext cx="4158283" cy="2623192"/>
          </a:xfrm>
        </p:spPr>
        <p:txBody>
          <a:bodyPr/>
          <a:lstStyle/>
          <a:p>
            <a:r>
              <a:rPr lang="en-US" dirty="0" err="1"/>
              <a:t>AsciiArt.cs</a:t>
            </a:r>
            <a:endParaRPr lang="en-US" dirty="0"/>
          </a:p>
        </p:txBody>
      </p:sp>
      <p:sp>
        <p:nvSpPr>
          <p:cNvPr id="3" name="Footer Placeholder 2">
            <a:extLst>
              <a:ext uri="{FF2B5EF4-FFF2-40B4-BE49-F238E27FC236}">
                <a16:creationId xmlns:a16="http://schemas.microsoft.com/office/drawing/2014/main" id="{6D3DE70F-A185-A9B6-3432-0796155E29D0}"/>
              </a:ext>
            </a:extLst>
          </p:cNvPr>
          <p:cNvSpPr>
            <a:spLocks noGrp="1"/>
          </p:cNvSpPr>
          <p:nvPr>
            <p:ph type="ftr" sz="quarter" idx="16"/>
          </p:nvPr>
        </p:nvSpPr>
        <p:spPr>
          <a:xfrm>
            <a:off x="1190622" y="13328"/>
            <a:ext cx="7924804" cy="621671"/>
          </a:xfrm>
        </p:spPr>
        <p:txBody>
          <a:bodyPr/>
          <a:lstStyle/>
          <a:p>
            <a:r>
              <a:rPr lang="en-US"/>
              <a:t>Moyagabo Raphasha</a:t>
            </a:r>
          </a:p>
        </p:txBody>
      </p:sp>
      <p:sp>
        <p:nvSpPr>
          <p:cNvPr id="5" name="Slide Number Placeholder 4">
            <a:extLst>
              <a:ext uri="{FF2B5EF4-FFF2-40B4-BE49-F238E27FC236}">
                <a16:creationId xmlns:a16="http://schemas.microsoft.com/office/drawing/2014/main" id="{483A1409-5DE6-8F7A-F5C5-BB9F4D1C1AC0}"/>
              </a:ext>
            </a:extLst>
          </p:cNvPr>
          <p:cNvSpPr>
            <a:spLocks noGrp="1"/>
          </p:cNvSpPr>
          <p:nvPr>
            <p:ph type="sldNum" sz="quarter" idx="17"/>
          </p:nvPr>
        </p:nvSpPr>
        <p:spPr>
          <a:xfrm>
            <a:off x="10614988" y="0"/>
            <a:ext cx="386389" cy="621671"/>
          </a:xfrm>
        </p:spPr>
        <p:txBody>
          <a:bodyPr/>
          <a:lstStyle/>
          <a:p>
            <a:fld id="{24D65F33-A771-944D-9289-CA575F1D1B7F}" type="slidenum">
              <a:rPr lang="en-US" smtClean="0"/>
              <a:pPr/>
              <a:t>3</a:t>
            </a:fld>
            <a:endParaRPr lang="en-US"/>
          </a:p>
        </p:txBody>
      </p:sp>
      <p:sp>
        <p:nvSpPr>
          <p:cNvPr id="14" name="Text Placeholder 13">
            <a:extLst>
              <a:ext uri="{FF2B5EF4-FFF2-40B4-BE49-F238E27FC236}">
                <a16:creationId xmlns:a16="http://schemas.microsoft.com/office/drawing/2014/main" id="{AA674B4E-E934-FC53-3B0B-CFD37AD59B00}"/>
              </a:ext>
            </a:extLst>
          </p:cNvPr>
          <p:cNvSpPr>
            <a:spLocks noGrp="1"/>
          </p:cNvSpPr>
          <p:nvPr>
            <p:ph type="body" sz="quarter" idx="18"/>
          </p:nvPr>
        </p:nvSpPr>
        <p:spPr>
          <a:xfrm>
            <a:off x="1023155" y="1535325"/>
            <a:ext cx="5701736" cy="5085394"/>
          </a:xfrm>
        </p:spPr>
        <p:txBody>
          <a:bodyPr>
            <a:normAutofit fontScale="47500" lnSpcReduction="20000"/>
          </a:bodyPr>
          <a:lstStyle/>
          <a:p>
            <a:r>
              <a:rPr lang="en-GB" b="1" dirty="0"/>
              <a:t>What it is</a:t>
            </a:r>
          </a:p>
          <a:p>
            <a:r>
              <a:rPr lang="en-GB" dirty="0"/>
              <a:t>A static utility class that handles the visual logo of the bot. Because it is marked static, you never need to create an instance of </a:t>
            </a:r>
            <a:r>
              <a:rPr lang="en-GB" dirty="0" err="1"/>
              <a:t>AsciiArt</a:t>
            </a:r>
            <a:r>
              <a:rPr lang="en-GB" dirty="0"/>
              <a:t> to use it — you just call its methods directly.</a:t>
            </a:r>
          </a:p>
          <a:p>
            <a:r>
              <a:rPr lang="en-GB" b="1" dirty="0"/>
              <a:t>Method 1 — </a:t>
            </a:r>
            <a:r>
              <a:rPr lang="en-GB" b="1" dirty="0" err="1"/>
              <a:t>GetLogoForGui</a:t>
            </a:r>
            <a:r>
              <a:rPr lang="en-GB" b="1" dirty="0"/>
              <a:t>()</a:t>
            </a:r>
          </a:p>
          <a:p>
            <a:r>
              <a:rPr lang="en-GB" b="1" dirty="0"/>
              <a:t>Signature:</a:t>
            </a:r>
            <a:r>
              <a:rPr lang="en-GB" dirty="0"/>
              <a:t> public static string </a:t>
            </a:r>
            <a:r>
              <a:rPr lang="en-GB" dirty="0" err="1"/>
              <a:t>GetLogoForGui</a:t>
            </a:r>
            <a:r>
              <a:rPr lang="en-GB" dirty="0"/>
              <a:t>()</a:t>
            </a:r>
          </a:p>
          <a:p>
            <a:r>
              <a:rPr lang="en-GB" b="1" dirty="0"/>
              <a:t>What it does:</a:t>
            </a:r>
            <a:r>
              <a:rPr lang="en-GB" dirty="0"/>
              <a:t> Returns the bot's ASCII art logo as a single string. This string is then displayed in the WPF window at the top of the screen.</a:t>
            </a:r>
          </a:p>
          <a:p>
            <a:r>
              <a:rPr lang="en-GB" b="1" dirty="0"/>
              <a:t>Segment breakdown:</a:t>
            </a:r>
            <a:endParaRPr lang="en-GB" dirty="0"/>
          </a:p>
          <a:p>
            <a:r>
              <a:rPr lang="en-GB" dirty="0"/>
              <a:t>public static — Static means it belongs to the class itself, not to any object. You call it as </a:t>
            </a:r>
            <a:r>
              <a:rPr lang="en-GB" dirty="0" err="1"/>
              <a:t>AsciiArt.GetLogoForGui</a:t>
            </a:r>
            <a:r>
              <a:rPr lang="en-GB" dirty="0"/>
              <a:t>(), never as new </a:t>
            </a:r>
            <a:r>
              <a:rPr lang="en-GB" dirty="0" err="1"/>
              <a:t>AsciiArt</a:t>
            </a:r>
            <a:r>
              <a:rPr lang="en-GB" dirty="0"/>
              <a:t>().</a:t>
            </a:r>
            <a:r>
              <a:rPr lang="en-GB" dirty="0" err="1"/>
              <a:t>GetLogoForGui</a:t>
            </a:r>
            <a:r>
              <a:rPr lang="en-GB" dirty="0"/>
              <a:t>().</a:t>
            </a:r>
          </a:p>
          <a:p>
            <a:r>
              <a:rPr lang="en-GB" dirty="0"/>
              <a:t>string return type — The entire logo is one big string that gets handed back to whoever called the method.</a:t>
            </a:r>
          </a:p>
          <a:p>
            <a:r>
              <a:rPr lang="en-GB" dirty="0"/>
              <a:t>return @"..." — The @ symbol before the opening quote creates a verbatim string literal. This is important because the logo contains backslashes, special box-drawing characters (╔ ═ ║ │), and newlines. Without the @, you would have to escape every one of those characters. With it, C# takes the text exactly as written.</a:t>
            </a:r>
          </a:p>
          <a:p>
            <a:r>
              <a:rPr lang="en-GB" dirty="0"/>
              <a:t>The box-drawing characters themselves — Characters like ╔, ─, ╗, ║, ╚, ╝ are Unicode characters that draw the border frame of the logo. They only render correctly in a monospace (fixed-width) font like Consolas, which is why the WPF </a:t>
            </a:r>
            <a:r>
              <a:rPr lang="en-GB" dirty="0" err="1"/>
              <a:t>TextBlock</a:t>
            </a:r>
            <a:r>
              <a:rPr lang="en-GB" dirty="0"/>
              <a:t> that displays this is set to </a:t>
            </a:r>
            <a:r>
              <a:rPr lang="en-GB" dirty="0" err="1"/>
              <a:t>FontFamily</a:t>
            </a:r>
            <a:r>
              <a:rPr lang="en-GB" dirty="0"/>
              <a:t>="Consolas".</a:t>
            </a:r>
          </a:p>
          <a:p>
            <a:r>
              <a:rPr lang="en-GB" b="1" dirty="0"/>
              <a:t>Where it is called:</a:t>
            </a:r>
            <a:r>
              <a:rPr lang="en-GB" dirty="0"/>
              <a:t> Inside </a:t>
            </a:r>
            <a:r>
              <a:rPr lang="en-GB" dirty="0" err="1"/>
              <a:t>MainWindow.InitializeChat</a:t>
            </a:r>
            <a:r>
              <a:rPr lang="en-GB" dirty="0"/>
              <a:t>(), the line </a:t>
            </a:r>
            <a:r>
              <a:rPr lang="en-GB" dirty="0" err="1"/>
              <a:t>AsciiArtText.Text</a:t>
            </a:r>
            <a:r>
              <a:rPr lang="en-GB" dirty="0"/>
              <a:t> = </a:t>
            </a:r>
            <a:r>
              <a:rPr lang="en-GB" dirty="0" err="1"/>
              <a:t>AsciiArt.GetLogoForGui</a:t>
            </a:r>
            <a:r>
              <a:rPr lang="en-GB" dirty="0"/>
              <a:t>() sets the logo on the </a:t>
            </a:r>
            <a:r>
              <a:rPr lang="en-GB" dirty="0" err="1"/>
              <a:t>TextBlock</a:t>
            </a:r>
            <a:r>
              <a:rPr lang="en-GB" dirty="0"/>
              <a:t> at the top of the window.</a:t>
            </a:r>
          </a:p>
          <a:p>
            <a:br>
              <a:rPr lang="en-GB" dirty="0"/>
            </a:br>
            <a:endParaRPr lang="en-GB" dirty="0"/>
          </a:p>
          <a:p>
            <a:r>
              <a:rPr lang="en-GB" b="1" dirty="0"/>
              <a:t>Method 2 — </a:t>
            </a:r>
            <a:r>
              <a:rPr lang="en-GB" b="1" dirty="0" err="1"/>
              <a:t>DisplayLogo</a:t>
            </a:r>
            <a:r>
              <a:rPr lang="en-GB" b="1" dirty="0"/>
              <a:t>()</a:t>
            </a:r>
          </a:p>
          <a:p>
            <a:r>
              <a:rPr lang="en-GB" b="1" dirty="0"/>
              <a:t>Signature:</a:t>
            </a:r>
            <a:r>
              <a:rPr lang="en-GB" dirty="0"/>
              <a:t> public static void </a:t>
            </a:r>
            <a:r>
              <a:rPr lang="en-GB" dirty="0" err="1"/>
              <a:t>DisplayLogo</a:t>
            </a:r>
            <a:r>
              <a:rPr lang="en-GB" dirty="0"/>
              <a:t>()</a:t>
            </a:r>
          </a:p>
          <a:p>
            <a:r>
              <a:rPr lang="en-GB" b="1" dirty="0"/>
              <a:t>What it does:</a:t>
            </a:r>
            <a:r>
              <a:rPr lang="en-GB" dirty="0"/>
              <a:t> A console version of the logo renderer. This was used in the original console prototype of the bot before it was converted to WPF. It is not called anywhere in the WPF app — it exists for reference and legacy debugging.</a:t>
            </a:r>
          </a:p>
          <a:p>
            <a:r>
              <a:rPr lang="en-GB" b="1" dirty="0"/>
              <a:t>Segment breakdown:</a:t>
            </a:r>
            <a:endParaRPr lang="en-GB" dirty="0"/>
          </a:p>
          <a:p>
            <a:r>
              <a:rPr lang="en-GB" dirty="0" err="1"/>
              <a:t>Console.ForegroundColor</a:t>
            </a:r>
            <a:r>
              <a:rPr lang="en-GB" dirty="0"/>
              <a:t> = </a:t>
            </a:r>
            <a:r>
              <a:rPr lang="en-GB" dirty="0" err="1"/>
              <a:t>ConsoleColor.Cyan</a:t>
            </a:r>
            <a:r>
              <a:rPr lang="en-GB" dirty="0"/>
              <a:t> — Changes the terminal's text colour to cyan before printing. This makes the logo appear in the bot's brand colour on the console. If you skip this, the logo prints in the default white or grey.</a:t>
            </a:r>
          </a:p>
          <a:p>
            <a:r>
              <a:rPr lang="en-GB" dirty="0" err="1"/>
              <a:t>Console.WriteLine</a:t>
            </a:r>
            <a:r>
              <a:rPr lang="en-GB" dirty="0"/>
              <a:t>(</a:t>
            </a:r>
            <a:r>
              <a:rPr lang="en-GB" dirty="0" err="1"/>
              <a:t>GetLogoForGui</a:t>
            </a:r>
            <a:r>
              <a:rPr lang="en-GB" dirty="0"/>
              <a:t>()) — Calls the first method internally. It doesn't duplicate the logo string — it reuses it. The result is printed to standard output (the terminal window).</a:t>
            </a:r>
          </a:p>
          <a:p>
            <a:r>
              <a:rPr lang="en-GB" dirty="0" err="1"/>
              <a:t>Console.ResetColor</a:t>
            </a:r>
            <a:r>
              <a:rPr lang="en-GB" dirty="0"/>
              <a:t>() — After printing, this restores the terminal colour back to whatever it was before. Without this line, everything printed after the logo would also appear in cyan, which would mess up the rest of the console output.</a:t>
            </a:r>
          </a:p>
          <a:p>
            <a:endParaRPr lang="en-US" dirty="0"/>
          </a:p>
        </p:txBody>
      </p:sp>
      <p:sp>
        <p:nvSpPr>
          <p:cNvPr id="6" name="Picture Placeholder 5">
            <a:extLst>
              <a:ext uri="{FF2B5EF4-FFF2-40B4-BE49-F238E27FC236}">
                <a16:creationId xmlns:a16="http://schemas.microsoft.com/office/drawing/2014/main" id="{0D737F60-9F23-5239-EA54-63F888EC9F8D}"/>
              </a:ext>
            </a:extLst>
          </p:cNvPr>
          <p:cNvSpPr>
            <a:spLocks noGrp="1"/>
          </p:cNvSpPr>
          <p:nvPr>
            <p:ph type="pic" sz="quarter" idx="13"/>
          </p:nvPr>
        </p:nvSpPr>
        <p:spPr/>
        <p:txBody>
          <a:bodyPr/>
          <a:lstStyle/>
          <a:p>
            <a:endParaRPr lang="en-ZA"/>
          </a:p>
        </p:txBody>
      </p:sp>
      <p:pic>
        <p:nvPicPr>
          <p:cNvPr id="7" name="Picture 6">
            <a:extLst>
              <a:ext uri="{FF2B5EF4-FFF2-40B4-BE49-F238E27FC236}">
                <a16:creationId xmlns:a16="http://schemas.microsoft.com/office/drawing/2014/main" id="{FD3C7BFC-815B-EA85-CE3D-91F436ACE4CA}"/>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6827456" y="0"/>
            <a:ext cx="5348378" cy="6844672"/>
          </a:xfrm>
          <a:prstGeom prst="rect">
            <a:avLst/>
          </a:prstGeom>
        </p:spPr>
      </p:pic>
    </p:spTree>
    <p:extLst>
      <p:ext uri="{BB962C8B-B14F-4D97-AF65-F5344CB8AC3E}">
        <p14:creationId xmlns:p14="http://schemas.microsoft.com/office/powerpoint/2010/main" val="19770789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4413A-AF05-B975-C8C6-4B82221E5D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94475B-4A35-6029-B72E-B4FE259EE41F}"/>
              </a:ext>
            </a:extLst>
          </p:cNvPr>
          <p:cNvSpPr>
            <a:spLocks noGrp="1"/>
          </p:cNvSpPr>
          <p:nvPr>
            <p:ph type="title"/>
          </p:nvPr>
        </p:nvSpPr>
        <p:spPr>
          <a:xfrm>
            <a:off x="231494" y="-1446683"/>
            <a:ext cx="4158283" cy="2623192"/>
          </a:xfrm>
        </p:spPr>
        <p:txBody>
          <a:bodyPr/>
          <a:lstStyle/>
          <a:p>
            <a:r>
              <a:rPr lang="en-ZA" dirty="0" err="1"/>
              <a:t>AudioPlayer</a:t>
            </a:r>
            <a:r>
              <a:rPr lang="en-US" dirty="0"/>
              <a:t>.cs</a:t>
            </a:r>
          </a:p>
        </p:txBody>
      </p:sp>
      <p:sp>
        <p:nvSpPr>
          <p:cNvPr id="3" name="Footer Placeholder 2">
            <a:extLst>
              <a:ext uri="{FF2B5EF4-FFF2-40B4-BE49-F238E27FC236}">
                <a16:creationId xmlns:a16="http://schemas.microsoft.com/office/drawing/2014/main" id="{9912B377-316E-6D2D-FE1C-659197E5FD55}"/>
              </a:ext>
            </a:extLst>
          </p:cNvPr>
          <p:cNvSpPr>
            <a:spLocks noGrp="1"/>
          </p:cNvSpPr>
          <p:nvPr>
            <p:ph type="ftr" sz="quarter" idx="16"/>
          </p:nvPr>
        </p:nvSpPr>
        <p:spPr>
          <a:xfrm>
            <a:off x="1190622" y="13328"/>
            <a:ext cx="7924804" cy="621671"/>
          </a:xfrm>
        </p:spPr>
        <p:txBody>
          <a:bodyPr/>
          <a:lstStyle/>
          <a:p>
            <a:r>
              <a:rPr lang="en-US"/>
              <a:t>Moyagabo Raphasha</a:t>
            </a:r>
          </a:p>
        </p:txBody>
      </p:sp>
      <p:sp>
        <p:nvSpPr>
          <p:cNvPr id="5" name="Slide Number Placeholder 4">
            <a:extLst>
              <a:ext uri="{FF2B5EF4-FFF2-40B4-BE49-F238E27FC236}">
                <a16:creationId xmlns:a16="http://schemas.microsoft.com/office/drawing/2014/main" id="{1C0FA8D7-11EE-F336-1E81-E5121A951B70}"/>
              </a:ext>
            </a:extLst>
          </p:cNvPr>
          <p:cNvSpPr>
            <a:spLocks noGrp="1"/>
          </p:cNvSpPr>
          <p:nvPr>
            <p:ph type="sldNum" sz="quarter" idx="17"/>
          </p:nvPr>
        </p:nvSpPr>
        <p:spPr>
          <a:xfrm>
            <a:off x="10614988" y="0"/>
            <a:ext cx="386389" cy="621671"/>
          </a:xfrm>
        </p:spPr>
        <p:txBody>
          <a:bodyPr/>
          <a:lstStyle/>
          <a:p>
            <a:fld id="{24D65F33-A771-944D-9289-CA575F1D1B7F}" type="slidenum">
              <a:rPr lang="en-US" smtClean="0"/>
              <a:pPr/>
              <a:t>4</a:t>
            </a:fld>
            <a:endParaRPr lang="en-US"/>
          </a:p>
        </p:txBody>
      </p:sp>
      <p:sp>
        <p:nvSpPr>
          <p:cNvPr id="14" name="Text Placeholder 13">
            <a:extLst>
              <a:ext uri="{FF2B5EF4-FFF2-40B4-BE49-F238E27FC236}">
                <a16:creationId xmlns:a16="http://schemas.microsoft.com/office/drawing/2014/main" id="{DDF173B0-B7C0-08D7-7417-7E885BA7D02A}"/>
              </a:ext>
            </a:extLst>
          </p:cNvPr>
          <p:cNvSpPr>
            <a:spLocks noGrp="1"/>
          </p:cNvSpPr>
          <p:nvPr>
            <p:ph type="body" sz="quarter" idx="18"/>
          </p:nvPr>
        </p:nvSpPr>
        <p:spPr>
          <a:xfrm>
            <a:off x="231494" y="1176509"/>
            <a:ext cx="6493397" cy="5444210"/>
          </a:xfrm>
        </p:spPr>
        <p:txBody>
          <a:bodyPr>
            <a:normAutofit fontScale="70000" lnSpcReduction="20000"/>
          </a:bodyPr>
          <a:lstStyle/>
          <a:p>
            <a:r>
              <a:rPr lang="en-GB" b="1" dirty="0"/>
              <a:t>What it is</a:t>
            </a:r>
          </a:p>
          <a:p>
            <a:r>
              <a:rPr lang="en-GB" dirty="0"/>
              <a:t>A static class with a single asynchronous method that plays a WAV audio greeting when the bot starts. The key design challenge it solves is playing audio without freezing the WPF user interface.</a:t>
            </a:r>
          </a:p>
          <a:p>
            <a:r>
              <a:rPr lang="en-GB" b="1" dirty="0"/>
              <a:t>Method — </a:t>
            </a:r>
            <a:r>
              <a:rPr lang="en-GB" b="1" dirty="0" err="1"/>
              <a:t>PlayGreetingAsync</a:t>
            </a:r>
            <a:r>
              <a:rPr lang="en-GB" b="1" dirty="0"/>
              <a:t>()</a:t>
            </a:r>
          </a:p>
          <a:p>
            <a:r>
              <a:rPr lang="en-GB" b="1" dirty="0"/>
              <a:t>Signature:</a:t>
            </a:r>
            <a:r>
              <a:rPr lang="en-GB" dirty="0"/>
              <a:t> public static async Task </a:t>
            </a:r>
            <a:r>
              <a:rPr lang="en-GB" dirty="0" err="1"/>
              <a:t>PlayGreetingAsync</a:t>
            </a:r>
            <a:r>
              <a:rPr lang="en-GB" dirty="0"/>
              <a:t>()</a:t>
            </a:r>
          </a:p>
          <a:p>
            <a:r>
              <a:rPr lang="en-GB" b="1" dirty="0"/>
              <a:t>What it does:</a:t>
            </a:r>
            <a:r>
              <a:rPr lang="en-GB" dirty="0"/>
              <a:t> Locates the greeting.wav file on disk and plays it in the background. Because WPF runs on a single UI thread, any blocking operation (like waiting for audio to finish) would freeze the entire window. This method uses async/await and </a:t>
            </a:r>
            <a:r>
              <a:rPr lang="en-GB" dirty="0" err="1"/>
              <a:t>Task.Run</a:t>
            </a:r>
            <a:r>
              <a:rPr lang="en-GB" dirty="0"/>
              <a:t> to avoid that.</a:t>
            </a:r>
          </a:p>
          <a:p>
            <a:r>
              <a:rPr lang="en-GB" b="1" dirty="0"/>
              <a:t>Segment breakdown:</a:t>
            </a:r>
            <a:endParaRPr lang="en-GB" dirty="0"/>
          </a:p>
          <a:p>
            <a:r>
              <a:rPr lang="en-GB" b="1" dirty="0"/>
              <a:t>Segment 1 — async Task and await </a:t>
            </a:r>
            <a:r>
              <a:rPr lang="en-GB" b="1" dirty="0" err="1"/>
              <a:t>Task.Run</a:t>
            </a:r>
            <a:r>
              <a:rPr lang="en-GB" b="1" dirty="0"/>
              <a:t>(() =&gt; { })</a:t>
            </a:r>
            <a:endParaRPr lang="en-GB" dirty="0"/>
          </a:p>
          <a:p>
            <a:r>
              <a:rPr lang="en-GB" dirty="0"/>
              <a:t>async marks the method as asynchronous, meaning it can contain await expressions.</a:t>
            </a:r>
          </a:p>
          <a:p>
            <a:r>
              <a:rPr lang="en-GB" dirty="0"/>
              <a:t>Task is the return type. Unlike void, returning Task allows the caller to track when the operation finishes or await it if needed.</a:t>
            </a:r>
          </a:p>
          <a:p>
            <a:r>
              <a:rPr lang="en-GB" dirty="0"/>
              <a:t>await </a:t>
            </a:r>
            <a:r>
              <a:rPr lang="en-GB" dirty="0" err="1"/>
              <a:t>Task.Run</a:t>
            </a:r>
            <a:r>
              <a:rPr lang="en-GB" dirty="0"/>
              <a:t>(...) pushes the entire audio block onto the .NET thread pool — a background thread separate from the UI thread. The await keyword means: start this work in the background, and when it's done, come back here. The UI thread is free to keep rendering the window while audio plays.</a:t>
            </a:r>
          </a:p>
          <a:p>
            <a:r>
              <a:rPr lang="en-GB" b="1" dirty="0"/>
              <a:t>Segment 2 — </a:t>
            </a:r>
            <a:r>
              <a:rPr lang="en-GB" b="1" dirty="0" err="1"/>
              <a:t>Path.Combine</a:t>
            </a:r>
            <a:r>
              <a:rPr lang="en-GB" b="1" dirty="0"/>
              <a:t>(</a:t>
            </a:r>
            <a:r>
              <a:rPr lang="en-GB" b="1" dirty="0" err="1"/>
              <a:t>AppDomain.CurrentDomain.BaseDirectory</a:t>
            </a:r>
            <a:r>
              <a:rPr lang="en-GB" b="1" dirty="0"/>
              <a:t>, "Assets", "greeting.wav")</a:t>
            </a:r>
            <a:endParaRPr lang="en-GB" dirty="0"/>
          </a:p>
          <a:p>
            <a:r>
              <a:rPr lang="en-GB" dirty="0" err="1"/>
              <a:t>AppDomain.CurrentDomain.BaseDirectory</a:t>
            </a:r>
            <a:r>
              <a:rPr lang="en-GB" dirty="0"/>
              <a:t> gives the folder where the .exe is running from.</a:t>
            </a:r>
          </a:p>
          <a:p>
            <a:r>
              <a:rPr lang="en-GB" dirty="0" err="1"/>
              <a:t>Path.Combine</a:t>
            </a:r>
            <a:r>
              <a:rPr lang="en-GB" dirty="0"/>
              <a:t> builds the full file path by joining the base folder with the Assets subfolder and filename. This avoids hardcoded absolute paths like "C:\Users\User...", which would break on any other machine.</a:t>
            </a:r>
          </a:p>
          <a:p>
            <a:r>
              <a:rPr lang="en-GB" dirty="0"/>
              <a:t>The result is something like: C:\MyApp\bin\Debug\Assets\greeting.wav.</a:t>
            </a:r>
          </a:p>
          <a:p>
            <a:r>
              <a:rPr lang="en-GB" b="1" dirty="0"/>
              <a:t>Segment 3 — </a:t>
            </a:r>
            <a:r>
              <a:rPr lang="en-GB" b="1" dirty="0" err="1"/>
              <a:t>File.Exists</a:t>
            </a:r>
            <a:r>
              <a:rPr lang="en-GB" b="1" dirty="0"/>
              <a:t>(</a:t>
            </a:r>
            <a:r>
              <a:rPr lang="en-GB" b="1" dirty="0" err="1"/>
              <a:t>audioPath</a:t>
            </a:r>
            <a:r>
              <a:rPr lang="en-GB" b="1" dirty="0"/>
              <a:t>) check</a:t>
            </a:r>
            <a:endParaRPr lang="en-GB" dirty="0"/>
          </a:p>
          <a:p>
            <a:r>
              <a:rPr lang="en-GB" dirty="0"/>
              <a:t>Before trying to open the file, the code checks whether it actually exists.</a:t>
            </a:r>
          </a:p>
          <a:p>
            <a:r>
              <a:rPr lang="en-GB" dirty="0"/>
              <a:t>If the file is missing, the method writes a warning to the Visual Studio debug output window and skips playback entirely. The app keeps running — no crash, no exception shown to the user.</a:t>
            </a:r>
          </a:p>
          <a:p>
            <a:r>
              <a:rPr lang="en-GB" dirty="0"/>
              <a:t>This is defensive programming: expect things to go wrong and handle them gracefully.</a:t>
            </a:r>
          </a:p>
          <a:p>
            <a:endParaRPr lang="en-US" dirty="0"/>
          </a:p>
        </p:txBody>
      </p:sp>
      <p:pic>
        <p:nvPicPr>
          <p:cNvPr id="8" name="Picture Placeholder 5" descr="image - Free stock photo - Public Domain photo - CC0 Images">
            <a:extLst>
              <a:ext uri="{FF2B5EF4-FFF2-40B4-BE49-F238E27FC236}">
                <a16:creationId xmlns:a16="http://schemas.microsoft.com/office/drawing/2014/main" id="{FA23B367-7102-2343-017C-EFAFF72ED11F}"/>
              </a:ext>
            </a:extLst>
          </p:cNvPr>
          <p:cNvPicPr>
            <a:picLocks noGrp="1" noChangeAspect="1"/>
          </p:cNvPicPr>
          <p:nvPr>
            <p:ph type="pic" sz="quarter" idx="13"/>
          </p:nvPr>
        </p:nvPicPr>
        <p:blipFill>
          <a:blip r:embed="rId2"/>
          <a:srcRect l="25788" r="25788"/>
          <a:stretch/>
        </p:blipFill>
        <p:spPr>
          <a:xfrm>
            <a:off x="6843095" y="634997"/>
            <a:ext cx="5348904" cy="6223003"/>
          </a:xfrm>
        </p:spPr>
      </p:pic>
    </p:spTree>
    <p:extLst>
      <p:ext uri="{BB962C8B-B14F-4D97-AF65-F5344CB8AC3E}">
        <p14:creationId xmlns:p14="http://schemas.microsoft.com/office/powerpoint/2010/main" val="4760629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7F9F7-DEB9-A887-D19D-7CA8C742E1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60F511-6AEF-1A95-376C-557E2827CBF1}"/>
              </a:ext>
            </a:extLst>
          </p:cNvPr>
          <p:cNvSpPr>
            <a:spLocks noGrp="1"/>
          </p:cNvSpPr>
          <p:nvPr>
            <p:ph type="title"/>
          </p:nvPr>
        </p:nvSpPr>
        <p:spPr>
          <a:xfrm>
            <a:off x="231494" y="-1446683"/>
            <a:ext cx="4158283" cy="2623192"/>
          </a:xfrm>
        </p:spPr>
        <p:txBody>
          <a:bodyPr/>
          <a:lstStyle/>
          <a:p>
            <a:r>
              <a:rPr lang="en-ZA" dirty="0" err="1"/>
              <a:t>AudioPlayer</a:t>
            </a:r>
            <a:r>
              <a:rPr lang="en-US" dirty="0"/>
              <a:t>.cs</a:t>
            </a:r>
          </a:p>
        </p:txBody>
      </p:sp>
      <p:sp>
        <p:nvSpPr>
          <p:cNvPr id="3" name="Footer Placeholder 2">
            <a:extLst>
              <a:ext uri="{FF2B5EF4-FFF2-40B4-BE49-F238E27FC236}">
                <a16:creationId xmlns:a16="http://schemas.microsoft.com/office/drawing/2014/main" id="{B857626C-4A2E-9EF6-9D4F-B935E98CBD67}"/>
              </a:ext>
            </a:extLst>
          </p:cNvPr>
          <p:cNvSpPr>
            <a:spLocks noGrp="1"/>
          </p:cNvSpPr>
          <p:nvPr>
            <p:ph type="ftr" sz="quarter" idx="16"/>
          </p:nvPr>
        </p:nvSpPr>
        <p:spPr>
          <a:xfrm>
            <a:off x="1190622" y="13328"/>
            <a:ext cx="7924804" cy="621671"/>
          </a:xfrm>
        </p:spPr>
        <p:txBody>
          <a:bodyPr/>
          <a:lstStyle/>
          <a:p>
            <a:r>
              <a:rPr lang="en-US"/>
              <a:t>Moyagabo Raphasha</a:t>
            </a:r>
          </a:p>
        </p:txBody>
      </p:sp>
      <p:sp>
        <p:nvSpPr>
          <p:cNvPr id="5" name="Slide Number Placeholder 4">
            <a:extLst>
              <a:ext uri="{FF2B5EF4-FFF2-40B4-BE49-F238E27FC236}">
                <a16:creationId xmlns:a16="http://schemas.microsoft.com/office/drawing/2014/main" id="{AEAA176D-B08B-1DD2-FF99-F814B52E6016}"/>
              </a:ext>
            </a:extLst>
          </p:cNvPr>
          <p:cNvSpPr>
            <a:spLocks noGrp="1"/>
          </p:cNvSpPr>
          <p:nvPr>
            <p:ph type="sldNum" sz="quarter" idx="17"/>
          </p:nvPr>
        </p:nvSpPr>
        <p:spPr>
          <a:xfrm>
            <a:off x="10614988" y="0"/>
            <a:ext cx="386389" cy="621671"/>
          </a:xfrm>
        </p:spPr>
        <p:txBody>
          <a:bodyPr/>
          <a:lstStyle/>
          <a:p>
            <a:fld id="{24D65F33-A771-944D-9289-CA575F1D1B7F}" type="slidenum">
              <a:rPr lang="en-US" smtClean="0"/>
              <a:pPr/>
              <a:t>5</a:t>
            </a:fld>
            <a:endParaRPr lang="en-US"/>
          </a:p>
        </p:txBody>
      </p:sp>
      <p:sp>
        <p:nvSpPr>
          <p:cNvPr id="14" name="Text Placeholder 13">
            <a:extLst>
              <a:ext uri="{FF2B5EF4-FFF2-40B4-BE49-F238E27FC236}">
                <a16:creationId xmlns:a16="http://schemas.microsoft.com/office/drawing/2014/main" id="{27C45D2C-1A4F-2EE3-3150-97E996B5F38D}"/>
              </a:ext>
            </a:extLst>
          </p:cNvPr>
          <p:cNvSpPr>
            <a:spLocks noGrp="1"/>
          </p:cNvSpPr>
          <p:nvPr>
            <p:ph type="body" sz="quarter" idx="18"/>
          </p:nvPr>
        </p:nvSpPr>
        <p:spPr>
          <a:xfrm>
            <a:off x="231494" y="1176509"/>
            <a:ext cx="6493397" cy="5444210"/>
          </a:xfrm>
        </p:spPr>
        <p:txBody>
          <a:bodyPr>
            <a:normAutofit fontScale="92500" lnSpcReduction="20000"/>
          </a:bodyPr>
          <a:lstStyle/>
          <a:p>
            <a:r>
              <a:rPr lang="en-GB" b="1" dirty="0"/>
              <a:t>Segment 4 — using (</a:t>
            </a:r>
            <a:r>
              <a:rPr lang="en-GB" b="1" dirty="0" err="1"/>
              <a:t>SoundPlayer</a:t>
            </a:r>
            <a:r>
              <a:rPr lang="en-GB" b="1" dirty="0"/>
              <a:t> player = new </a:t>
            </a:r>
            <a:r>
              <a:rPr lang="en-GB" b="1" dirty="0" err="1"/>
              <a:t>SoundPlayer</a:t>
            </a:r>
            <a:r>
              <a:rPr lang="en-GB" b="1" dirty="0"/>
              <a:t>(</a:t>
            </a:r>
            <a:r>
              <a:rPr lang="en-GB" b="1" dirty="0" err="1"/>
              <a:t>audioPath</a:t>
            </a:r>
            <a:r>
              <a:rPr lang="en-GB" b="1" dirty="0"/>
              <a:t>))</a:t>
            </a:r>
            <a:endParaRPr lang="en-GB" dirty="0"/>
          </a:p>
          <a:p>
            <a:r>
              <a:rPr lang="en-GB" dirty="0" err="1"/>
              <a:t>SoundPlayer</a:t>
            </a:r>
            <a:r>
              <a:rPr lang="en-GB" dirty="0"/>
              <a:t> is a built-in .NET class for playing WAV files.</a:t>
            </a:r>
          </a:p>
          <a:p>
            <a:r>
              <a:rPr lang="en-GB" dirty="0"/>
              <a:t>The using block is critical. It guarantees that the Dispose() method is called on the </a:t>
            </a:r>
            <a:r>
              <a:rPr lang="en-GB" dirty="0" err="1"/>
              <a:t>SoundPlayer</a:t>
            </a:r>
            <a:r>
              <a:rPr lang="en-GB" dirty="0"/>
              <a:t> when the block ends, releasing the file handle. Without this, the WAV file could remain locked by the process even after playback finishes.</a:t>
            </a:r>
          </a:p>
          <a:p>
            <a:r>
              <a:rPr lang="en-GB" dirty="0"/>
              <a:t>This pattern works even if an exception occurs inside the block — Dispose is always called.</a:t>
            </a:r>
          </a:p>
          <a:p>
            <a:r>
              <a:rPr lang="en-GB" b="1" dirty="0"/>
              <a:t>Segment 5 — </a:t>
            </a:r>
            <a:r>
              <a:rPr lang="en-GB" b="1" dirty="0" err="1"/>
              <a:t>player.Load</a:t>
            </a:r>
            <a:r>
              <a:rPr lang="en-GB" b="1" dirty="0"/>
              <a:t>() then </a:t>
            </a:r>
            <a:r>
              <a:rPr lang="en-GB" b="1" dirty="0" err="1"/>
              <a:t>player.PlaySync</a:t>
            </a:r>
            <a:r>
              <a:rPr lang="en-GB" b="1" dirty="0"/>
              <a:t>()</a:t>
            </a:r>
            <a:endParaRPr lang="en-GB" dirty="0"/>
          </a:p>
          <a:p>
            <a:r>
              <a:rPr lang="en-GB" dirty="0" err="1"/>
              <a:t>player.Load</a:t>
            </a:r>
            <a:r>
              <a:rPr lang="en-GB" dirty="0"/>
              <a:t>() reads the entire WAV file into memory first. This prevents glitches or cutting-out that can happen if you try to play a file while it's still being read from disk.</a:t>
            </a:r>
          </a:p>
          <a:p>
            <a:r>
              <a:rPr lang="en-GB" dirty="0" err="1"/>
              <a:t>player.PlaySync</a:t>
            </a:r>
            <a:r>
              <a:rPr lang="en-GB" dirty="0"/>
              <a:t>() plays the audio and blocks (waits) until the sound has finished. Normally blocking is bad — but here we are on the background thread from </a:t>
            </a:r>
            <a:r>
              <a:rPr lang="en-GB" dirty="0" err="1"/>
              <a:t>Task.Run</a:t>
            </a:r>
            <a:r>
              <a:rPr lang="en-GB" dirty="0"/>
              <a:t>, not the UI thread, so blocking here is completely safe. The UI thread is still running freely.</a:t>
            </a:r>
          </a:p>
          <a:p>
            <a:r>
              <a:rPr lang="en-GB" b="1" dirty="0"/>
              <a:t>Segment 6 — catch (Exception ex) block</a:t>
            </a:r>
            <a:endParaRPr lang="en-GB" dirty="0"/>
          </a:p>
          <a:p>
            <a:r>
              <a:rPr lang="en-GB" dirty="0"/>
              <a:t>The entire audio block is wrapped in try/catch.</a:t>
            </a:r>
          </a:p>
          <a:p>
            <a:r>
              <a:rPr lang="en-GB" dirty="0"/>
              <a:t>If anything goes wrong (corrupted WAV, permission error, wrong format), the exception is caught and its message is written to the debug output using </a:t>
            </a:r>
            <a:r>
              <a:rPr lang="en-GB" dirty="0" err="1"/>
              <a:t>System.Diagnostics.Debug.WriteLine</a:t>
            </a:r>
            <a:r>
              <a:rPr lang="en-GB" dirty="0"/>
              <a:t>.</a:t>
            </a:r>
          </a:p>
          <a:p>
            <a:r>
              <a:rPr lang="en-GB" dirty="0"/>
              <a:t>The user sees nothing — the app continues normally. This is intentional: a missing sound file should never crash a security chatbot.</a:t>
            </a:r>
          </a:p>
          <a:p>
            <a:r>
              <a:rPr lang="en-GB" b="1" dirty="0"/>
              <a:t>Where it is called:</a:t>
            </a:r>
            <a:r>
              <a:rPr lang="en-GB" dirty="0"/>
              <a:t> In </a:t>
            </a:r>
            <a:r>
              <a:rPr lang="en-GB" dirty="0" err="1"/>
              <a:t>MainWindow.InitializeChat</a:t>
            </a:r>
            <a:r>
              <a:rPr lang="en-GB" dirty="0"/>
              <a:t>() as _ = </a:t>
            </a:r>
            <a:r>
              <a:rPr lang="en-GB" dirty="0" err="1"/>
              <a:t>AudioPlayer.PlayGreetingAsync</a:t>
            </a:r>
            <a:r>
              <a:rPr lang="en-GB" dirty="0"/>
              <a:t>(). The underscore discards the returned Task — this is called "fire and forget". The app doesn't wait for the audio to finish before continuing setup.</a:t>
            </a:r>
          </a:p>
          <a:p>
            <a:endParaRPr lang="en-US" dirty="0"/>
          </a:p>
        </p:txBody>
      </p:sp>
      <p:pic>
        <p:nvPicPr>
          <p:cNvPr id="8" name="Picture Placeholder 5" descr="image - Free stock photo - Public Domain photo - CC0 Images">
            <a:extLst>
              <a:ext uri="{FF2B5EF4-FFF2-40B4-BE49-F238E27FC236}">
                <a16:creationId xmlns:a16="http://schemas.microsoft.com/office/drawing/2014/main" id="{70ADACC5-022D-6560-898C-0EBC4DD2194E}"/>
              </a:ext>
            </a:extLst>
          </p:cNvPr>
          <p:cNvPicPr>
            <a:picLocks noGrp="1" noChangeAspect="1"/>
          </p:cNvPicPr>
          <p:nvPr>
            <p:ph type="pic" sz="quarter" idx="13"/>
          </p:nvPr>
        </p:nvPicPr>
        <p:blipFill>
          <a:blip r:embed="rId2"/>
          <a:srcRect l="25788" r="25788"/>
          <a:stretch/>
        </p:blipFill>
        <p:spPr>
          <a:xfrm>
            <a:off x="6843095" y="634997"/>
            <a:ext cx="5348904" cy="6223003"/>
          </a:xfrm>
        </p:spPr>
      </p:pic>
    </p:spTree>
    <p:extLst>
      <p:ext uri="{BB962C8B-B14F-4D97-AF65-F5344CB8AC3E}">
        <p14:creationId xmlns:p14="http://schemas.microsoft.com/office/powerpoint/2010/main" val="1843864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2ABD3D9C-026C-538B-4ED4-B2B6C8F61D76}"/>
              </a:ext>
            </a:extLst>
          </p:cNvPr>
          <p:cNvSpPr>
            <a:spLocks noGrp="1"/>
          </p:cNvSpPr>
          <p:nvPr>
            <p:ph type="ctrTitle"/>
          </p:nvPr>
        </p:nvSpPr>
        <p:spPr>
          <a:xfrm>
            <a:off x="7086300" y="180429"/>
            <a:ext cx="9810747" cy="493720"/>
          </a:xfrm>
        </p:spPr>
        <p:txBody>
          <a:bodyPr>
            <a:normAutofit fontScale="90000"/>
          </a:bodyPr>
          <a:lstStyle/>
          <a:p>
            <a:r>
              <a:rPr lang="en-US" dirty="0" err="1"/>
              <a:t>ChatMessage.cs</a:t>
            </a:r>
            <a:endParaRPr lang="en-US" dirty="0"/>
          </a:p>
        </p:txBody>
      </p:sp>
      <p:sp>
        <p:nvSpPr>
          <p:cNvPr id="3" name="Footer Placeholder 2">
            <a:extLst>
              <a:ext uri="{FF2B5EF4-FFF2-40B4-BE49-F238E27FC236}">
                <a16:creationId xmlns:a16="http://schemas.microsoft.com/office/drawing/2014/main" id="{E5424103-8E35-7B12-4ECE-E53323C2BE49}"/>
              </a:ext>
            </a:extLst>
          </p:cNvPr>
          <p:cNvSpPr>
            <a:spLocks noGrp="1"/>
          </p:cNvSpPr>
          <p:nvPr>
            <p:ph type="ftr" sz="quarter" idx="18"/>
          </p:nvPr>
        </p:nvSpPr>
        <p:spPr>
          <a:xfrm>
            <a:off x="1190626" y="1"/>
            <a:ext cx="6981821" cy="634996"/>
          </a:xfrm>
        </p:spPr>
        <p:txBody>
          <a:bodyPr/>
          <a:lstStyle/>
          <a:p>
            <a:r>
              <a:rPr lang="en-US"/>
              <a:t>Moyagabo Raphasha</a:t>
            </a:r>
          </a:p>
        </p:txBody>
      </p:sp>
      <p:sp>
        <p:nvSpPr>
          <p:cNvPr id="5" name="Slide Number Placeholder 4">
            <a:extLst>
              <a:ext uri="{FF2B5EF4-FFF2-40B4-BE49-F238E27FC236}">
                <a16:creationId xmlns:a16="http://schemas.microsoft.com/office/drawing/2014/main" id="{C2000AB1-E7DE-4C94-7B19-5AA7264E0208}"/>
              </a:ext>
            </a:extLst>
          </p:cNvPr>
          <p:cNvSpPr>
            <a:spLocks noGrp="1"/>
          </p:cNvSpPr>
          <p:nvPr>
            <p:ph type="sldNum" sz="quarter" idx="19"/>
          </p:nvPr>
        </p:nvSpPr>
        <p:spPr>
          <a:xfrm>
            <a:off x="10614988" y="1"/>
            <a:ext cx="386385" cy="634996"/>
          </a:xfrm>
        </p:spPr>
        <p:txBody>
          <a:bodyPr/>
          <a:lstStyle/>
          <a:p>
            <a:fld id="{24D65F33-A771-944D-9289-CA575F1D1B7F}" type="slidenum">
              <a:rPr lang="en-US" smtClean="0"/>
              <a:pPr/>
              <a:t>6</a:t>
            </a:fld>
            <a:endParaRPr lang="en-US"/>
          </a:p>
        </p:txBody>
      </p:sp>
      <p:sp>
        <p:nvSpPr>
          <p:cNvPr id="14" name="Text Placeholder 13">
            <a:extLst>
              <a:ext uri="{FF2B5EF4-FFF2-40B4-BE49-F238E27FC236}">
                <a16:creationId xmlns:a16="http://schemas.microsoft.com/office/drawing/2014/main" id="{AA9B8452-D810-7659-4C17-83D2E44CEBCD}"/>
              </a:ext>
            </a:extLst>
          </p:cNvPr>
          <p:cNvSpPr>
            <a:spLocks noGrp="1"/>
          </p:cNvSpPr>
          <p:nvPr>
            <p:ph type="body" sz="quarter" idx="14"/>
          </p:nvPr>
        </p:nvSpPr>
        <p:spPr>
          <a:xfrm>
            <a:off x="7071796" y="1207022"/>
            <a:ext cx="3929577" cy="5244578"/>
          </a:xfrm>
        </p:spPr>
        <p:txBody>
          <a:bodyPr vert="horz" lIns="91440" tIns="45720" rIns="91440" bIns="45720" rtlCol="0" anchor="t">
            <a:normAutofit fontScale="70000" lnSpcReduction="20000"/>
          </a:bodyPr>
          <a:lstStyle/>
          <a:p>
            <a:r>
              <a:rPr lang="en-GB" b="1" dirty="0"/>
              <a:t>What it is</a:t>
            </a:r>
          </a:p>
          <a:p>
            <a:r>
              <a:rPr lang="en-GB" dirty="0"/>
              <a:t>A simple data model class (called a POCO — Plain Old C# Object). It has no methods, only properties. Each instance of </a:t>
            </a:r>
            <a:r>
              <a:rPr lang="en-GB" dirty="0" err="1"/>
              <a:t>ChatMessage</a:t>
            </a:r>
            <a:r>
              <a:rPr lang="en-GB" dirty="0"/>
              <a:t> represents one chat bubble in the conversation. WPF reads these properties through data binding to decide how to display each bubble.</a:t>
            </a:r>
          </a:p>
          <a:p>
            <a:r>
              <a:rPr lang="en-GB" b="1" dirty="0"/>
              <a:t>Properties breakdown:</a:t>
            </a:r>
          </a:p>
          <a:p>
            <a:r>
              <a:rPr lang="en-GB" b="1" dirty="0"/>
              <a:t>string Text</a:t>
            </a:r>
            <a:endParaRPr lang="en-GB" dirty="0"/>
          </a:p>
          <a:p>
            <a:r>
              <a:rPr lang="en-GB" dirty="0"/>
              <a:t>The actual message content displayed inside the bubble.</a:t>
            </a:r>
          </a:p>
          <a:p>
            <a:r>
              <a:rPr lang="en-GB" dirty="0"/>
              <a:t>Default value: empty string (</a:t>
            </a:r>
            <a:r>
              <a:rPr lang="en-GB" dirty="0" err="1"/>
              <a:t>string.Empty</a:t>
            </a:r>
            <a:r>
              <a:rPr lang="en-GB" dirty="0"/>
              <a:t>).</a:t>
            </a:r>
          </a:p>
          <a:p>
            <a:r>
              <a:rPr lang="en-GB" dirty="0"/>
              <a:t>In WPF, the XAML </a:t>
            </a:r>
            <a:r>
              <a:rPr lang="en-GB" dirty="0" err="1"/>
              <a:t>TextBlock</a:t>
            </a:r>
            <a:r>
              <a:rPr lang="en-GB" dirty="0"/>
              <a:t> binds to this: Text="{Binding Text}".</a:t>
            </a:r>
          </a:p>
          <a:p>
            <a:r>
              <a:rPr lang="en-GB" b="1" dirty="0"/>
              <a:t>string Background</a:t>
            </a:r>
            <a:endParaRPr lang="en-GB" dirty="0"/>
          </a:p>
          <a:p>
            <a:r>
              <a:rPr lang="en-GB" dirty="0"/>
              <a:t>A hex colour code string representing the bubble's background colour.</a:t>
            </a:r>
          </a:p>
          <a:p>
            <a:r>
              <a:rPr lang="en-GB" dirty="0"/>
              <a:t>Default: "#0f3460" (dark navy) — used for bot messages.</a:t>
            </a:r>
          </a:p>
          <a:p>
            <a:r>
              <a:rPr lang="en-GB" dirty="0" err="1"/>
              <a:t>AddUserMessage</a:t>
            </a:r>
            <a:r>
              <a:rPr lang="en-GB" dirty="0"/>
              <a:t>() overrides this to "#00d4ff" (cyan) so user messages look different.</a:t>
            </a:r>
          </a:p>
          <a:p>
            <a:r>
              <a:rPr lang="en-GB" b="1" dirty="0"/>
              <a:t>string Foreground</a:t>
            </a:r>
            <a:endParaRPr lang="en-GB" dirty="0"/>
          </a:p>
          <a:p>
            <a:r>
              <a:rPr lang="en-GB" dirty="0"/>
              <a:t>The text colour inside the bubble.</a:t>
            </a:r>
          </a:p>
          <a:p>
            <a:r>
              <a:rPr lang="en-GB" dirty="0"/>
              <a:t>Default: "White" — readable on the dark navy bot bubble.</a:t>
            </a:r>
          </a:p>
          <a:p>
            <a:r>
              <a:rPr lang="en-GB" dirty="0" err="1"/>
              <a:t>AddUserMessage</a:t>
            </a:r>
            <a:r>
              <a:rPr lang="en-GB" dirty="0"/>
              <a:t>() overrides this to "#1a1a2e" (very dark) so the dark text is readable on the cyan user bubble.</a:t>
            </a:r>
          </a:p>
          <a:p>
            <a:r>
              <a:rPr lang="en-GB" b="1" dirty="0" err="1"/>
              <a:t>HorizontalAlignment</a:t>
            </a:r>
            <a:r>
              <a:rPr lang="en-GB" b="1" dirty="0"/>
              <a:t> Alignment</a:t>
            </a:r>
            <a:endParaRPr lang="en-GB" dirty="0"/>
          </a:p>
          <a:p>
            <a:r>
              <a:rPr lang="en-GB" dirty="0"/>
              <a:t>A WPF </a:t>
            </a:r>
            <a:r>
              <a:rPr lang="en-GB" dirty="0" err="1"/>
              <a:t>enum</a:t>
            </a:r>
            <a:r>
              <a:rPr lang="en-GB" dirty="0"/>
              <a:t> that controls which side of the screen the bubble appears on.</a:t>
            </a:r>
          </a:p>
          <a:p>
            <a:r>
              <a:rPr lang="en-GB" dirty="0" err="1"/>
              <a:t>HorizontalAlignment.Left</a:t>
            </a:r>
            <a:r>
              <a:rPr lang="en-GB" dirty="0"/>
              <a:t> = bot message (left side of chat).</a:t>
            </a:r>
          </a:p>
          <a:p>
            <a:r>
              <a:rPr lang="en-GB" dirty="0" err="1"/>
              <a:t>HorizontalAlignment.Right</a:t>
            </a:r>
            <a:r>
              <a:rPr lang="en-GB" dirty="0"/>
              <a:t> = user message (right side of chat).</a:t>
            </a:r>
          </a:p>
          <a:p>
            <a:r>
              <a:rPr lang="en-GB" dirty="0"/>
              <a:t>The XAML </a:t>
            </a:r>
            <a:r>
              <a:rPr lang="en-GB" dirty="0" err="1"/>
              <a:t>ItemsControl</a:t>
            </a:r>
            <a:r>
              <a:rPr lang="en-GB" dirty="0"/>
              <a:t> </a:t>
            </a:r>
            <a:r>
              <a:rPr lang="en-GB" dirty="0" err="1"/>
              <a:t>DataTemplate</a:t>
            </a:r>
            <a:r>
              <a:rPr lang="en-GB" dirty="0"/>
              <a:t> binds the Border's </a:t>
            </a:r>
            <a:r>
              <a:rPr lang="en-GB" dirty="0" err="1"/>
              <a:t>HorizontalAlignment</a:t>
            </a:r>
            <a:r>
              <a:rPr lang="en-GB" dirty="0"/>
              <a:t> to this property.</a:t>
            </a:r>
          </a:p>
          <a:p>
            <a:r>
              <a:rPr lang="en-GB" b="1" dirty="0"/>
              <a:t>bool </a:t>
            </a:r>
            <a:r>
              <a:rPr lang="en-GB" b="1" dirty="0" err="1"/>
              <a:t>IsTyping</a:t>
            </a:r>
            <a:endParaRPr lang="en-GB" dirty="0"/>
          </a:p>
          <a:p>
            <a:r>
              <a:rPr lang="en-GB" dirty="0"/>
              <a:t>A </a:t>
            </a:r>
            <a:r>
              <a:rPr lang="en-GB" dirty="0" err="1"/>
              <a:t>boolean</a:t>
            </a:r>
            <a:r>
              <a:rPr lang="en-GB" dirty="0"/>
              <a:t> flag reserved for a future feature.</a:t>
            </a:r>
          </a:p>
          <a:p>
            <a:r>
              <a:rPr lang="en-GB" dirty="0"/>
              <a:t>The intention is to use it to show a "bot is typing..." indicator animation.</a:t>
            </a:r>
          </a:p>
          <a:p>
            <a:r>
              <a:rPr lang="en-GB" dirty="0"/>
              <a:t>Default: false. It is not currently wired to any UI behaviour — it is placeholder architecture.</a:t>
            </a:r>
          </a:p>
          <a:p>
            <a:r>
              <a:rPr lang="en-GB" b="1" dirty="0"/>
              <a:t>How it connects to the UI:</a:t>
            </a:r>
            <a:r>
              <a:rPr lang="en-GB" dirty="0"/>
              <a:t> In </a:t>
            </a:r>
            <a:r>
              <a:rPr lang="en-GB" dirty="0" err="1"/>
              <a:t>MainWindow</a:t>
            </a:r>
            <a:r>
              <a:rPr lang="en-GB" dirty="0"/>
              <a:t>, there is an </a:t>
            </a:r>
            <a:r>
              <a:rPr lang="en-GB" dirty="0" err="1"/>
              <a:t>ObservableCollection</a:t>
            </a:r>
            <a:r>
              <a:rPr lang="en-GB" dirty="0"/>
              <a:t> called _messages. Whenever a </a:t>
            </a:r>
            <a:r>
              <a:rPr lang="en-GB" dirty="0" err="1"/>
              <a:t>ChatMessage</a:t>
            </a:r>
            <a:r>
              <a:rPr lang="en-GB" dirty="0"/>
              <a:t> is added to that collection, WPF's data binding system automatically creates a new chat bubble using the </a:t>
            </a:r>
            <a:r>
              <a:rPr lang="en-GB" dirty="0" err="1"/>
              <a:t>DataTemplate</a:t>
            </a:r>
            <a:r>
              <a:rPr lang="en-GB" dirty="0"/>
              <a:t> defined in XAML. The template reads Background, Foreground, Text, and Alignment from the </a:t>
            </a:r>
            <a:r>
              <a:rPr lang="en-GB" dirty="0" err="1"/>
              <a:t>ChatMessage</a:t>
            </a:r>
            <a:r>
              <a:rPr lang="en-GB" dirty="0"/>
              <a:t> and applies them to the rendered Border and </a:t>
            </a:r>
            <a:r>
              <a:rPr lang="en-GB" dirty="0" err="1"/>
              <a:t>TextBlock</a:t>
            </a:r>
            <a:r>
              <a:rPr lang="en-GB" dirty="0"/>
              <a:t> elements.</a:t>
            </a:r>
          </a:p>
          <a:p>
            <a:endParaRPr lang="en-US" dirty="0"/>
          </a:p>
        </p:txBody>
      </p:sp>
      <p:pic>
        <p:nvPicPr>
          <p:cNvPr id="16" name="Picture Placeholder 6" descr="Two blue spheres">
            <a:extLst>
              <a:ext uri="{FF2B5EF4-FFF2-40B4-BE49-F238E27FC236}">
                <a16:creationId xmlns:a16="http://schemas.microsoft.com/office/drawing/2014/main" id="{B3E54B81-9BC6-9E5A-F322-B319720FA752}"/>
              </a:ext>
            </a:extLst>
          </p:cNvPr>
          <p:cNvPicPr>
            <a:picLocks noGrp="1" noChangeAspect="1"/>
          </p:cNvPicPr>
          <p:nvPr>
            <p:ph type="pic" sz="quarter" idx="13"/>
          </p:nvPr>
        </p:nvPicPr>
        <p:blipFill>
          <a:blip r:embed="rId2" cstate="hqprint">
            <a:extLst>
              <a:ext uri="{28A0092B-C50C-407E-A947-70E740481C1C}">
                <a14:useLocalDpi xmlns:a14="http://schemas.microsoft.com/office/drawing/2010/main"/>
              </a:ext>
            </a:extLst>
          </a:blip>
          <a:srcRect t="25" b="25"/>
          <a:stretch/>
        </p:blipFill>
        <p:spPr>
          <a:xfrm>
            <a:off x="0" y="634998"/>
            <a:ext cx="6847840" cy="6223002"/>
          </a:xfrm>
        </p:spPr>
      </p:pic>
    </p:spTree>
    <p:extLst>
      <p:ext uri="{BB962C8B-B14F-4D97-AF65-F5344CB8AC3E}">
        <p14:creationId xmlns:p14="http://schemas.microsoft.com/office/powerpoint/2010/main" val="11597826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21">
            <a:extLst>
              <a:ext uri="{FF2B5EF4-FFF2-40B4-BE49-F238E27FC236}">
                <a16:creationId xmlns:a16="http://schemas.microsoft.com/office/drawing/2014/main" id="{40028162-589B-5C86-7B4D-EDA581753E71}"/>
              </a:ext>
            </a:extLst>
          </p:cNvPr>
          <p:cNvSpPr>
            <a:spLocks noGrp="1"/>
          </p:cNvSpPr>
          <p:nvPr>
            <p:ph type="title"/>
          </p:nvPr>
        </p:nvSpPr>
        <p:spPr>
          <a:xfrm>
            <a:off x="6843093" y="-1470489"/>
            <a:ext cx="4158284" cy="2614292"/>
          </a:xfrm>
        </p:spPr>
        <p:txBody>
          <a:bodyPr/>
          <a:lstStyle/>
          <a:p>
            <a:r>
              <a:rPr lang="en-US" dirty="0" err="1"/>
              <a:t>ChatService.cs</a:t>
            </a:r>
            <a:endParaRPr lang="en-US" dirty="0"/>
          </a:p>
        </p:txBody>
      </p:sp>
      <p:sp>
        <p:nvSpPr>
          <p:cNvPr id="3" name="Picture Placeholder 2">
            <a:extLst>
              <a:ext uri="{FF2B5EF4-FFF2-40B4-BE49-F238E27FC236}">
                <a16:creationId xmlns:a16="http://schemas.microsoft.com/office/drawing/2014/main" id="{5673F99D-EC49-E1C1-AE8B-591E42AA70A2}"/>
              </a:ext>
            </a:extLst>
          </p:cNvPr>
          <p:cNvSpPr>
            <a:spLocks noGrp="1"/>
          </p:cNvSpPr>
          <p:nvPr>
            <p:ph type="pic" sz="quarter" idx="13"/>
          </p:nvPr>
        </p:nvSpPr>
        <p:spPr/>
        <p:txBody>
          <a:bodyPr/>
          <a:lstStyle/>
          <a:p>
            <a:endParaRPr lang="en-ZA"/>
          </a:p>
        </p:txBody>
      </p:sp>
      <p:sp>
        <p:nvSpPr>
          <p:cNvPr id="6" name="Slide Number Placeholder 5">
            <a:extLst>
              <a:ext uri="{FF2B5EF4-FFF2-40B4-BE49-F238E27FC236}">
                <a16:creationId xmlns:a16="http://schemas.microsoft.com/office/drawing/2014/main" id="{42150F52-D527-69FC-8E97-7F64E6AC481F}"/>
              </a:ext>
            </a:extLst>
          </p:cNvPr>
          <p:cNvSpPr>
            <a:spLocks noGrp="1"/>
          </p:cNvSpPr>
          <p:nvPr>
            <p:ph type="sldNum" sz="quarter" idx="18"/>
          </p:nvPr>
        </p:nvSpPr>
        <p:spPr/>
        <p:txBody>
          <a:bodyPr/>
          <a:lstStyle/>
          <a:p>
            <a:fld id="{24D65F33-A771-944D-9289-CA575F1D1B7F}" type="slidenum">
              <a:rPr lang="en-US" smtClean="0"/>
              <a:pPr/>
              <a:t>7</a:t>
            </a:fld>
            <a:endParaRPr lang="en-US"/>
          </a:p>
        </p:txBody>
      </p:sp>
      <p:sp>
        <p:nvSpPr>
          <p:cNvPr id="17" name="Text Placeholder 16">
            <a:extLst>
              <a:ext uri="{FF2B5EF4-FFF2-40B4-BE49-F238E27FC236}">
                <a16:creationId xmlns:a16="http://schemas.microsoft.com/office/drawing/2014/main" id="{9EB62227-6FA2-1BA1-2A61-150AA60C4B09}"/>
              </a:ext>
            </a:extLst>
          </p:cNvPr>
          <p:cNvSpPr>
            <a:spLocks noGrp="1"/>
          </p:cNvSpPr>
          <p:nvPr>
            <p:ph type="body" sz="quarter" idx="15"/>
          </p:nvPr>
        </p:nvSpPr>
        <p:spPr>
          <a:xfrm>
            <a:off x="6469788" y="1156595"/>
            <a:ext cx="5325972" cy="5580364"/>
          </a:xfrm>
        </p:spPr>
        <p:txBody>
          <a:bodyPr vert="horz" lIns="91440" tIns="45720" rIns="91440" bIns="45720" rtlCol="0" anchor="t">
            <a:normAutofit fontScale="25000" lnSpcReduction="20000"/>
          </a:bodyPr>
          <a:lstStyle/>
          <a:p>
            <a:r>
              <a:rPr lang="en-GB" dirty="0"/>
              <a:t>This is the largest and most important file. It contains the delegate definition and the </a:t>
            </a:r>
            <a:r>
              <a:rPr lang="en-GB" dirty="0" err="1"/>
              <a:t>ChatService</a:t>
            </a:r>
            <a:r>
              <a:rPr lang="en-GB" dirty="0"/>
              <a:t> class which is the brain of the entire bot.</a:t>
            </a:r>
          </a:p>
          <a:p>
            <a:br>
              <a:rPr lang="en-GB" dirty="0"/>
            </a:br>
            <a:endParaRPr lang="en-GB" dirty="0"/>
          </a:p>
          <a:p>
            <a:r>
              <a:rPr lang="en-GB" b="1" dirty="0"/>
              <a:t>The Delegate</a:t>
            </a:r>
          </a:p>
          <a:p>
            <a:r>
              <a:rPr lang="en-GB" b="1" dirty="0"/>
              <a:t>Declaration:</a:t>
            </a:r>
            <a:r>
              <a:rPr lang="en-GB" dirty="0"/>
              <a:t> public delegate string </a:t>
            </a:r>
            <a:r>
              <a:rPr lang="en-GB" dirty="0" err="1"/>
              <a:t>ResponseFormatter</a:t>
            </a:r>
            <a:r>
              <a:rPr lang="en-GB" dirty="0"/>
              <a:t>(string </a:t>
            </a:r>
            <a:r>
              <a:rPr lang="en-GB" dirty="0" err="1"/>
              <a:t>baseResponse</a:t>
            </a:r>
            <a:r>
              <a:rPr lang="en-GB" dirty="0"/>
              <a:t>, string sentiment, string </a:t>
            </a:r>
            <a:r>
              <a:rPr lang="en-GB" dirty="0" err="1"/>
              <a:t>userName</a:t>
            </a:r>
            <a:r>
              <a:rPr lang="en-GB" dirty="0"/>
              <a:t>, Dictionary&lt;string, string&gt; memory);</a:t>
            </a:r>
          </a:p>
          <a:p>
            <a:r>
              <a:rPr lang="en-GB" b="1" dirty="0"/>
              <a:t>What a delegate is:</a:t>
            </a:r>
            <a:r>
              <a:rPr lang="en-GB" dirty="0"/>
              <a:t> A delegate is a type that represents a reference to a method. Think of it as a variable that holds a function. Any method anywhere in the program that takes those exact four parameters and returns a string can be stored in a </a:t>
            </a:r>
            <a:r>
              <a:rPr lang="en-GB" dirty="0" err="1"/>
              <a:t>ResponseFormatter</a:t>
            </a:r>
            <a:r>
              <a:rPr lang="en-GB" dirty="0"/>
              <a:t> variable.</a:t>
            </a:r>
          </a:p>
          <a:p>
            <a:r>
              <a:rPr lang="en-GB" b="1" dirty="0"/>
              <a:t>Why it exists here:</a:t>
            </a:r>
            <a:r>
              <a:rPr lang="en-GB" dirty="0"/>
              <a:t> The delegate allows </a:t>
            </a:r>
            <a:r>
              <a:rPr lang="en-GB" dirty="0" err="1"/>
              <a:t>MainWindow</a:t>
            </a:r>
            <a:r>
              <a:rPr lang="en-GB" dirty="0"/>
              <a:t> to inject its own formatting logic into </a:t>
            </a:r>
            <a:r>
              <a:rPr lang="en-GB" dirty="0" err="1"/>
              <a:t>ChatService</a:t>
            </a:r>
            <a:r>
              <a:rPr lang="en-GB" dirty="0"/>
              <a:t> without </a:t>
            </a:r>
            <a:r>
              <a:rPr lang="en-GB" dirty="0" err="1"/>
              <a:t>ChatService</a:t>
            </a:r>
            <a:r>
              <a:rPr lang="en-GB" dirty="0"/>
              <a:t> needing to know any details about how formatting works. This is called the dependency injection pattern and it decouples the UI logic from the chat logic. </a:t>
            </a:r>
            <a:r>
              <a:rPr lang="en-GB" dirty="0" err="1"/>
              <a:t>ChatService</a:t>
            </a:r>
            <a:r>
              <a:rPr lang="en-GB" dirty="0"/>
              <a:t> just calls _</a:t>
            </a:r>
            <a:r>
              <a:rPr lang="en-GB" dirty="0" err="1"/>
              <a:t>formatResponse</a:t>
            </a:r>
            <a:r>
              <a:rPr lang="en-GB" dirty="0"/>
              <a:t>(...) — it has no idea whether the formatting adds prefixes, personalisation, or anything else. </a:t>
            </a:r>
            <a:r>
              <a:rPr lang="en-GB" dirty="0" err="1"/>
              <a:t>MainWindow</a:t>
            </a:r>
            <a:r>
              <a:rPr lang="en-GB" dirty="0"/>
              <a:t> decides that.</a:t>
            </a:r>
          </a:p>
          <a:p>
            <a:r>
              <a:rPr lang="en-GB" b="1" dirty="0"/>
              <a:t>The four parameters it defines:</a:t>
            </a:r>
            <a:endParaRPr lang="en-GB" dirty="0"/>
          </a:p>
          <a:p>
            <a:r>
              <a:rPr lang="en-GB" dirty="0" err="1"/>
              <a:t>baseResponse</a:t>
            </a:r>
            <a:r>
              <a:rPr lang="en-GB" dirty="0"/>
              <a:t> — the raw cybersecurity answer before any personalisation.</a:t>
            </a:r>
          </a:p>
          <a:p>
            <a:r>
              <a:rPr lang="en-GB" dirty="0"/>
              <a:t>sentiment — the detected emotional tone of the user's message (empathetic, enthusiastic, supportive, or neutral).</a:t>
            </a:r>
          </a:p>
          <a:p>
            <a:r>
              <a:rPr lang="en-GB" dirty="0" err="1"/>
              <a:t>userName</a:t>
            </a:r>
            <a:r>
              <a:rPr lang="en-GB" dirty="0"/>
              <a:t> — the name the user introduced themselves with.</a:t>
            </a:r>
          </a:p>
          <a:p>
            <a:r>
              <a:rPr lang="en-GB" dirty="0"/>
              <a:t>memory — the full _</a:t>
            </a:r>
            <a:r>
              <a:rPr lang="en-GB" dirty="0" err="1"/>
              <a:t>userMemory</a:t>
            </a:r>
            <a:r>
              <a:rPr lang="en-GB" dirty="0"/>
              <a:t> dictionary containing anything the bot has remembered about the user.</a:t>
            </a:r>
          </a:p>
          <a:p>
            <a:br>
              <a:rPr lang="en-GB" dirty="0"/>
            </a:br>
            <a:endParaRPr lang="en-GB" dirty="0"/>
          </a:p>
          <a:p>
            <a:r>
              <a:rPr lang="en-GB" b="1" dirty="0" err="1"/>
              <a:t>ChatService</a:t>
            </a:r>
            <a:r>
              <a:rPr lang="en-GB" b="1" dirty="0"/>
              <a:t> — Fields</a:t>
            </a:r>
          </a:p>
          <a:p>
            <a:r>
              <a:rPr lang="en-GB" dirty="0"/>
              <a:t>string </a:t>
            </a:r>
            <a:r>
              <a:rPr lang="en-GB" dirty="0" err="1"/>
              <a:t>UserName</a:t>
            </a:r>
            <a:r>
              <a:rPr lang="en-GB" dirty="0"/>
              <a:t> — public property, stores the user's name. Defaults to "User". Updated when the user introduces themselves.</a:t>
            </a:r>
          </a:p>
          <a:p>
            <a:r>
              <a:rPr lang="en-GB" dirty="0"/>
              <a:t>Dictionary&lt;string, string&gt; _definitions — the 40-keyword knowledge base passed in from </a:t>
            </a:r>
            <a:r>
              <a:rPr lang="en-GB" dirty="0" err="1"/>
              <a:t>MainWindow</a:t>
            </a:r>
            <a:r>
              <a:rPr lang="en-GB" dirty="0"/>
              <a:t>.</a:t>
            </a:r>
          </a:p>
          <a:p>
            <a:r>
              <a:rPr lang="en-GB" dirty="0"/>
              <a:t>Dictionary&lt;string, string&gt; _</a:t>
            </a:r>
            <a:r>
              <a:rPr lang="en-GB" dirty="0" err="1"/>
              <a:t>userMemory</a:t>
            </a:r>
            <a:r>
              <a:rPr lang="en-GB" dirty="0"/>
              <a:t> — stores facts remembered about the user during the session (name, interest). Created with </a:t>
            </a:r>
            <a:r>
              <a:rPr lang="en-GB" dirty="0" err="1"/>
              <a:t>OrdinalIgnoreCase</a:t>
            </a:r>
            <a:r>
              <a:rPr lang="en-GB" dirty="0"/>
              <a:t> so lookups work regardless of capitalisation.</a:t>
            </a:r>
          </a:p>
          <a:p>
            <a:r>
              <a:rPr lang="en-GB" dirty="0"/>
              <a:t>string _</a:t>
            </a:r>
            <a:r>
              <a:rPr lang="en-GB" dirty="0" err="1"/>
              <a:t>lastTopic</a:t>
            </a:r>
            <a:r>
              <a:rPr lang="en-GB" dirty="0"/>
              <a:t> — tracks which keyword was most recently matched. Used by the follow-up system to know what to expand on.</a:t>
            </a:r>
          </a:p>
          <a:p>
            <a:r>
              <a:rPr lang="en-GB" dirty="0"/>
              <a:t>List&lt;string&gt; _</a:t>
            </a:r>
            <a:r>
              <a:rPr lang="en-GB" dirty="0" err="1"/>
              <a:t>conversationHistory</a:t>
            </a:r>
            <a:r>
              <a:rPr lang="en-GB" dirty="0"/>
              <a:t> — a rolling list of the last 10 user messages. Capped at 10 to prevent unlimited memory growth.</a:t>
            </a:r>
          </a:p>
          <a:p>
            <a:r>
              <a:rPr lang="en-GB" dirty="0"/>
              <a:t>Random _random — a static Random instance shared across all calls for picking random responses. Marked static so there's only one instance — creating multiple Random objects quickly can produce the same sequence.</a:t>
            </a:r>
          </a:p>
          <a:p>
            <a:r>
              <a:rPr lang="en-GB" dirty="0" err="1"/>
              <a:t>ResponseFormatter</a:t>
            </a:r>
            <a:r>
              <a:rPr lang="en-GB" dirty="0"/>
              <a:t> _</a:t>
            </a:r>
            <a:r>
              <a:rPr lang="en-GB" dirty="0" err="1"/>
              <a:t>formatResponse</a:t>
            </a:r>
            <a:r>
              <a:rPr lang="en-GB" dirty="0"/>
              <a:t> — stores the delegate instance injected at construction.</a:t>
            </a:r>
          </a:p>
          <a:p>
            <a:br>
              <a:rPr lang="en-GB" dirty="0"/>
            </a:br>
            <a:endParaRPr lang="en-GB" dirty="0"/>
          </a:p>
          <a:p>
            <a:r>
              <a:rPr lang="en-GB" b="1" dirty="0" err="1"/>
              <a:t>ChatService</a:t>
            </a:r>
            <a:r>
              <a:rPr lang="en-GB" b="1" dirty="0"/>
              <a:t> — Constructor</a:t>
            </a:r>
          </a:p>
          <a:p>
            <a:r>
              <a:rPr lang="en-GB" b="1" dirty="0"/>
              <a:t>Signature:</a:t>
            </a:r>
            <a:r>
              <a:rPr lang="en-GB" dirty="0"/>
              <a:t> public </a:t>
            </a:r>
            <a:r>
              <a:rPr lang="en-GB" dirty="0" err="1"/>
              <a:t>ChatService</a:t>
            </a:r>
            <a:r>
              <a:rPr lang="en-GB" dirty="0"/>
              <a:t>(Dictionary&lt;string, string&gt; definitions, </a:t>
            </a:r>
            <a:r>
              <a:rPr lang="en-GB" dirty="0" err="1"/>
              <a:t>ResponseFormatter</a:t>
            </a:r>
            <a:r>
              <a:rPr lang="en-GB" dirty="0"/>
              <a:t> formatter)</a:t>
            </a:r>
          </a:p>
          <a:p>
            <a:r>
              <a:rPr lang="en-GB" b="1" dirty="0"/>
              <a:t>Segment breakdown:</a:t>
            </a:r>
            <a:endParaRPr lang="en-GB" dirty="0"/>
          </a:p>
          <a:p>
            <a:r>
              <a:rPr lang="en-GB" dirty="0"/>
              <a:t>_definitions = definitions — Saves the keyword dictionary. This dictionary is the entire knowledge base of the bot. </a:t>
            </a:r>
            <a:r>
              <a:rPr lang="en-GB" dirty="0" err="1"/>
              <a:t>ChatService</a:t>
            </a:r>
            <a:r>
              <a:rPr lang="en-GB" dirty="0"/>
              <a:t> doesn't build it — it receives it from </a:t>
            </a:r>
            <a:r>
              <a:rPr lang="en-GB" dirty="0" err="1"/>
              <a:t>MainWindow</a:t>
            </a:r>
            <a:r>
              <a:rPr lang="en-GB" dirty="0"/>
              <a:t>, keeping the two separated.</a:t>
            </a:r>
          </a:p>
          <a:p>
            <a:r>
              <a:rPr lang="en-GB" dirty="0"/>
              <a:t>_</a:t>
            </a:r>
            <a:r>
              <a:rPr lang="en-GB" dirty="0" err="1"/>
              <a:t>userMemory</a:t>
            </a:r>
            <a:r>
              <a:rPr lang="en-GB" dirty="0"/>
              <a:t> = new Dictionary&lt;string, string&gt;(</a:t>
            </a:r>
            <a:r>
              <a:rPr lang="en-GB" dirty="0" err="1"/>
              <a:t>StringComparer.OrdinalIgnoreCase</a:t>
            </a:r>
            <a:r>
              <a:rPr lang="en-GB" dirty="0"/>
              <a:t>) — Creates a fresh memory dictionary for this session. </a:t>
            </a:r>
            <a:r>
              <a:rPr lang="en-GB" dirty="0" err="1"/>
              <a:t>OrdinalIgnoreCase</a:t>
            </a:r>
            <a:r>
              <a:rPr lang="en-GB" dirty="0"/>
              <a:t> means that looking up "Name" and "name" are treated the same. This prevents bugs where memory fails to be retrieved due to capitalisation differences.</a:t>
            </a:r>
          </a:p>
          <a:p>
            <a:r>
              <a:rPr lang="en-GB" dirty="0"/>
              <a:t>_</a:t>
            </a:r>
            <a:r>
              <a:rPr lang="en-GB" dirty="0" err="1"/>
              <a:t>conversationHistory</a:t>
            </a:r>
            <a:r>
              <a:rPr lang="en-GB" dirty="0"/>
              <a:t> = new List&lt;string&gt;() — Creates an empty list to store the conversation rolling window.</a:t>
            </a:r>
          </a:p>
          <a:p>
            <a:r>
              <a:rPr lang="en-GB" dirty="0"/>
              <a:t>_</a:t>
            </a:r>
            <a:r>
              <a:rPr lang="en-GB" dirty="0" err="1"/>
              <a:t>formatResponse</a:t>
            </a:r>
            <a:r>
              <a:rPr lang="en-GB" dirty="0"/>
              <a:t> = formatter — Saves the delegate. Every time a response is ready to return, it passes through this delegate first, which adds sentiment-based prefixes and user personalisation.</a:t>
            </a:r>
          </a:p>
          <a:p>
            <a:br>
              <a:rPr lang="en-GB" dirty="0"/>
            </a:br>
            <a:endParaRPr lang="en-GB" dirty="0"/>
          </a:p>
          <a:p>
            <a:endParaRPr lang="en-US" dirty="0"/>
          </a:p>
        </p:txBody>
      </p:sp>
      <p:sp>
        <p:nvSpPr>
          <p:cNvPr id="23" name="Subtitle 22">
            <a:extLst>
              <a:ext uri="{FF2B5EF4-FFF2-40B4-BE49-F238E27FC236}">
                <a16:creationId xmlns:a16="http://schemas.microsoft.com/office/drawing/2014/main" id="{F985D976-0607-ADA8-2D5E-AB7B2B2E629D}"/>
              </a:ext>
            </a:extLst>
          </p:cNvPr>
          <p:cNvSpPr>
            <a:spLocks noGrp="1"/>
          </p:cNvSpPr>
          <p:nvPr>
            <p:ph type="body" sz="quarter" idx="4294967295"/>
          </p:nvPr>
        </p:nvSpPr>
        <p:spPr>
          <a:xfrm>
            <a:off x="6569663" y="121041"/>
            <a:ext cx="4703762" cy="757238"/>
          </a:xfrm>
        </p:spPr>
        <p:txBody>
          <a:bodyPr vert="horz" lIns="91440" tIns="45720" rIns="91440" bIns="45720" rtlCol="0" anchor="t">
            <a:normAutofit/>
          </a:bodyPr>
          <a:lstStyle/>
          <a:p>
            <a:r>
              <a:rPr lang="en-US" err="1">
                <a:latin typeface="Avenir Next LT Pro Light"/>
              </a:rPr>
              <a:t>Moyagabo</a:t>
            </a:r>
            <a:r>
              <a:rPr lang="en-US">
                <a:latin typeface="Avenir Next LT Pro Light"/>
              </a:rPr>
              <a:t> </a:t>
            </a:r>
            <a:r>
              <a:rPr lang="en-US" err="1">
                <a:latin typeface="Avenir Next LT Pro Light"/>
              </a:rPr>
              <a:t>Raphasha</a:t>
            </a:r>
          </a:p>
        </p:txBody>
      </p:sp>
      <p:pic>
        <p:nvPicPr>
          <p:cNvPr id="26" name="Picture Placeholder 25" descr="A close up of a rainbow showing only shades of yellow and orange">
            <a:extLst>
              <a:ext uri="{FF2B5EF4-FFF2-40B4-BE49-F238E27FC236}">
                <a16:creationId xmlns:a16="http://schemas.microsoft.com/office/drawing/2014/main" id="{6766BB08-A76E-66F9-EA16-823889F48E38}"/>
              </a:ext>
            </a:extLst>
          </p:cNvPr>
          <p:cNvPicPr>
            <a:picLocks noGrp="1" noChangeAspect="1"/>
          </p:cNvPicPr>
          <p:nvPr>
            <p:ph type="pic" sz="quarter" idx="4294967295"/>
          </p:nvPr>
        </p:nvPicPr>
        <p:blipFill>
          <a:blip r:embed="rId2"/>
          <a:srcRect t="33" b="33"/>
          <a:stretch/>
        </p:blipFill>
        <p:spPr>
          <a:xfrm>
            <a:off x="0" y="2122488"/>
            <a:ext cx="5905500" cy="2606675"/>
          </a:xfrm>
        </p:spPr>
      </p:pic>
    </p:spTree>
    <p:extLst>
      <p:ext uri="{BB962C8B-B14F-4D97-AF65-F5344CB8AC3E}">
        <p14:creationId xmlns:p14="http://schemas.microsoft.com/office/powerpoint/2010/main" val="21754860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8F7AA-A0EB-B08A-6F9F-8B4C7D0FEC32}"/>
            </a:ext>
          </a:extLst>
        </p:cNvPr>
        <p:cNvGrpSpPr/>
        <p:nvPr/>
      </p:nvGrpSpPr>
      <p:grpSpPr>
        <a:xfrm>
          <a:off x="0" y="0"/>
          <a:ext cx="0" cy="0"/>
          <a:chOff x="0" y="0"/>
          <a:chExt cx="0" cy="0"/>
        </a:xfrm>
      </p:grpSpPr>
      <p:sp>
        <p:nvSpPr>
          <p:cNvPr id="22" name="Title 21">
            <a:extLst>
              <a:ext uri="{FF2B5EF4-FFF2-40B4-BE49-F238E27FC236}">
                <a16:creationId xmlns:a16="http://schemas.microsoft.com/office/drawing/2014/main" id="{E03B21C6-0A5E-0ADA-47D3-7712DB52CADB}"/>
              </a:ext>
            </a:extLst>
          </p:cNvPr>
          <p:cNvSpPr>
            <a:spLocks noGrp="1"/>
          </p:cNvSpPr>
          <p:nvPr>
            <p:ph type="title"/>
          </p:nvPr>
        </p:nvSpPr>
        <p:spPr>
          <a:xfrm>
            <a:off x="6843093" y="-1470489"/>
            <a:ext cx="4158284" cy="2614292"/>
          </a:xfrm>
        </p:spPr>
        <p:txBody>
          <a:bodyPr/>
          <a:lstStyle/>
          <a:p>
            <a:r>
              <a:rPr lang="en-US" dirty="0" err="1"/>
              <a:t>ChatService.cs</a:t>
            </a:r>
            <a:endParaRPr lang="en-US" dirty="0"/>
          </a:p>
        </p:txBody>
      </p:sp>
      <p:sp>
        <p:nvSpPr>
          <p:cNvPr id="3" name="Picture Placeholder 2">
            <a:extLst>
              <a:ext uri="{FF2B5EF4-FFF2-40B4-BE49-F238E27FC236}">
                <a16:creationId xmlns:a16="http://schemas.microsoft.com/office/drawing/2014/main" id="{B2B248E8-0DE0-6DBA-B5B4-D358AF39E928}"/>
              </a:ext>
            </a:extLst>
          </p:cNvPr>
          <p:cNvSpPr>
            <a:spLocks noGrp="1"/>
          </p:cNvSpPr>
          <p:nvPr>
            <p:ph type="pic" sz="quarter" idx="13"/>
          </p:nvPr>
        </p:nvSpPr>
        <p:spPr/>
        <p:txBody>
          <a:bodyPr/>
          <a:lstStyle/>
          <a:p>
            <a:endParaRPr lang="en-ZA"/>
          </a:p>
        </p:txBody>
      </p:sp>
      <p:sp>
        <p:nvSpPr>
          <p:cNvPr id="6" name="Slide Number Placeholder 5">
            <a:extLst>
              <a:ext uri="{FF2B5EF4-FFF2-40B4-BE49-F238E27FC236}">
                <a16:creationId xmlns:a16="http://schemas.microsoft.com/office/drawing/2014/main" id="{B5190EFF-B842-FB70-4423-3F56BF233997}"/>
              </a:ext>
            </a:extLst>
          </p:cNvPr>
          <p:cNvSpPr>
            <a:spLocks noGrp="1"/>
          </p:cNvSpPr>
          <p:nvPr>
            <p:ph type="sldNum" sz="quarter" idx="18"/>
          </p:nvPr>
        </p:nvSpPr>
        <p:spPr/>
        <p:txBody>
          <a:bodyPr/>
          <a:lstStyle/>
          <a:p>
            <a:fld id="{24D65F33-A771-944D-9289-CA575F1D1B7F}" type="slidenum">
              <a:rPr lang="en-US" smtClean="0"/>
              <a:pPr/>
              <a:t>8</a:t>
            </a:fld>
            <a:endParaRPr lang="en-US"/>
          </a:p>
        </p:txBody>
      </p:sp>
      <p:sp>
        <p:nvSpPr>
          <p:cNvPr id="17" name="Text Placeholder 16">
            <a:extLst>
              <a:ext uri="{FF2B5EF4-FFF2-40B4-BE49-F238E27FC236}">
                <a16:creationId xmlns:a16="http://schemas.microsoft.com/office/drawing/2014/main" id="{393989FB-0AFC-280C-2829-12D417B6F5BD}"/>
              </a:ext>
            </a:extLst>
          </p:cNvPr>
          <p:cNvSpPr>
            <a:spLocks noGrp="1"/>
          </p:cNvSpPr>
          <p:nvPr>
            <p:ph type="body" sz="quarter" idx="15"/>
          </p:nvPr>
        </p:nvSpPr>
        <p:spPr>
          <a:xfrm>
            <a:off x="6469788" y="1156595"/>
            <a:ext cx="5325972" cy="5580364"/>
          </a:xfrm>
        </p:spPr>
        <p:txBody>
          <a:bodyPr vert="horz" lIns="91440" tIns="45720" rIns="91440" bIns="45720" rtlCol="0" anchor="t">
            <a:normAutofit fontScale="40000" lnSpcReduction="20000"/>
          </a:bodyPr>
          <a:lstStyle/>
          <a:p>
            <a:r>
              <a:rPr lang="en-GB" b="1" dirty="0" err="1"/>
              <a:t>ChatService</a:t>
            </a:r>
            <a:r>
              <a:rPr lang="en-GB" b="1" dirty="0"/>
              <a:t> — </a:t>
            </a:r>
            <a:r>
              <a:rPr lang="en-GB" b="1" dirty="0" err="1"/>
              <a:t>GetResponse</a:t>
            </a:r>
            <a:r>
              <a:rPr lang="en-GB" b="1" dirty="0"/>
              <a:t>() Method</a:t>
            </a:r>
          </a:p>
          <a:p>
            <a:r>
              <a:rPr lang="en-GB" dirty="0"/>
              <a:t>This is the core method. Every single time the user sends a message, this method runs. It processes the input through 7 sequential checks and returns a string that becomes the bot's reply.</a:t>
            </a:r>
          </a:p>
          <a:p>
            <a:r>
              <a:rPr lang="en-GB" b="1" dirty="0"/>
              <a:t>Opening lines:</a:t>
            </a:r>
            <a:endParaRPr lang="en-GB" dirty="0"/>
          </a:p>
          <a:p>
            <a:r>
              <a:rPr lang="en-GB" dirty="0"/>
              <a:t>string input = </a:t>
            </a:r>
            <a:r>
              <a:rPr lang="en-GB" dirty="0" err="1"/>
              <a:t>userInput.ToLower</a:t>
            </a:r>
            <a:r>
              <a:rPr lang="en-GB" dirty="0"/>
              <a:t>().Trim();</a:t>
            </a:r>
          </a:p>
          <a:p>
            <a:r>
              <a:rPr lang="en-GB" dirty="0"/>
              <a:t>_</a:t>
            </a:r>
            <a:r>
              <a:rPr lang="en-GB" dirty="0" err="1"/>
              <a:t>conversationHistory.Add</a:t>
            </a:r>
            <a:r>
              <a:rPr lang="en-GB" dirty="0"/>
              <a:t>(</a:t>
            </a:r>
            <a:r>
              <a:rPr lang="en-GB" dirty="0" err="1"/>
              <a:t>userInput</a:t>
            </a:r>
            <a:r>
              <a:rPr lang="en-GB" dirty="0"/>
              <a:t>);</a:t>
            </a:r>
          </a:p>
          <a:p>
            <a:r>
              <a:rPr lang="en-GB" dirty="0"/>
              <a:t>if (_</a:t>
            </a:r>
            <a:r>
              <a:rPr lang="en-GB" dirty="0" err="1"/>
              <a:t>conversationHistory.Count</a:t>
            </a:r>
            <a:r>
              <a:rPr lang="en-GB" dirty="0"/>
              <a:t> &gt; 10) _</a:t>
            </a:r>
            <a:r>
              <a:rPr lang="en-GB" dirty="0" err="1"/>
              <a:t>conversationHistory.RemoveAt</a:t>
            </a:r>
            <a:r>
              <a:rPr lang="en-GB" dirty="0"/>
              <a:t>(0);</a:t>
            </a:r>
          </a:p>
          <a:p>
            <a:r>
              <a:rPr lang="en-GB" dirty="0" err="1"/>
              <a:t>ToLower</a:t>
            </a:r>
            <a:r>
              <a:rPr lang="en-GB" dirty="0"/>
              <a:t>() normalises the input so all keyword comparisons are case-insensitive. The user can type "PASSWORD" or "password" and the result is the same.</a:t>
            </a:r>
          </a:p>
          <a:p>
            <a:r>
              <a:rPr lang="en-GB" dirty="0"/>
              <a:t>Trim() removes accidental leading and trailing spaces that would break string comparisons.</a:t>
            </a:r>
          </a:p>
          <a:p>
            <a:r>
              <a:rPr lang="en-GB" dirty="0"/>
              <a:t>The history list stores the original (not lowercased) message for readability. If it exceeds 10 entries, the oldest one (index 0) is deleted — this is a sliding window pattern.</a:t>
            </a:r>
          </a:p>
          <a:p>
            <a:br>
              <a:rPr lang="en-GB" dirty="0"/>
            </a:br>
            <a:endParaRPr lang="en-GB" dirty="0"/>
          </a:p>
          <a:p>
            <a:r>
              <a:rPr lang="en-GB" b="1" dirty="0"/>
              <a:t>Segment 1 — Save Name (Memory)</a:t>
            </a:r>
            <a:endParaRPr lang="en-GB" dirty="0"/>
          </a:p>
          <a:p>
            <a:r>
              <a:rPr lang="en-GB" dirty="0"/>
              <a:t>if (</a:t>
            </a:r>
            <a:r>
              <a:rPr lang="en-GB" dirty="0" err="1"/>
              <a:t>input.Contains</a:t>
            </a:r>
            <a:r>
              <a:rPr lang="en-GB" dirty="0"/>
              <a:t>("my name is") || </a:t>
            </a:r>
            <a:r>
              <a:rPr lang="en-GB" dirty="0" err="1"/>
              <a:t>input.Contains</a:t>
            </a:r>
            <a:r>
              <a:rPr lang="en-GB" dirty="0"/>
              <a:t>("call me"))</a:t>
            </a:r>
          </a:p>
          <a:p>
            <a:r>
              <a:rPr lang="en-GB" dirty="0"/>
              <a:t>Checks whether the user is introducing themselves.</a:t>
            </a:r>
          </a:p>
          <a:p>
            <a:r>
              <a:rPr lang="en-GB" dirty="0"/>
              <a:t>If true, it splits the sentence on the trigger phrase and takes everything that comes after it as the name.</a:t>
            </a:r>
          </a:p>
          <a:p>
            <a:r>
              <a:rPr lang="en-GB" dirty="0"/>
              <a:t>Split(..., </a:t>
            </a:r>
            <a:r>
              <a:rPr lang="en-GB" dirty="0" err="1"/>
              <a:t>StringSplitOptions.RemoveEmptyEntries</a:t>
            </a:r>
            <a:r>
              <a:rPr lang="en-GB" dirty="0"/>
              <a:t>).</a:t>
            </a:r>
            <a:r>
              <a:rPr lang="en-GB" dirty="0" err="1"/>
              <a:t>LastOrDefault</a:t>
            </a:r>
            <a:r>
              <a:rPr lang="en-GB" dirty="0"/>
              <a:t>()?.Trim() — Split breaks the sentence at the phrase, </a:t>
            </a:r>
            <a:r>
              <a:rPr lang="en-GB" dirty="0" err="1"/>
              <a:t>RemoveEmptyEntries</a:t>
            </a:r>
            <a:r>
              <a:rPr lang="en-GB" dirty="0"/>
              <a:t> drops blank pieces, </a:t>
            </a:r>
            <a:r>
              <a:rPr lang="en-GB" dirty="0" err="1"/>
              <a:t>LastOrDefault</a:t>
            </a:r>
            <a:r>
              <a:rPr lang="en-GB" dirty="0"/>
              <a:t> takes the last piece (everything after the phrase), and the null-conditional operator ?. prevents a crash if nothing follows the phrase.</a:t>
            </a:r>
          </a:p>
          <a:p>
            <a:r>
              <a:rPr lang="en-GB" dirty="0"/>
              <a:t>If the extracted name is not blank, it is saved both to </a:t>
            </a:r>
            <a:r>
              <a:rPr lang="en-GB" dirty="0" err="1"/>
              <a:t>UserName</a:t>
            </a:r>
            <a:r>
              <a:rPr lang="en-GB" dirty="0"/>
              <a:t> (the public property) and to _</a:t>
            </a:r>
            <a:r>
              <a:rPr lang="en-GB" dirty="0" err="1"/>
              <a:t>userMemory</a:t>
            </a:r>
            <a:r>
              <a:rPr lang="en-GB" dirty="0"/>
              <a:t>["name"].</a:t>
            </a:r>
          </a:p>
          <a:p>
            <a:r>
              <a:rPr lang="en-GB" dirty="0"/>
              <a:t>The method returns immediately with a greeting so the bot doesn't try to match keywords against a name.</a:t>
            </a:r>
          </a:p>
          <a:p>
            <a:br>
              <a:rPr lang="en-GB" dirty="0"/>
            </a:br>
            <a:endParaRPr lang="en-GB" dirty="0"/>
          </a:p>
          <a:p>
            <a:r>
              <a:rPr lang="en-GB" b="1" dirty="0"/>
              <a:t>Segment 2 — Save Interest (Memory)</a:t>
            </a:r>
            <a:endParaRPr lang="en-GB" dirty="0"/>
          </a:p>
          <a:p>
            <a:r>
              <a:rPr lang="en-GB" dirty="0"/>
              <a:t>if (</a:t>
            </a:r>
            <a:r>
              <a:rPr lang="en-GB" dirty="0" err="1"/>
              <a:t>input.Contains</a:t>
            </a:r>
            <a:r>
              <a:rPr lang="en-GB" dirty="0"/>
              <a:t>("interested in") || </a:t>
            </a:r>
            <a:r>
              <a:rPr lang="en-GB" dirty="0" err="1"/>
              <a:t>input.Contains</a:t>
            </a:r>
            <a:r>
              <a:rPr lang="en-GB" dirty="0"/>
              <a:t>("want to learn about"))</a:t>
            </a:r>
          </a:p>
          <a:p>
            <a:r>
              <a:rPr lang="en-GB" dirty="0"/>
              <a:t>Same pattern as name saving but for a topic of interest.</a:t>
            </a:r>
          </a:p>
          <a:p>
            <a:r>
              <a:rPr lang="en-GB" dirty="0"/>
              <a:t>The extracted topic is stored in _</a:t>
            </a:r>
            <a:r>
              <a:rPr lang="en-GB" dirty="0" err="1"/>
              <a:t>userMemory</a:t>
            </a:r>
            <a:r>
              <a:rPr lang="en-GB" dirty="0"/>
              <a:t>["interest"].</a:t>
            </a:r>
          </a:p>
          <a:p>
            <a:r>
              <a:rPr lang="en-GB" dirty="0"/>
              <a:t>The delegate formatter later reads this to add personalised context to every response: "As someone interested in privacy, here's what you should know..."</a:t>
            </a:r>
          </a:p>
          <a:p>
            <a:r>
              <a:rPr lang="en-GB" dirty="0"/>
              <a:t>Returns immediately after saving.</a:t>
            </a:r>
          </a:p>
          <a:p>
            <a:endParaRPr lang="en-US" dirty="0"/>
          </a:p>
        </p:txBody>
      </p:sp>
      <p:sp>
        <p:nvSpPr>
          <p:cNvPr id="23" name="Subtitle 22">
            <a:extLst>
              <a:ext uri="{FF2B5EF4-FFF2-40B4-BE49-F238E27FC236}">
                <a16:creationId xmlns:a16="http://schemas.microsoft.com/office/drawing/2014/main" id="{41160EF4-4589-753C-AF9A-6E6E929D0002}"/>
              </a:ext>
            </a:extLst>
          </p:cNvPr>
          <p:cNvSpPr>
            <a:spLocks noGrp="1"/>
          </p:cNvSpPr>
          <p:nvPr>
            <p:ph type="body" sz="quarter" idx="4294967295"/>
          </p:nvPr>
        </p:nvSpPr>
        <p:spPr>
          <a:xfrm>
            <a:off x="6569663" y="121041"/>
            <a:ext cx="4703762" cy="757238"/>
          </a:xfrm>
        </p:spPr>
        <p:txBody>
          <a:bodyPr vert="horz" lIns="91440" tIns="45720" rIns="91440" bIns="45720" rtlCol="0" anchor="t">
            <a:normAutofit/>
          </a:bodyPr>
          <a:lstStyle/>
          <a:p>
            <a:r>
              <a:rPr lang="en-US" err="1">
                <a:latin typeface="Avenir Next LT Pro Light"/>
              </a:rPr>
              <a:t>Moyagabo</a:t>
            </a:r>
            <a:r>
              <a:rPr lang="en-US">
                <a:latin typeface="Avenir Next LT Pro Light"/>
              </a:rPr>
              <a:t> </a:t>
            </a:r>
            <a:r>
              <a:rPr lang="en-US" err="1">
                <a:latin typeface="Avenir Next LT Pro Light"/>
              </a:rPr>
              <a:t>Raphasha</a:t>
            </a:r>
          </a:p>
        </p:txBody>
      </p:sp>
      <p:pic>
        <p:nvPicPr>
          <p:cNvPr id="26" name="Picture Placeholder 25" descr="A close up of a rainbow showing only shades of yellow and orange">
            <a:extLst>
              <a:ext uri="{FF2B5EF4-FFF2-40B4-BE49-F238E27FC236}">
                <a16:creationId xmlns:a16="http://schemas.microsoft.com/office/drawing/2014/main" id="{70ADE146-F59C-0103-C8C6-8F9C3DC4980A}"/>
              </a:ext>
            </a:extLst>
          </p:cNvPr>
          <p:cNvPicPr>
            <a:picLocks noGrp="1" noChangeAspect="1"/>
          </p:cNvPicPr>
          <p:nvPr>
            <p:ph type="pic" sz="quarter" idx="4294967295"/>
          </p:nvPr>
        </p:nvPicPr>
        <p:blipFill>
          <a:blip r:embed="rId2"/>
          <a:srcRect t="33" b="33"/>
          <a:stretch/>
        </p:blipFill>
        <p:spPr>
          <a:xfrm>
            <a:off x="0" y="2122488"/>
            <a:ext cx="5905500" cy="2606675"/>
          </a:xfrm>
        </p:spPr>
      </p:pic>
    </p:spTree>
    <p:extLst>
      <p:ext uri="{BB962C8B-B14F-4D97-AF65-F5344CB8AC3E}">
        <p14:creationId xmlns:p14="http://schemas.microsoft.com/office/powerpoint/2010/main" val="21110088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1AA74-3015-75C5-898F-496D24F0B916}"/>
            </a:ext>
          </a:extLst>
        </p:cNvPr>
        <p:cNvGrpSpPr/>
        <p:nvPr/>
      </p:nvGrpSpPr>
      <p:grpSpPr>
        <a:xfrm>
          <a:off x="0" y="0"/>
          <a:ext cx="0" cy="0"/>
          <a:chOff x="0" y="0"/>
          <a:chExt cx="0" cy="0"/>
        </a:xfrm>
      </p:grpSpPr>
      <p:sp>
        <p:nvSpPr>
          <p:cNvPr id="22" name="Title 21">
            <a:extLst>
              <a:ext uri="{FF2B5EF4-FFF2-40B4-BE49-F238E27FC236}">
                <a16:creationId xmlns:a16="http://schemas.microsoft.com/office/drawing/2014/main" id="{7551D6B8-CF16-C7C2-257E-62B60AD749DF}"/>
              </a:ext>
            </a:extLst>
          </p:cNvPr>
          <p:cNvSpPr>
            <a:spLocks noGrp="1"/>
          </p:cNvSpPr>
          <p:nvPr>
            <p:ph type="title"/>
          </p:nvPr>
        </p:nvSpPr>
        <p:spPr>
          <a:xfrm>
            <a:off x="6843093" y="-1470489"/>
            <a:ext cx="4158284" cy="2614292"/>
          </a:xfrm>
        </p:spPr>
        <p:txBody>
          <a:bodyPr/>
          <a:lstStyle/>
          <a:p>
            <a:r>
              <a:rPr lang="en-US" dirty="0" err="1"/>
              <a:t>ChatService.cs</a:t>
            </a:r>
            <a:endParaRPr lang="en-US" dirty="0"/>
          </a:p>
        </p:txBody>
      </p:sp>
      <p:sp>
        <p:nvSpPr>
          <p:cNvPr id="3" name="Picture Placeholder 2">
            <a:extLst>
              <a:ext uri="{FF2B5EF4-FFF2-40B4-BE49-F238E27FC236}">
                <a16:creationId xmlns:a16="http://schemas.microsoft.com/office/drawing/2014/main" id="{2E2A4302-8516-A2FE-5AB1-6ACB515E1DD5}"/>
              </a:ext>
            </a:extLst>
          </p:cNvPr>
          <p:cNvSpPr>
            <a:spLocks noGrp="1"/>
          </p:cNvSpPr>
          <p:nvPr>
            <p:ph type="pic" sz="quarter" idx="13"/>
          </p:nvPr>
        </p:nvSpPr>
        <p:spPr/>
        <p:txBody>
          <a:bodyPr/>
          <a:lstStyle/>
          <a:p>
            <a:endParaRPr lang="en-ZA"/>
          </a:p>
        </p:txBody>
      </p:sp>
      <p:sp>
        <p:nvSpPr>
          <p:cNvPr id="6" name="Slide Number Placeholder 5">
            <a:extLst>
              <a:ext uri="{FF2B5EF4-FFF2-40B4-BE49-F238E27FC236}">
                <a16:creationId xmlns:a16="http://schemas.microsoft.com/office/drawing/2014/main" id="{8F7AB518-DFEC-26BA-AF79-12350E01BF6B}"/>
              </a:ext>
            </a:extLst>
          </p:cNvPr>
          <p:cNvSpPr>
            <a:spLocks noGrp="1"/>
          </p:cNvSpPr>
          <p:nvPr>
            <p:ph type="sldNum" sz="quarter" idx="18"/>
          </p:nvPr>
        </p:nvSpPr>
        <p:spPr/>
        <p:txBody>
          <a:bodyPr/>
          <a:lstStyle/>
          <a:p>
            <a:fld id="{24D65F33-A771-944D-9289-CA575F1D1B7F}" type="slidenum">
              <a:rPr lang="en-US" smtClean="0"/>
              <a:pPr/>
              <a:t>9</a:t>
            </a:fld>
            <a:endParaRPr lang="en-US"/>
          </a:p>
        </p:txBody>
      </p:sp>
      <p:sp>
        <p:nvSpPr>
          <p:cNvPr id="17" name="Text Placeholder 16">
            <a:extLst>
              <a:ext uri="{FF2B5EF4-FFF2-40B4-BE49-F238E27FC236}">
                <a16:creationId xmlns:a16="http://schemas.microsoft.com/office/drawing/2014/main" id="{6C2EAE35-C1F6-5FDB-DA72-865343CAB426}"/>
              </a:ext>
            </a:extLst>
          </p:cNvPr>
          <p:cNvSpPr>
            <a:spLocks noGrp="1"/>
          </p:cNvSpPr>
          <p:nvPr>
            <p:ph type="body" sz="quarter" idx="15"/>
          </p:nvPr>
        </p:nvSpPr>
        <p:spPr>
          <a:xfrm>
            <a:off x="6469788" y="1156595"/>
            <a:ext cx="5325972" cy="5580364"/>
          </a:xfrm>
        </p:spPr>
        <p:txBody>
          <a:bodyPr vert="horz" lIns="91440" tIns="45720" rIns="91440" bIns="45720" rtlCol="0" anchor="t">
            <a:normAutofit fontScale="40000" lnSpcReduction="20000"/>
          </a:bodyPr>
          <a:lstStyle/>
          <a:p>
            <a:r>
              <a:rPr lang="en-GB" b="1" dirty="0"/>
              <a:t>Segment 3 — Sentiment Detection</a:t>
            </a:r>
            <a:endParaRPr lang="en-GB" dirty="0"/>
          </a:p>
          <a:p>
            <a:r>
              <a:rPr lang="en-GB" dirty="0"/>
              <a:t>string sentiment = </a:t>
            </a:r>
            <a:r>
              <a:rPr lang="en-GB" dirty="0" err="1"/>
              <a:t>DetectSentiment</a:t>
            </a:r>
            <a:r>
              <a:rPr lang="en-GB" dirty="0"/>
              <a:t>(input);</a:t>
            </a:r>
          </a:p>
          <a:p>
            <a:r>
              <a:rPr lang="en-GB" dirty="0"/>
              <a:t>Calls the private helper </a:t>
            </a:r>
            <a:r>
              <a:rPr lang="en-GB" dirty="0" err="1"/>
              <a:t>DetectSentiment</a:t>
            </a:r>
            <a:r>
              <a:rPr lang="en-GB" dirty="0"/>
              <a:t>() and stores the result in a local variable.</a:t>
            </a:r>
          </a:p>
          <a:p>
            <a:r>
              <a:rPr lang="en-GB" dirty="0"/>
              <a:t>This result is passed into the delegate at the end of every matched response.</a:t>
            </a:r>
          </a:p>
          <a:p>
            <a:r>
              <a:rPr lang="en-GB" dirty="0"/>
              <a:t>The sentiment detection itself uses Contains() checks on specific emotional keywords and returns one of four labels: "empathetic", "enthusiastic", "supportive", or "neutral".</a:t>
            </a:r>
          </a:p>
          <a:p>
            <a:r>
              <a:rPr lang="en-GB" dirty="0"/>
              <a:t>The delegate then maps these to prefix sentences that are prepended to the response.</a:t>
            </a:r>
          </a:p>
          <a:p>
            <a:br>
              <a:rPr lang="en-GB" dirty="0"/>
            </a:br>
            <a:endParaRPr lang="en-GB" dirty="0"/>
          </a:p>
          <a:p>
            <a:r>
              <a:rPr lang="en-GB" b="1" dirty="0"/>
              <a:t>Segment 4 — Follow-up Check</a:t>
            </a:r>
            <a:endParaRPr lang="en-GB" dirty="0"/>
          </a:p>
          <a:p>
            <a:r>
              <a:rPr lang="en-GB" dirty="0"/>
              <a:t>if (</a:t>
            </a:r>
            <a:r>
              <a:rPr lang="en-GB" dirty="0" err="1"/>
              <a:t>IsFollowUp</a:t>
            </a:r>
            <a:r>
              <a:rPr lang="en-GB" dirty="0"/>
              <a:t>(input) &amp;&amp; !</a:t>
            </a:r>
            <a:r>
              <a:rPr lang="en-GB" dirty="0" err="1"/>
              <a:t>string.IsNullOrEmpty</a:t>
            </a:r>
            <a:r>
              <a:rPr lang="en-GB" dirty="0"/>
              <a:t>(_</a:t>
            </a:r>
            <a:r>
              <a:rPr lang="en-GB" dirty="0" err="1"/>
              <a:t>lastTopic</a:t>
            </a:r>
            <a:r>
              <a:rPr lang="en-GB" dirty="0"/>
              <a:t>))</a:t>
            </a:r>
          </a:p>
          <a:p>
            <a:r>
              <a:rPr lang="en-GB" dirty="0" err="1"/>
              <a:t>IsFollowUp</a:t>
            </a:r>
            <a:r>
              <a:rPr lang="en-GB" dirty="0"/>
              <a:t>() checks whether the user typed a continuation phrase (read more, explain, tell me more).</a:t>
            </a:r>
          </a:p>
          <a:p>
            <a:r>
              <a:rPr lang="en-GB" dirty="0"/>
              <a:t>If true AND there is a previously matched topic stored in _</a:t>
            </a:r>
            <a:r>
              <a:rPr lang="en-GB" dirty="0" err="1"/>
              <a:t>lastTopic</a:t>
            </a:r>
            <a:r>
              <a:rPr lang="en-GB" dirty="0"/>
              <a:t>, the method calls </a:t>
            </a:r>
            <a:r>
              <a:rPr lang="en-GB" dirty="0" err="1"/>
              <a:t>GetFollowUpContent</a:t>
            </a:r>
            <a:r>
              <a:rPr lang="en-GB" dirty="0"/>
              <a:t>(_</a:t>
            </a:r>
            <a:r>
              <a:rPr lang="en-GB" dirty="0" err="1"/>
              <a:t>lastTopic</a:t>
            </a:r>
            <a:r>
              <a:rPr lang="en-GB" dirty="0"/>
              <a:t>) to get extended information on that topic.</a:t>
            </a:r>
          </a:p>
          <a:p>
            <a:r>
              <a:rPr lang="en-GB" dirty="0"/>
              <a:t>The result goes through the delegate formatter and is returned immediately.</a:t>
            </a:r>
          </a:p>
          <a:p>
            <a:r>
              <a:rPr lang="en-GB" dirty="0"/>
              <a:t>This creates a conversational flow — the user doesn't have to repeat the topic to get more information.</a:t>
            </a:r>
          </a:p>
          <a:p>
            <a:br>
              <a:rPr lang="en-GB" dirty="0"/>
            </a:br>
            <a:endParaRPr lang="en-GB" dirty="0"/>
          </a:p>
          <a:p>
            <a:r>
              <a:rPr lang="en-GB" b="1" dirty="0"/>
              <a:t>Segment 5 — Keyword Recognition</a:t>
            </a:r>
            <a:endParaRPr lang="en-GB" dirty="0"/>
          </a:p>
          <a:p>
            <a:r>
              <a:rPr lang="en-GB" dirty="0"/>
              <a:t>var </a:t>
            </a:r>
            <a:r>
              <a:rPr lang="en-GB" dirty="0" err="1"/>
              <a:t>matchedKeyword</a:t>
            </a:r>
            <a:r>
              <a:rPr lang="en-GB" dirty="0"/>
              <a:t> = _</a:t>
            </a:r>
            <a:r>
              <a:rPr lang="en-GB" dirty="0" err="1"/>
              <a:t>definitions.Keys</a:t>
            </a:r>
            <a:endParaRPr lang="en-GB" dirty="0"/>
          </a:p>
          <a:p>
            <a:r>
              <a:rPr lang="en-GB" dirty="0"/>
              <a:t>    .</a:t>
            </a:r>
            <a:r>
              <a:rPr lang="en-GB" dirty="0" err="1"/>
              <a:t>OrderByDescending</a:t>
            </a:r>
            <a:r>
              <a:rPr lang="en-GB" dirty="0"/>
              <a:t>(k =&gt; </a:t>
            </a:r>
            <a:r>
              <a:rPr lang="en-GB" dirty="0" err="1"/>
              <a:t>k.Length</a:t>
            </a:r>
            <a:r>
              <a:rPr lang="en-GB" dirty="0"/>
              <a:t>)</a:t>
            </a:r>
          </a:p>
          <a:p>
            <a:r>
              <a:rPr lang="en-GB" dirty="0"/>
              <a:t>    .</a:t>
            </a:r>
            <a:r>
              <a:rPr lang="en-GB" dirty="0" err="1"/>
              <a:t>FirstOrDefault</a:t>
            </a:r>
            <a:r>
              <a:rPr lang="en-GB" dirty="0"/>
              <a:t>(k =&gt; $" {input} ".Contains($" {k} "));</a:t>
            </a:r>
          </a:p>
          <a:p>
            <a:r>
              <a:rPr lang="en-GB" dirty="0"/>
              <a:t>This is the most technically sophisticated segment. It uses LINQ to search the keyword dictionary.</a:t>
            </a:r>
          </a:p>
          <a:p>
            <a:r>
              <a:rPr lang="en-GB" dirty="0" err="1"/>
              <a:t>OrderByDescending</a:t>
            </a:r>
            <a:r>
              <a:rPr lang="en-GB" dirty="0"/>
              <a:t>(k =&gt; </a:t>
            </a:r>
            <a:r>
              <a:rPr lang="en-GB" dirty="0" err="1"/>
              <a:t>k.Length</a:t>
            </a:r>
            <a:r>
              <a:rPr lang="en-GB" dirty="0"/>
              <a:t>) sorts all keys from longest to shortest. This is critical: without it, the key "password" would match before "strong password", because "strong password" contains the word "password". By checking longer keys first, the more specific match always wins.</a:t>
            </a:r>
          </a:p>
          <a:p>
            <a:r>
              <a:rPr lang="en-GB" dirty="0"/>
              <a:t>$" {input} ".Contains($" {k} ") wraps both the input and each key in spaces before checking. This is whole-word matching. Without the spaces, searching for the key "ass" inside the input "password" would return a false match. The space padding ensures only complete words trigger matches.</a:t>
            </a:r>
          </a:p>
          <a:p>
            <a:r>
              <a:rPr lang="en-GB" dirty="0" err="1"/>
              <a:t>FirstOrDefault</a:t>
            </a:r>
            <a:r>
              <a:rPr lang="en-GB" dirty="0"/>
              <a:t> returns the first key that matches, or null if none do.</a:t>
            </a:r>
          </a:p>
          <a:p>
            <a:r>
              <a:rPr lang="en-GB" dirty="0"/>
              <a:t>If a match is found: _</a:t>
            </a:r>
            <a:r>
              <a:rPr lang="en-GB" dirty="0" err="1"/>
              <a:t>lastTopic</a:t>
            </a:r>
            <a:r>
              <a:rPr lang="en-GB" dirty="0"/>
              <a:t> is updated, the raw response is retrieved from the dictionary, </a:t>
            </a:r>
            <a:r>
              <a:rPr lang="en-GB" dirty="0" err="1"/>
              <a:t>GetRandomResponse</a:t>
            </a:r>
            <a:r>
              <a:rPr lang="en-GB" dirty="0"/>
              <a:t>() selects one variant if multiple exist, a "type read more" prompt is appended, and the delegate formats and returns the final string.</a:t>
            </a:r>
          </a:p>
          <a:p>
            <a:endParaRPr lang="en-US" dirty="0"/>
          </a:p>
        </p:txBody>
      </p:sp>
      <p:sp>
        <p:nvSpPr>
          <p:cNvPr id="23" name="Subtitle 22">
            <a:extLst>
              <a:ext uri="{FF2B5EF4-FFF2-40B4-BE49-F238E27FC236}">
                <a16:creationId xmlns:a16="http://schemas.microsoft.com/office/drawing/2014/main" id="{E43F155A-F2DA-515A-68AA-F7B9828F17A0}"/>
              </a:ext>
            </a:extLst>
          </p:cNvPr>
          <p:cNvSpPr>
            <a:spLocks noGrp="1"/>
          </p:cNvSpPr>
          <p:nvPr>
            <p:ph type="body" sz="quarter" idx="4294967295"/>
          </p:nvPr>
        </p:nvSpPr>
        <p:spPr>
          <a:xfrm>
            <a:off x="6569663" y="121041"/>
            <a:ext cx="4703762" cy="757238"/>
          </a:xfrm>
        </p:spPr>
        <p:txBody>
          <a:bodyPr vert="horz" lIns="91440" tIns="45720" rIns="91440" bIns="45720" rtlCol="0" anchor="t">
            <a:normAutofit/>
          </a:bodyPr>
          <a:lstStyle/>
          <a:p>
            <a:r>
              <a:rPr lang="en-US" err="1">
                <a:latin typeface="Avenir Next LT Pro Light"/>
              </a:rPr>
              <a:t>Moyagabo</a:t>
            </a:r>
            <a:r>
              <a:rPr lang="en-US">
                <a:latin typeface="Avenir Next LT Pro Light"/>
              </a:rPr>
              <a:t> </a:t>
            </a:r>
            <a:r>
              <a:rPr lang="en-US" err="1">
                <a:latin typeface="Avenir Next LT Pro Light"/>
              </a:rPr>
              <a:t>Raphasha</a:t>
            </a:r>
          </a:p>
        </p:txBody>
      </p:sp>
      <p:pic>
        <p:nvPicPr>
          <p:cNvPr id="26" name="Picture Placeholder 25" descr="A close up of a rainbow showing only shades of yellow and orange">
            <a:extLst>
              <a:ext uri="{FF2B5EF4-FFF2-40B4-BE49-F238E27FC236}">
                <a16:creationId xmlns:a16="http://schemas.microsoft.com/office/drawing/2014/main" id="{8C072D20-B6AB-B5C5-590D-7DF77B27DDD8}"/>
              </a:ext>
            </a:extLst>
          </p:cNvPr>
          <p:cNvPicPr>
            <a:picLocks noGrp="1" noChangeAspect="1"/>
          </p:cNvPicPr>
          <p:nvPr>
            <p:ph type="pic" sz="quarter" idx="4294967295"/>
          </p:nvPr>
        </p:nvPicPr>
        <p:blipFill>
          <a:blip r:embed="rId2"/>
          <a:srcRect t="33" b="33"/>
          <a:stretch/>
        </p:blipFill>
        <p:spPr>
          <a:xfrm>
            <a:off x="0" y="2122488"/>
            <a:ext cx="5905500" cy="2606675"/>
          </a:xfrm>
        </p:spPr>
      </p:pic>
    </p:spTree>
    <p:extLst>
      <p:ext uri="{BB962C8B-B14F-4D97-AF65-F5344CB8AC3E}">
        <p14:creationId xmlns:p14="http://schemas.microsoft.com/office/powerpoint/2010/main" val="39859082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A3F4B-0E15-3991-7432-B2BFA6077B3A}"/>
            </a:ext>
          </a:extLst>
        </p:cNvPr>
        <p:cNvGrpSpPr/>
        <p:nvPr/>
      </p:nvGrpSpPr>
      <p:grpSpPr>
        <a:xfrm>
          <a:off x="0" y="0"/>
          <a:ext cx="0" cy="0"/>
          <a:chOff x="0" y="0"/>
          <a:chExt cx="0" cy="0"/>
        </a:xfrm>
      </p:grpSpPr>
      <p:sp>
        <p:nvSpPr>
          <p:cNvPr id="22" name="Title 21">
            <a:extLst>
              <a:ext uri="{FF2B5EF4-FFF2-40B4-BE49-F238E27FC236}">
                <a16:creationId xmlns:a16="http://schemas.microsoft.com/office/drawing/2014/main" id="{DAEA2A56-D6BA-7CBC-E1F4-668AA26C85CD}"/>
              </a:ext>
            </a:extLst>
          </p:cNvPr>
          <p:cNvSpPr>
            <a:spLocks noGrp="1"/>
          </p:cNvSpPr>
          <p:nvPr>
            <p:ph type="title"/>
          </p:nvPr>
        </p:nvSpPr>
        <p:spPr>
          <a:xfrm>
            <a:off x="6843093" y="-1470489"/>
            <a:ext cx="4158284" cy="2614292"/>
          </a:xfrm>
        </p:spPr>
        <p:txBody>
          <a:bodyPr/>
          <a:lstStyle/>
          <a:p>
            <a:r>
              <a:rPr lang="en-US" dirty="0" err="1"/>
              <a:t>ChatService.cs</a:t>
            </a:r>
            <a:endParaRPr lang="en-US" dirty="0"/>
          </a:p>
        </p:txBody>
      </p:sp>
      <p:sp>
        <p:nvSpPr>
          <p:cNvPr id="3" name="Picture Placeholder 2">
            <a:extLst>
              <a:ext uri="{FF2B5EF4-FFF2-40B4-BE49-F238E27FC236}">
                <a16:creationId xmlns:a16="http://schemas.microsoft.com/office/drawing/2014/main" id="{6DB5A566-D124-CA12-D158-8A4D49908459}"/>
              </a:ext>
            </a:extLst>
          </p:cNvPr>
          <p:cNvSpPr>
            <a:spLocks noGrp="1"/>
          </p:cNvSpPr>
          <p:nvPr>
            <p:ph type="pic" sz="quarter" idx="13"/>
          </p:nvPr>
        </p:nvSpPr>
        <p:spPr/>
        <p:txBody>
          <a:bodyPr/>
          <a:lstStyle/>
          <a:p>
            <a:endParaRPr lang="en-ZA"/>
          </a:p>
        </p:txBody>
      </p:sp>
      <p:sp>
        <p:nvSpPr>
          <p:cNvPr id="6" name="Slide Number Placeholder 5">
            <a:extLst>
              <a:ext uri="{FF2B5EF4-FFF2-40B4-BE49-F238E27FC236}">
                <a16:creationId xmlns:a16="http://schemas.microsoft.com/office/drawing/2014/main" id="{CF68C0A7-6A04-38AD-9DC9-64F7B96292AD}"/>
              </a:ext>
            </a:extLst>
          </p:cNvPr>
          <p:cNvSpPr>
            <a:spLocks noGrp="1"/>
          </p:cNvSpPr>
          <p:nvPr>
            <p:ph type="sldNum" sz="quarter" idx="18"/>
          </p:nvPr>
        </p:nvSpPr>
        <p:spPr/>
        <p:txBody>
          <a:bodyPr/>
          <a:lstStyle/>
          <a:p>
            <a:fld id="{24D65F33-A771-944D-9289-CA575F1D1B7F}" type="slidenum">
              <a:rPr lang="en-US" smtClean="0"/>
              <a:pPr/>
              <a:t>10</a:t>
            </a:fld>
            <a:endParaRPr lang="en-US"/>
          </a:p>
        </p:txBody>
      </p:sp>
      <p:sp>
        <p:nvSpPr>
          <p:cNvPr id="17" name="Text Placeholder 16">
            <a:extLst>
              <a:ext uri="{FF2B5EF4-FFF2-40B4-BE49-F238E27FC236}">
                <a16:creationId xmlns:a16="http://schemas.microsoft.com/office/drawing/2014/main" id="{8E9F9EC4-446C-53E5-386D-AE3D2980AA26}"/>
              </a:ext>
            </a:extLst>
          </p:cNvPr>
          <p:cNvSpPr>
            <a:spLocks noGrp="1"/>
          </p:cNvSpPr>
          <p:nvPr>
            <p:ph type="body" sz="quarter" idx="15"/>
          </p:nvPr>
        </p:nvSpPr>
        <p:spPr>
          <a:xfrm>
            <a:off x="6469788" y="1156595"/>
            <a:ext cx="5325972" cy="5580364"/>
          </a:xfrm>
        </p:spPr>
        <p:txBody>
          <a:bodyPr vert="horz" lIns="91440" tIns="45720" rIns="91440" bIns="45720" rtlCol="0" anchor="t">
            <a:normAutofit fontScale="55000" lnSpcReduction="20000"/>
          </a:bodyPr>
          <a:lstStyle/>
          <a:p>
            <a:r>
              <a:rPr lang="en-GB" b="1" dirty="0"/>
              <a:t>Segment 6 — Small Talk and Commands</a:t>
            </a:r>
            <a:endParaRPr lang="en-GB" dirty="0"/>
          </a:p>
          <a:p>
            <a:r>
              <a:rPr lang="en-GB" dirty="0"/>
              <a:t>if (new[] { "hello", "hi", "hey" }.Any(</a:t>
            </a:r>
            <a:r>
              <a:rPr lang="en-GB" dirty="0" err="1"/>
              <a:t>input.Contains</a:t>
            </a:r>
            <a:r>
              <a:rPr lang="en-GB" dirty="0"/>
              <a:t>))</a:t>
            </a:r>
          </a:p>
          <a:p>
            <a:r>
              <a:rPr lang="en-GB" dirty="0"/>
              <a:t>Uses </a:t>
            </a:r>
            <a:r>
              <a:rPr lang="en-GB" dirty="0" err="1"/>
              <a:t>Array.Any</a:t>
            </a:r>
            <a:r>
              <a:rPr lang="en-GB" dirty="0"/>
              <a:t>() with a method group (</a:t>
            </a:r>
            <a:r>
              <a:rPr lang="en-GB" dirty="0" err="1"/>
              <a:t>input.Contains</a:t>
            </a:r>
            <a:r>
              <a:rPr lang="en-GB" dirty="0"/>
              <a:t>) as a predicate. This is concise — it checks if any of the greeting words appear anywhere in the input in one line.</a:t>
            </a:r>
          </a:p>
          <a:p>
            <a:r>
              <a:rPr lang="en-GB" dirty="0"/>
              <a:t>Returns a greeting with the user's name and a hint to type 'help'.</a:t>
            </a:r>
          </a:p>
          <a:p>
            <a:r>
              <a:rPr lang="en-GB" dirty="0"/>
              <a:t>if (input == "how are you") — an exact equality check for this specific phrase.</a:t>
            </a:r>
          </a:p>
          <a:p>
            <a:r>
              <a:rPr lang="en-GB" dirty="0"/>
              <a:t>if (</a:t>
            </a:r>
            <a:r>
              <a:rPr lang="en-GB" dirty="0" err="1"/>
              <a:t>input.Contains</a:t>
            </a:r>
            <a:r>
              <a:rPr lang="en-GB" dirty="0"/>
              <a:t>("help") || </a:t>
            </a:r>
            <a:r>
              <a:rPr lang="en-GB" dirty="0" err="1"/>
              <a:t>input.Contains</a:t>
            </a:r>
            <a:r>
              <a:rPr lang="en-GB" dirty="0"/>
              <a:t>("menu")) — calls </a:t>
            </a:r>
            <a:r>
              <a:rPr lang="en-GB" dirty="0" err="1"/>
              <a:t>GetHelpMenu</a:t>
            </a:r>
            <a:r>
              <a:rPr lang="en-GB" dirty="0"/>
              <a:t>() which returns the full list of available topics.</a:t>
            </a:r>
          </a:p>
          <a:p>
            <a:br>
              <a:rPr lang="en-GB" dirty="0"/>
            </a:br>
            <a:endParaRPr lang="en-GB" dirty="0"/>
          </a:p>
          <a:p>
            <a:r>
              <a:rPr lang="en-GB" b="1" dirty="0"/>
              <a:t>Segment 7 — Fallback and Error Handling</a:t>
            </a:r>
            <a:endParaRPr lang="en-GB" dirty="0"/>
          </a:p>
          <a:p>
            <a:r>
              <a:rPr lang="en-GB" dirty="0"/>
              <a:t>If none of the 6 checks above matched, the method reaches the fallback: a polite message asking the user to rephrase, mentioning specific example keywords, and suggesting they type 'help'.</a:t>
            </a:r>
          </a:p>
          <a:p>
            <a:r>
              <a:rPr lang="en-GB" dirty="0"/>
              <a:t>The user's name is included to keep the response personal even in the error case.</a:t>
            </a:r>
          </a:p>
          <a:p>
            <a:r>
              <a:rPr lang="en-GB" dirty="0"/>
              <a:t>The entire </a:t>
            </a:r>
            <a:r>
              <a:rPr lang="en-GB" dirty="0" err="1"/>
              <a:t>GetResponse</a:t>
            </a:r>
            <a:r>
              <a:rPr lang="en-GB" dirty="0"/>
              <a:t>() method body is inside a try/catch block. If any unexpected exception occurs anywhere in the 7 segments, it is caught and its message is returned as a readable string. The application never crashes — the user just sees an error description in the chat.</a:t>
            </a:r>
          </a:p>
          <a:p>
            <a:br>
              <a:rPr lang="en-GB" dirty="0"/>
            </a:br>
            <a:endParaRPr lang="en-GB" dirty="0"/>
          </a:p>
          <a:p>
            <a:r>
              <a:rPr lang="en-GB" b="1" dirty="0" err="1"/>
              <a:t>ChatService</a:t>
            </a:r>
            <a:r>
              <a:rPr lang="en-GB" b="1" dirty="0"/>
              <a:t> — Private Helper Methods</a:t>
            </a:r>
          </a:p>
          <a:p>
            <a:r>
              <a:rPr lang="en-GB" b="1" dirty="0" err="1"/>
              <a:t>DetectSentiment</a:t>
            </a:r>
            <a:r>
              <a:rPr lang="en-GB" b="1" dirty="0"/>
              <a:t>(string input)</a:t>
            </a:r>
            <a:endParaRPr lang="en-GB" dirty="0"/>
          </a:p>
          <a:p>
            <a:r>
              <a:rPr lang="en-GB" dirty="0"/>
              <a:t>Takes the normalised input and runs a series of Contains() checks against emotional keyword groups.</a:t>
            </a:r>
          </a:p>
          <a:p>
            <a:r>
              <a:rPr lang="en-GB" dirty="0"/>
              <a:t>Returns "empathetic" if the user expresses worry, fear, or anxiety.</a:t>
            </a:r>
          </a:p>
          <a:p>
            <a:r>
              <a:rPr lang="en-GB" dirty="0"/>
              <a:t>Returns "enthusiastic" if the user expresses curiosity or excitement.</a:t>
            </a:r>
          </a:p>
          <a:p>
            <a:r>
              <a:rPr lang="en-GB" dirty="0"/>
              <a:t>Returns "supportive" if the user expresses confusion or frustration.</a:t>
            </a:r>
          </a:p>
          <a:p>
            <a:r>
              <a:rPr lang="en-GB" dirty="0"/>
              <a:t>Returns "neutral" if none of those match.</a:t>
            </a:r>
          </a:p>
          <a:p>
            <a:r>
              <a:rPr lang="en-GB" dirty="0"/>
              <a:t>This string is passed to the delegate which uses a switch expression to choose the matching prefix sentence.</a:t>
            </a:r>
          </a:p>
          <a:p>
            <a:endParaRPr lang="en-US" dirty="0"/>
          </a:p>
        </p:txBody>
      </p:sp>
      <p:sp>
        <p:nvSpPr>
          <p:cNvPr id="23" name="Subtitle 22">
            <a:extLst>
              <a:ext uri="{FF2B5EF4-FFF2-40B4-BE49-F238E27FC236}">
                <a16:creationId xmlns:a16="http://schemas.microsoft.com/office/drawing/2014/main" id="{43647B00-2153-0F6A-CC1F-34D24573AF12}"/>
              </a:ext>
            </a:extLst>
          </p:cNvPr>
          <p:cNvSpPr>
            <a:spLocks noGrp="1"/>
          </p:cNvSpPr>
          <p:nvPr>
            <p:ph type="body" sz="quarter" idx="4294967295"/>
          </p:nvPr>
        </p:nvSpPr>
        <p:spPr>
          <a:xfrm>
            <a:off x="6569663" y="121041"/>
            <a:ext cx="4703762" cy="757238"/>
          </a:xfrm>
        </p:spPr>
        <p:txBody>
          <a:bodyPr vert="horz" lIns="91440" tIns="45720" rIns="91440" bIns="45720" rtlCol="0" anchor="t">
            <a:normAutofit/>
          </a:bodyPr>
          <a:lstStyle/>
          <a:p>
            <a:r>
              <a:rPr lang="en-US" err="1">
                <a:latin typeface="Avenir Next LT Pro Light"/>
              </a:rPr>
              <a:t>Moyagabo</a:t>
            </a:r>
            <a:r>
              <a:rPr lang="en-US">
                <a:latin typeface="Avenir Next LT Pro Light"/>
              </a:rPr>
              <a:t> </a:t>
            </a:r>
            <a:r>
              <a:rPr lang="en-US" err="1">
                <a:latin typeface="Avenir Next LT Pro Light"/>
              </a:rPr>
              <a:t>Raphasha</a:t>
            </a:r>
          </a:p>
        </p:txBody>
      </p:sp>
      <p:pic>
        <p:nvPicPr>
          <p:cNvPr id="26" name="Picture Placeholder 25" descr="A close up of a rainbow showing only shades of yellow and orange">
            <a:extLst>
              <a:ext uri="{FF2B5EF4-FFF2-40B4-BE49-F238E27FC236}">
                <a16:creationId xmlns:a16="http://schemas.microsoft.com/office/drawing/2014/main" id="{15FCE2CA-A3FC-6FB3-04EA-0599ACB8FE7A}"/>
              </a:ext>
            </a:extLst>
          </p:cNvPr>
          <p:cNvPicPr>
            <a:picLocks noGrp="1" noChangeAspect="1"/>
          </p:cNvPicPr>
          <p:nvPr>
            <p:ph type="pic" sz="quarter" idx="4294967295"/>
          </p:nvPr>
        </p:nvPicPr>
        <p:blipFill>
          <a:blip r:embed="rId2"/>
          <a:srcRect t="33" b="33"/>
          <a:stretch/>
        </p:blipFill>
        <p:spPr>
          <a:xfrm>
            <a:off x="0" y="2122488"/>
            <a:ext cx="5905500" cy="2606675"/>
          </a:xfrm>
        </p:spPr>
      </p:pic>
    </p:spTree>
    <p:extLst>
      <p:ext uri="{BB962C8B-B14F-4D97-AF65-F5344CB8AC3E}">
        <p14:creationId xmlns:p14="http://schemas.microsoft.com/office/powerpoint/2010/main" val="42050164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E2E6A-55B6-D2D7-E3A6-B7A157A38133}"/>
            </a:ext>
          </a:extLst>
        </p:cNvPr>
        <p:cNvGrpSpPr/>
        <p:nvPr/>
      </p:nvGrpSpPr>
      <p:grpSpPr>
        <a:xfrm>
          <a:off x="0" y="0"/>
          <a:ext cx="0" cy="0"/>
          <a:chOff x="0" y="0"/>
          <a:chExt cx="0" cy="0"/>
        </a:xfrm>
      </p:grpSpPr>
      <p:sp>
        <p:nvSpPr>
          <p:cNvPr id="22" name="Title 21">
            <a:extLst>
              <a:ext uri="{FF2B5EF4-FFF2-40B4-BE49-F238E27FC236}">
                <a16:creationId xmlns:a16="http://schemas.microsoft.com/office/drawing/2014/main" id="{E9D3C565-4F81-1813-8B59-3740841CFB74}"/>
              </a:ext>
            </a:extLst>
          </p:cNvPr>
          <p:cNvSpPr>
            <a:spLocks noGrp="1"/>
          </p:cNvSpPr>
          <p:nvPr>
            <p:ph type="title"/>
          </p:nvPr>
        </p:nvSpPr>
        <p:spPr>
          <a:xfrm>
            <a:off x="6371600" y="-1596855"/>
            <a:ext cx="4158284" cy="2614292"/>
          </a:xfrm>
        </p:spPr>
        <p:txBody>
          <a:bodyPr/>
          <a:lstStyle/>
          <a:p>
            <a:r>
              <a:rPr lang="en-US" dirty="0" err="1"/>
              <a:t>ChatService.cs</a:t>
            </a:r>
            <a:endParaRPr lang="en-US" dirty="0"/>
          </a:p>
        </p:txBody>
      </p:sp>
      <p:sp>
        <p:nvSpPr>
          <p:cNvPr id="3" name="Picture Placeholder 2">
            <a:extLst>
              <a:ext uri="{FF2B5EF4-FFF2-40B4-BE49-F238E27FC236}">
                <a16:creationId xmlns:a16="http://schemas.microsoft.com/office/drawing/2014/main" id="{C617503C-894F-19C3-B17E-29700EFF4FD9}"/>
              </a:ext>
            </a:extLst>
          </p:cNvPr>
          <p:cNvSpPr>
            <a:spLocks noGrp="1"/>
          </p:cNvSpPr>
          <p:nvPr>
            <p:ph type="pic" sz="quarter" idx="13"/>
          </p:nvPr>
        </p:nvSpPr>
        <p:spPr/>
        <p:txBody>
          <a:bodyPr/>
          <a:lstStyle/>
          <a:p>
            <a:endParaRPr lang="en-ZA"/>
          </a:p>
        </p:txBody>
      </p:sp>
      <p:sp>
        <p:nvSpPr>
          <p:cNvPr id="6" name="Slide Number Placeholder 5">
            <a:extLst>
              <a:ext uri="{FF2B5EF4-FFF2-40B4-BE49-F238E27FC236}">
                <a16:creationId xmlns:a16="http://schemas.microsoft.com/office/drawing/2014/main" id="{29E05CD1-1832-1983-7829-4541EA7C6D2E}"/>
              </a:ext>
            </a:extLst>
          </p:cNvPr>
          <p:cNvSpPr>
            <a:spLocks noGrp="1"/>
          </p:cNvSpPr>
          <p:nvPr>
            <p:ph type="sldNum" sz="quarter" idx="18"/>
          </p:nvPr>
        </p:nvSpPr>
        <p:spPr/>
        <p:txBody>
          <a:bodyPr/>
          <a:lstStyle/>
          <a:p>
            <a:fld id="{24D65F33-A771-944D-9289-CA575F1D1B7F}" type="slidenum">
              <a:rPr lang="en-US" smtClean="0"/>
              <a:pPr/>
              <a:t>11</a:t>
            </a:fld>
            <a:endParaRPr lang="en-US"/>
          </a:p>
        </p:txBody>
      </p:sp>
      <p:sp>
        <p:nvSpPr>
          <p:cNvPr id="17" name="Text Placeholder 16">
            <a:extLst>
              <a:ext uri="{FF2B5EF4-FFF2-40B4-BE49-F238E27FC236}">
                <a16:creationId xmlns:a16="http://schemas.microsoft.com/office/drawing/2014/main" id="{AACC09C1-F942-F58E-912D-AE86E35EAB33}"/>
              </a:ext>
            </a:extLst>
          </p:cNvPr>
          <p:cNvSpPr>
            <a:spLocks noGrp="1"/>
          </p:cNvSpPr>
          <p:nvPr>
            <p:ph type="body" sz="quarter" idx="15"/>
          </p:nvPr>
        </p:nvSpPr>
        <p:spPr>
          <a:xfrm>
            <a:off x="6469788" y="1017437"/>
            <a:ext cx="5722212" cy="5719522"/>
          </a:xfrm>
        </p:spPr>
        <p:txBody>
          <a:bodyPr vert="horz" lIns="91440" tIns="45720" rIns="91440" bIns="45720" rtlCol="0" anchor="t">
            <a:normAutofit fontScale="32500" lnSpcReduction="20000"/>
          </a:bodyPr>
          <a:lstStyle/>
          <a:p>
            <a:r>
              <a:rPr lang="en-GB" b="1" dirty="0" err="1"/>
              <a:t>ChatService</a:t>
            </a:r>
            <a:r>
              <a:rPr lang="en-GB" b="1" dirty="0"/>
              <a:t> — Private Helper Methods</a:t>
            </a:r>
          </a:p>
          <a:p>
            <a:r>
              <a:rPr lang="en-GB" b="1" dirty="0" err="1"/>
              <a:t>DetectSentiment</a:t>
            </a:r>
            <a:r>
              <a:rPr lang="en-GB" b="1" dirty="0"/>
              <a:t>(string input)</a:t>
            </a:r>
            <a:endParaRPr lang="en-GB" dirty="0"/>
          </a:p>
          <a:p>
            <a:r>
              <a:rPr lang="en-GB" dirty="0"/>
              <a:t>Takes the normalised input and runs a series of Contains() checks against emotional keyword groups.</a:t>
            </a:r>
          </a:p>
          <a:p>
            <a:r>
              <a:rPr lang="en-GB" dirty="0"/>
              <a:t>Returns "empathetic" if the user expresses worry, fear, or anxiety.</a:t>
            </a:r>
          </a:p>
          <a:p>
            <a:r>
              <a:rPr lang="en-GB" dirty="0"/>
              <a:t>Returns "enthusiastic" if the user expresses curiosity or excitement.</a:t>
            </a:r>
          </a:p>
          <a:p>
            <a:r>
              <a:rPr lang="en-GB" dirty="0"/>
              <a:t>Returns "supportive" if the user expresses confusion or frustration.</a:t>
            </a:r>
          </a:p>
          <a:p>
            <a:r>
              <a:rPr lang="en-GB" dirty="0"/>
              <a:t>Returns "neutral" if none of those match.</a:t>
            </a:r>
          </a:p>
          <a:p>
            <a:r>
              <a:rPr lang="en-GB" dirty="0"/>
              <a:t>This string is passed to the delegate which uses a switch expression to choose the matching prefix sentence.</a:t>
            </a:r>
          </a:p>
          <a:p>
            <a:r>
              <a:rPr lang="en-GB" b="1" dirty="0" err="1"/>
              <a:t>IsFollowUp</a:t>
            </a:r>
            <a:r>
              <a:rPr lang="en-GB" b="1" dirty="0"/>
              <a:t>(string input)</a:t>
            </a:r>
            <a:endParaRPr lang="en-GB" dirty="0"/>
          </a:p>
          <a:p>
            <a:r>
              <a:rPr lang="en-GB" dirty="0"/>
              <a:t>Checks whether the input contains any phrase from a hardcoded list: "read more", "explain", "tell me more".</a:t>
            </a:r>
          </a:p>
          <a:p>
            <a:r>
              <a:rPr lang="en-GB" dirty="0"/>
              <a:t>Uses the same Any() pattern: </a:t>
            </a:r>
            <a:r>
              <a:rPr lang="en-GB" dirty="0" err="1"/>
              <a:t>phrases.Any</a:t>
            </a:r>
            <a:r>
              <a:rPr lang="en-GB" dirty="0"/>
              <a:t>(p =&gt; </a:t>
            </a:r>
            <a:r>
              <a:rPr lang="en-GB" dirty="0" err="1"/>
              <a:t>input.Contains</a:t>
            </a:r>
            <a:r>
              <a:rPr lang="en-GB" dirty="0"/>
              <a:t>(p)).</a:t>
            </a:r>
          </a:p>
          <a:p>
            <a:r>
              <a:rPr lang="en-GB" dirty="0"/>
              <a:t>Returns true or false. Note: there is a bug in the original code where the phrases variable is accidentally set to a formatting string instead of an array — the follow-up feature would not work as written, but the intent is clear.</a:t>
            </a:r>
          </a:p>
          <a:p>
            <a:r>
              <a:rPr lang="en-GB" b="1" dirty="0" err="1"/>
              <a:t>GetFollowUpContent</a:t>
            </a:r>
            <a:r>
              <a:rPr lang="en-GB" b="1" dirty="0"/>
              <a:t>(string topic)</a:t>
            </a:r>
            <a:endParaRPr lang="en-GB" dirty="0"/>
          </a:p>
          <a:p>
            <a:r>
              <a:rPr lang="en-GB" dirty="0"/>
              <a:t>Contains a local dictionary (</a:t>
            </a:r>
            <a:r>
              <a:rPr lang="en-GB" dirty="0" err="1"/>
              <a:t>topicFollowUps</a:t>
            </a:r>
            <a:r>
              <a:rPr lang="en-GB" dirty="0"/>
              <a:t>) that maps topic keyword strings to arrays of follow-up sentences.</a:t>
            </a:r>
          </a:p>
          <a:p>
            <a:r>
              <a:rPr lang="en-GB" dirty="0"/>
              <a:t>Topics covered include password, 2fa, phishing, scam, privacy, </a:t>
            </a:r>
            <a:r>
              <a:rPr lang="en-GB" dirty="0" err="1"/>
              <a:t>popia</a:t>
            </a:r>
            <a:r>
              <a:rPr lang="en-GB" dirty="0"/>
              <a:t>, malware, ransomware, </a:t>
            </a:r>
            <a:r>
              <a:rPr lang="en-GB" dirty="0" err="1"/>
              <a:t>vpn</a:t>
            </a:r>
            <a:r>
              <a:rPr lang="en-GB" dirty="0"/>
              <a:t>, public </a:t>
            </a:r>
            <a:r>
              <a:rPr lang="en-GB" dirty="0" err="1"/>
              <a:t>wifi</a:t>
            </a:r>
            <a:r>
              <a:rPr lang="en-GB" dirty="0"/>
              <a:t>, backup data, encryption, and safe browsing.</a:t>
            </a:r>
          </a:p>
          <a:p>
            <a:r>
              <a:rPr lang="en-GB" dirty="0"/>
              <a:t>If the topic has specific follow-ups, one is chosen at random using _</a:t>
            </a:r>
            <a:r>
              <a:rPr lang="en-GB" dirty="0" err="1"/>
              <a:t>random.Next</a:t>
            </a:r>
            <a:r>
              <a:rPr lang="en-GB" dirty="0"/>
              <a:t>(</a:t>
            </a:r>
            <a:r>
              <a:rPr lang="en-GB" dirty="0" err="1"/>
              <a:t>followUps.Length</a:t>
            </a:r>
            <a:r>
              <a:rPr lang="en-GB" dirty="0"/>
              <a:t>).</a:t>
            </a:r>
          </a:p>
          <a:p>
            <a:r>
              <a:rPr lang="en-GB" dirty="0"/>
              <a:t>If the topic has no specific follow-ups, a generic fallback is returned that checks _</a:t>
            </a:r>
            <a:r>
              <a:rPr lang="en-GB" dirty="0" err="1"/>
              <a:t>userMemory</a:t>
            </a:r>
            <a:r>
              <a:rPr lang="en-GB" dirty="0"/>
              <a:t> for the user's interest and includes it in the message.</a:t>
            </a:r>
          </a:p>
          <a:p>
            <a:r>
              <a:rPr lang="en-GB" b="1" dirty="0" err="1"/>
              <a:t>GetRandomResponse</a:t>
            </a:r>
            <a:r>
              <a:rPr lang="en-GB" b="1" dirty="0"/>
              <a:t>(string text)</a:t>
            </a:r>
            <a:endParaRPr lang="en-GB" dirty="0"/>
          </a:p>
          <a:p>
            <a:r>
              <a:rPr lang="en-GB" dirty="0"/>
              <a:t>Checks whether the text contains a pipe character (|).</a:t>
            </a:r>
          </a:p>
          <a:p>
            <a:r>
              <a:rPr lang="en-GB" dirty="0"/>
              <a:t>If it does, the text is split on | and one of the resulting segments is returned at random.</a:t>
            </a:r>
          </a:p>
          <a:p>
            <a:r>
              <a:rPr lang="en-GB" dirty="0"/>
              <a:t>If no pipe is present, the text is returned unchanged.</a:t>
            </a:r>
          </a:p>
          <a:p>
            <a:r>
              <a:rPr lang="en-GB" dirty="0"/>
              <a:t>This is what gives the bot variety — typing "phishing" twice can return two different explanations.</a:t>
            </a:r>
          </a:p>
          <a:p>
            <a:r>
              <a:rPr lang="en-GB" b="1" dirty="0" err="1"/>
              <a:t>GetHelpMenu</a:t>
            </a:r>
            <a:r>
              <a:rPr lang="en-GB" b="1" dirty="0"/>
              <a:t>()</a:t>
            </a:r>
            <a:endParaRPr lang="en-GB" dirty="0"/>
          </a:p>
          <a:p>
            <a:r>
              <a:rPr lang="en-GB" dirty="0"/>
              <a:t>Returns a hardcoded multi-line string listing all topic categories in a readable format.</a:t>
            </a:r>
          </a:p>
          <a:p>
            <a:r>
              <a:rPr lang="en-GB" dirty="0"/>
              <a:t>No logic — it is a static text response. Called when the user types 'help' or 'menu'.</a:t>
            </a:r>
          </a:p>
          <a:p>
            <a:r>
              <a:rPr lang="en-GB" b="1" dirty="0"/>
              <a:t>Recall(string key)</a:t>
            </a:r>
            <a:endParaRPr lang="en-GB" dirty="0"/>
          </a:p>
          <a:p>
            <a:r>
              <a:rPr lang="en-GB" dirty="0"/>
              <a:t>A public method that lets </a:t>
            </a:r>
            <a:r>
              <a:rPr lang="en-GB" dirty="0" err="1"/>
              <a:t>MainWindow</a:t>
            </a:r>
            <a:r>
              <a:rPr lang="en-GB" dirty="0"/>
              <a:t> (or unit tests) query the _</a:t>
            </a:r>
            <a:r>
              <a:rPr lang="en-GB" dirty="0" err="1"/>
              <a:t>userMemory</a:t>
            </a:r>
            <a:r>
              <a:rPr lang="en-GB" dirty="0"/>
              <a:t> dictionary from outside.</a:t>
            </a:r>
          </a:p>
          <a:p>
            <a:r>
              <a:rPr lang="en-GB" dirty="0"/>
              <a:t>Returns the value if the key exists, or null if it does not.</a:t>
            </a:r>
          </a:p>
          <a:p>
            <a:r>
              <a:rPr lang="en-GB" dirty="0"/>
              <a:t>The null-conditional pattern _</a:t>
            </a:r>
            <a:r>
              <a:rPr lang="en-GB" dirty="0" err="1"/>
              <a:t>userMemory.TryGetValue</a:t>
            </a:r>
            <a:r>
              <a:rPr lang="en-GB" dirty="0"/>
              <a:t>(key, out var </a:t>
            </a:r>
            <a:r>
              <a:rPr lang="en-GB" dirty="0" err="1"/>
              <a:t>val</a:t>
            </a:r>
            <a:r>
              <a:rPr lang="en-GB" dirty="0"/>
              <a:t>) ? </a:t>
            </a:r>
            <a:r>
              <a:rPr lang="en-GB" dirty="0" err="1"/>
              <a:t>val</a:t>
            </a:r>
            <a:r>
              <a:rPr lang="en-GB" dirty="0"/>
              <a:t> : null makes this safe — no </a:t>
            </a:r>
            <a:r>
              <a:rPr lang="en-GB" dirty="0" err="1"/>
              <a:t>KeyNotFoundException</a:t>
            </a:r>
            <a:r>
              <a:rPr lang="en-GB" dirty="0"/>
              <a:t>.</a:t>
            </a:r>
          </a:p>
          <a:p>
            <a:endParaRPr lang="en-US" dirty="0"/>
          </a:p>
        </p:txBody>
      </p:sp>
      <p:sp>
        <p:nvSpPr>
          <p:cNvPr id="23" name="Subtitle 22">
            <a:extLst>
              <a:ext uri="{FF2B5EF4-FFF2-40B4-BE49-F238E27FC236}">
                <a16:creationId xmlns:a16="http://schemas.microsoft.com/office/drawing/2014/main" id="{23F39B50-9180-920E-27CA-E09244830667}"/>
              </a:ext>
            </a:extLst>
          </p:cNvPr>
          <p:cNvSpPr>
            <a:spLocks noGrp="1"/>
          </p:cNvSpPr>
          <p:nvPr>
            <p:ph type="body" sz="quarter" idx="4294967295"/>
          </p:nvPr>
        </p:nvSpPr>
        <p:spPr>
          <a:xfrm>
            <a:off x="6569663" y="121041"/>
            <a:ext cx="4703762" cy="757238"/>
          </a:xfrm>
        </p:spPr>
        <p:txBody>
          <a:bodyPr vert="horz" lIns="91440" tIns="45720" rIns="91440" bIns="45720" rtlCol="0" anchor="t">
            <a:normAutofit/>
          </a:bodyPr>
          <a:lstStyle/>
          <a:p>
            <a:r>
              <a:rPr lang="en-US" err="1">
                <a:latin typeface="Avenir Next LT Pro Light"/>
              </a:rPr>
              <a:t>Moyagabo</a:t>
            </a:r>
            <a:r>
              <a:rPr lang="en-US">
                <a:latin typeface="Avenir Next LT Pro Light"/>
              </a:rPr>
              <a:t> </a:t>
            </a:r>
            <a:r>
              <a:rPr lang="en-US" err="1">
                <a:latin typeface="Avenir Next LT Pro Light"/>
              </a:rPr>
              <a:t>Raphasha</a:t>
            </a:r>
          </a:p>
        </p:txBody>
      </p:sp>
      <p:pic>
        <p:nvPicPr>
          <p:cNvPr id="26" name="Picture Placeholder 25" descr="A close up of a rainbow showing only shades of yellow and orange">
            <a:extLst>
              <a:ext uri="{FF2B5EF4-FFF2-40B4-BE49-F238E27FC236}">
                <a16:creationId xmlns:a16="http://schemas.microsoft.com/office/drawing/2014/main" id="{62D578D8-7040-3021-6E29-849AD9EBB74F}"/>
              </a:ext>
            </a:extLst>
          </p:cNvPr>
          <p:cNvPicPr>
            <a:picLocks noGrp="1" noChangeAspect="1"/>
          </p:cNvPicPr>
          <p:nvPr>
            <p:ph type="pic" sz="quarter" idx="4294967295"/>
          </p:nvPr>
        </p:nvPicPr>
        <p:blipFill>
          <a:blip r:embed="rId2"/>
          <a:srcRect t="33" b="33"/>
          <a:stretch/>
        </p:blipFill>
        <p:spPr>
          <a:xfrm>
            <a:off x="0" y="2122488"/>
            <a:ext cx="5905500" cy="2606675"/>
          </a:xfrm>
        </p:spPr>
      </p:pic>
    </p:spTree>
    <p:extLst>
      <p:ext uri="{BB962C8B-B14F-4D97-AF65-F5344CB8AC3E}">
        <p14:creationId xmlns:p14="http://schemas.microsoft.com/office/powerpoint/2010/main" val="498817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B0013F39-0773-2ADC-C8F5-BDC8BAB5271A}"/>
              </a:ext>
            </a:extLst>
          </p:cNvPr>
          <p:cNvSpPr>
            <a:spLocks noGrp="1"/>
          </p:cNvSpPr>
          <p:nvPr>
            <p:ph type="title"/>
          </p:nvPr>
        </p:nvSpPr>
        <p:spPr>
          <a:xfrm>
            <a:off x="344528" y="-1601545"/>
            <a:ext cx="5011654" cy="2614293"/>
          </a:xfrm>
        </p:spPr>
        <p:txBody>
          <a:bodyPr>
            <a:normAutofit/>
          </a:bodyPr>
          <a:lstStyle/>
          <a:p>
            <a:r>
              <a:rPr lang="en-ZA" dirty="0" err="1"/>
              <a:t>MainWindow.xaml.cs</a:t>
            </a:r>
            <a:endParaRPr lang="en-US" dirty="0"/>
          </a:p>
        </p:txBody>
      </p:sp>
      <p:pic>
        <p:nvPicPr>
          <p:cNvPr id="8" name="Picture Placeholder 7">
            <a:extLst>
              <a:ext uri="{FF2B5EF4-FFF2-40B4-BE49-F238E27FC236}">
                <a16:creationId xmlns:a16="http://schemas.microsoft.com/office/drawing/2014/main" id="{B1099102-CB1B-D358-6696-8219C3911999}"/>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l="13192" r="13192"/>
          <a:stretch>
            <a:fillRect/>
          </a:stretch>
        </p:blipFill>
        <p:spPr>
          <a:xfrm>
            <a:off x="7894" y="920150"/>
            <a:ext cx="5348288" cy="5845252"/>
          </a:xfrm>
        </p:spPr>
      </p:pic>
      <p:sp>
        <p:nvSpPr>
          <p:cNvPr id="3" name="Footer Placeholder 2">
            <a:extLst>
              <a:ext uri="{FF2B5EF4-FFF2-40B4-BE49-F238E27FC236}">
                <a16:creationId xmlns:a16="http://schemas.microsoft.com/office/drawing/2014/main" id="{672C50E1-A0F8-706F-489C-8BAAD620F4D1}"/>
              </a:ext>
            </a:extLst>
          </p:cNvPr>
          <p:cNvSpPr>
            <a:spLocks noGrp="1"/>
          </p:cNvSpPr>
          <p:nvPr>
            <p:ph type="ftr" sz="quarter" idx="16"/>
          </p:nvPr>
        </p:nvSpPr>
        <p:spPr/>
        <p:txBody>
          <a:bodyPr/>
          <a:lstStyle/>
          <a:p>
            <a:r>
              <a:rPr lang="en-US"/>
              <a:t>Moyagabo Raphasha</a:t>
            </a:r>
          </a:p>
        </p:txBody>
      </p:sp>
      <p:sp>
        <p:nvSpPr>
          <p:cNvPr id="5" name="Slide Number Placeholder 4">
            <a:extLst>
              <a:ext uri="{FF2B5EF4-FFF2-40B4-BE49-F238E27FC236}">
                <a16:creationId xmlns:a16="http://schemas.microsoft.com/office/drawing/2014/main" id="{651EB72A-8375-828B-3FDF-BD27E8D05C19}"/>
              </a:ext>
            </a:extLst>
          </p:cNvPr>
          <p:cNvSpPr>
            <a:spLocks noGrp="1"/>
          </p:cNvSpPr>
          <p:nvPr>
            <p:ph type="sldNum" sz="quarter" idx="17"/>
          </p:nvPr>
        </p:nvSpPr>
        <p:spPr/>
        <p:txBody>
          <a:bodyPr/>
          <a:lstStyle/>
          <a:p>
            <a:fld id="{24D65F33-A771-944D-9289-CA575F1D1B7F}" type="slidenum">
              <a:rPr lang="en-US" smtClean="0"/>
              <a:pPr/>
              <a:t>12</a:t>
            </a:fld>
            <a:endParaRPr lang="en-US"/>
          </a:p>
        </p:txBody>
      </p:sp>
      <p:sp>
        <p:nvSpPr>
          <p:cNvPr id="17" name="Text Placeholder 16">
            <a:extLst>
              <a:ext uri="{FF2B5EF4-FFF2-40B4-BE49-F238E27FC236}">
                <a16:creationId xmlns:a16="http://schemas.microsoft.com/office/drawing/2014/main" id="{9E6D3AC8-B62C-0F43-5DBB-92A614814AFF}"/>
              </a:ext>
            </a:extLst>
          </p:cNvPr>
          <p:cNvSpPr>
            <a:spLocks noGrp="1"/>
          </p:cNvSpPr>
          <p:nvPr>
            <p:ph type="body" sz="quarter" idx="4294967295"/>
          </p:nvPr>
        </p:nvSpPr>
        <p:spPr>
          <a:xfrm>
            <a:off x="5765322" y="612026"/>
            <a:ext cx="6295498" cy="6054992"/>
          </a:xfrm>
        </p:spPr>
        <p:txBody>
          <a:bodyPr vert="horz" lIns="91440" tIns="45720" rIns="91440" bIns="45720" rtlCol="0" anchor="t">
            <a:normAutofit fontScale="32500" lnSpcReduction="20000"/>
          </a:bodyPr>
          <a:lstStyle/>
          <a:p>
            <a:r>
              <a:rPr lang="en-GB" dirty="0"/>
              <a:t>This is the code-behind for the WPF window. It connects the UI defined in XAML to the </a:t>
            </a:r>
            <a:r>
              <a:rPr lang="en-GB" dirty="0" err="1"/>
              <a:t>ChatService</a:t>
            </a:r>
            <a:r>
              <a:rPr lang="en-GB" dirty="0"/>
              <a:t> logic.</a:t>
            </a:r>
          </a:p>
          <a:p>
            <a:r>
              <a:rPr lang="en-GB" b="1" dirty="0"/>
              <a:t>Constructor — </a:t>
            </a:r>
            <a:r>
              <a:rPr lang="en-GB" b="1" dirty="0" err="1"/>
              <a:t>MainWindow</a:t>
            </a:r>
            <a:r>
              <a:rPr lang="en-GB" b="1" dirty="0"/>
              <a:t>()</a:t>
            </a:r>
          </a:p>
          <a:p>
            <a:r>
              <a:rPr lang="en-GB" dirty="0"/>
              <a:t>public </a:t>
            </a:r>
            <a:r>
              <a:rPr lang="en-GB" dirty="0" err="1"/>
              <a:t>MainWindow</a:t>
            </a:r>
            <a:r>
              <a:rPr lang="en-GB" dirty="0"/>
              <a:t>() {</a:t>
            </a:r>
          </a:p>
          <a:p>
            <a:r>
              <a:rPr lang="en-GB" dirty="0"/>
              <a:t>    </a:t>
            </a:r>
            <a:r>
              <a:rPr lang="en-GB" dirty="0" err="1"/>
              <a:t>InitializeComponent</a:t>
            </a:r>
            <a:r>
              <a:rPr lang="en-GB" dirty="0"/>
              <a:t>();</a:t>
            </a:r>
          </a:p>
          <a:p>
            <a:r>
              <a:rPr lang="en-GB" dirty="0"/>
              <a:t>    </a:t>
            </a:r>
            <a:r>
              <a:rPr lang="en-GB" dirty="0" err="1"/>
              <a:t>InitializeChat</a:t>
            </a:r>
            <a:r>
              <a:rPr lang="en-GB" dirty="0"/>
              <a:t>();</a:t>
            </a:r>
          </a:p>
          <a:p>
            <a:r>
              <a:rPr lang="en-GB" dirty="0"/>
              <a:t>}</a:t>
            </a:r>
          </a:p>
          <a:p>
            <a:r>
              <a:rPr lang="en-GB" dirty="0" err="1"/>
              <a:t>InitializeComponent</a:t>
            </a:r>
            <a:r>
              <a:rPr lang="en-GB" dirty="0"/>
              <a:t>() is auto-generated by WPF. It reads the XAML file and builds all the UI elements in memory.</a:t>
            </a:r>
          </a:p>
          <a:p>
            <a:r>
              <a:rPr lang="en-GB" dirty="0" err="1"/>
              <a:t>InitializeChat</a:t>
            </a:r>
            <a:r>
              <a:rPr lang="en-GB" dirty="0"/>
              <a:t>() is a custom method that does all the real setup work. Separating it from the constructor makes the code cleaner and easier to test.</a:t>
            </a:r>
          </a:p>
          <a:p>
            <a:br>
              <a:rPr lang="en-GB" dirty="0"/>
            </a:br>
            <a:endParaRPr lang="en-GB" dirty="0"/>
          </a:p>
          <a:p>
            <a:r>
              <a:rPr lang="en-GB" b="1" dirty="0" err="1"/>
              <a:t>InitializeChat</a:t>
            </a:r>
            <a:r>
              <a:rPr lang="en-GB" b="1" dirty="0"/>
              <a:t>()</a:t>
            </a:r>
          </a:p>
          <a:p>
            <a:r>
              <a:rPr lang="en-GB" dirty="0"/>
              <a:t>This method runs once when the window opens and sets up every component the bot needs.</a:t>
            </a:r>
          </a:p>
          <a:p>
            <a:r>
              <a:rPr lang="en-GB" b="1" dirty="0"/>
              <a:t>Step 1 — </a:t>
            </a:r>
            <a:r>
              <a:rPr lang="en-GB" b="1" dirty="0" err="1"/>
              <a:t>AsciiArtText.Text</a:t>
            </a:r>
            <a:r>
              <a:rPr lang="en-GB" b="1" dirty="0"/>
              <a:t> = </a:t>
            </a:r>
            <a:r>
              <a:rPr lang="en-GB" b="1" dirty="0" err="1"/>
              <a:t>AsciiArt.GetLogoForGui</a:t>
            </a:r>
            <a:r>
              <a:rPr lang="en-GB" b="1" dirty="0"/>
              <a:t>()</a:t>
            </a:r>
            <a:r>
              <a:rPr lang="en-GB" dirty="0"/>
              <a:t> Sets the ASCII logo string on the named </a:t>
            </a:r>
            <a:r>
              <a:rPr lang="en-GB" dirty="0" err="1"/>
              <a:t>TextBlock</a:t>
            </a:r>
            <a:r>
              <a:rPr lang="en-GB" dirty="0"/>
              <a:t> in XAML. The </a:t>
            </a:r>
            <a:r>
              <a:rPr lang="en-GB" dirty="0" err="1"/>
              <a:t>TextBlock</a:t>
            </a:r>
            <a:r>
              <a:rPr lang="en-GB" dirty="0"/>
              <a:t> uses </a:t>
            </a:r>
            <a:r>
              <a:rPr lang="en-GB" dirty="0" err="1"/>
              <a:t>FontFamily</a:t>
            </a:r>
            <a:r>
              <a:rPr lang="en-GB" dirty="0"/>
              <a:t>="Consolas" so the box-drawing characters align correctly.</a:t>
            </a:r>
          </a:p>
          <a:p>
            <a:r>
              <a:rPr lang="en-GB" b="1" dirty="0"/>
              <a:t>Step 2 — _messages = new </a:t>
            </a:r>
            <a:r>
              <a:rPr lang="en-GB" b="1" dirty="0" err="1"/>
              <a:t>ObservableCollection</a:t>
            </a:r>
            <a:r>
              <a:rPr lang="en-GB" b="1" dirty="0"/>
              <a:t>&lt;</a:t>
            </a:r>
            <a:r>
              <a:rPr lang="en-GB" b="1" dirty="0" err="1"/>
              <a:t>ChatMessage</a:t>
            </a:r>
            <a:r>
              <a:rPr lang="en-GB" b="1" dirty="0"/>
              <a:t>&gt;()</a:t>
            </a:r>
            <a:r>
              <a:rPr lang="en-GB" dirty="0"/>
              <a:t> Creates the collection that will hold all chat messages. </a:t>
            </a:r>
            <a:r>
              <a:rPr lang="en-GB" dirty="0" err="1"/>
              <a:t>ObservableCollection</a:t>
            </a:r>
            <a:r>
              <a:rPr lang="en-GB" dirty="0"/>
              <a:t> is a special WPF collection — it automatically fires change notifications whenever items are added or removed. This means the chat list in the UI updates in real time without any manual refresh code.</a:t>
            </a:r>
          </a:p>
          <a:p>
            <a:r>
              <a:rPr lang="en-GB" b="1" dirty="0"/>
              <a:t>Step 3 — </a:t>
            </a:r>
            <a:r>
              <a:rPr lang="en-GB" b="1" dirty="0" err="1"/>
              <a:t>ChatMessages.ItemsSource</a:t>
            </a:r>
            <a:r>
              <a:rPr lang="en-GB" b="1" dirty="0"/>
              <a:t> = _messages</a:t>
            </a:r>
            <a:r>
              <a:rPr lang="en-GB" dirty="0"/>
              <a:t> Binds the collection to the </a:t>
            </a:r>
            <a:r>
              <a:rPr lang="en-GB" dirty="0" err="1"/>
              <a:t>ItemsControl</a:t>
            </a:r>
            <a:r>
              <a:rPr lang="en-GB" dirty="0"/>
              <a:t> in XAML named </a:t>
            </a:r>
            <a:r>
              <a:rPr lang="en-GB" dirty="0" err="1"/>
              <a:t>ChatMessages</a:t>
            </a:r>
            <a:r>
              <a:rPr lang="en-GB" dirty="0"/>
              <a:t>. From this point, every time a </a:t>
            </a:r>
            <a:r>
              <a:rPr lang="en-GB" dirty="0" err="1"/>
              <a:t>ChatMessage</a:t>
            </a:r>
            <a:r>
              <a:rPr lang="en-GB" dirty="0"/>
              <a:t> is added to _messages, WPF creates and displays a new chat bubble automatically using the </a:t>
            </a:r>
            <a:r>
              <a:rPr lang="en-GB" dirty="0" err="1"/>
              <a:t>DataTemplate</a:t>
            </a:r>
            <a:r>
              <a:rPr lang="en-GB" dirty="0"/>
              <a:t>.</a:t>
            </a:r>
          </a:p>
          <a:p>
            <a:r>
              <a:rPr lang="en-GB" b="1" dirty="0"/>
              <a:t>Step 4 — var definitions = </a:t>
            </a:r>
            <a:r>
              <a:rPr lang="en-GB" b="1" dirty="0" err="1"/>
              <a:t>CreateDefinitionsDictionary</a:t>
            </a:r>
            <a:r>
              <a:rPr lang="en-GB" b="1" dirty="0"/>
              <a:t>()</a:t>
            </a:r>
            <a:r>
              <a:rPr lang="en-GB" dirty="0"/>
              <a:t> Calls the method that builds the 40-keyword knowledge base. Keeping this in a separate method prevents </a:t>
            </a:r>
            <a:r>
              <a:rPr lang="en-GB" dirty="0" err="1"/>
              <a:t>InitializeChat</a:t>
            </a:r>
            <a:r>
              <a:rPr lang="en-GB" dirty="0"/>
              <a:t>() from becoming hundreds of lines long.</a:t>
            </a:r>
          </a:p>
          <a:p>
            <a:r>
              <a:rPr lang="en-GB" b="1" dirty="0"/>
              <a:t>Step 5 — Creating the delegate lambda</a:t>
            </a:r>
            <a:endParaRPr lang="en-GB" dirty="0"/>
          </a:p>
          <a:p>
            <a:r>
              <a:rPr lang="en-GB" dirty="0" err="1"/>
              <a:t>ResponseFormatter</a:t>
            </a:r>
            <a:r>
              <a:rPr lang="en-GB" dirty="0"/>
              <a:t> </a:t>
            </a:r>
            <a:r>
              <a:rPr lang="en-GB" dirty="0" err="1"/>
              <a:t>formatResponse</a:t>
            </a:r>
            <a:r>
              <a:rPr lang="en-GB" dirty="0"/>
              <a:t> = (</a:t>
            </a:r>
            <a:r>
              <a:rPr lang="en-GB" dirty="0" err="1"/>
              <a:t>baseResponse</a:t>
            </a:r>
            <a:r>
              <a:rPr lang="en-GB" dirty="0"/>
              <a:t>, sentiment, </a:t>
            </a:r>
            <a:r>
              <a:rPr lang="en-GB" dirty="0" err="1"/>
              <a:t>userName</a:t>
            </a:r>
            <a:r>
              <a:rPr lang="en-GB" dirty="0"/>
              <a:t>, memory) =&gt; {</a:t>
            </a:r>
          </a:p>
          <a:p>
            <a:r>
              <a:rPr lang="en-GB" dirty="0"/>
              <a:t>    string prefix = sentiment switch {</a:t>
            </a:r>
          </a:p>
          <a:p>
            <a:r>
              <a:rPr lang="en-GB" dirty="0"/>
              <a:t>        "empathetic"   =&gt; "It's completely understandable to feel that way. ",</a:t>
            </a:r>
          </a:p>
          <a:p>
            <a:r>
              <a:rPr lang="en-GB" dirty="0"/>
              <a:t>        "enthusiastic" =&gt; "That's a great question! ",</a:t>
            </a:r>
          </a:p>
          <a:p>
            <a:r>
              <a:rPr lang="en-GB" dirty="0"/>
              <a:t>        "supportive"   =&gt; "No worries, let me break it down simply: ",</a:t>
            </a:r>
          </a:p>
          <a:p>
            <a:r>
              <a:rPr lang="en-GB" dirty="0"/>
              <a:t>        _              =&gt; ""</a:t>
            </a:r>
          </a:p>
          <a:p>
            <a:r>
              <a:rPr lang="en-GB" dirty="0"/>
              <a:t>    };</a:t>
            </a:r>
          </a:p>
          <a:p>
            <a:r>
              <a:rPr lang="en-GB" dirty="0"/>
              <a:t>    string personalization = </a:t>
            </a:r>
            <a:r>
              <a:rPr lang="en-GB" dirty="0" err="1"/>
              <a:t>memory.TryGetValue</a:t>
            </a:r>
            <a:r>
              <a:rPr lang="en-GB" dirty="0"/>
              <a:t>("interest", out var interest)</a:t>
            </a:r>
          </a:p>
          <a:p>
            <a:r>
              <a:rPr lang="en-GB" dirty="0"/>
              <a:t>        ? $" As someone interested in {interest}, {</a:t>
            </a:r>
            <a:r>
              <a:rPr lang="en-GB" dirty="0" err="1"/>
              <a:t>userName</a:t>
            </a:r>
            <a:r>
              <a:rPr lang="en-GB" dirty="0"/>
              <a:t>}: "</a:t>
            </a:r>
          </a:p>
          <a:p>
            <a:r>
              <a:rPr lang="en-GB" dirty="0"/>
              <a:t>        : $" {</a:t>
            </a:r>
            <a:r>
              <a:rPr lang="en-GB" dirty="0" err="1"/>
              <a:t>userName</a:t>
            </a:r>
            <a:r>
              <a:rPr lang="en-GB" dirty="0"/>
              <a:t>}: ";</a:t>
            </a:r>
          </a:p>
          <a:p>
            <a:r>
              <a:rPr lang="en-GB" dirty="0"/>
              <a:t>    return $"{prefix}{personalization}{</a:t>
            </a:r>
            <a:r>
              <a:rPr lang="en-GB" dirty="0" err="1"/>
              <a:t>baseResponse</a:t>
            </a:r>
            <a:r>
              <a:rPr lang="en-GB" dirty="0"/>
              <a:t>}";</a:t>
            </a:r>
          </a:p>
          <a:p>
            <a:r>
              <a:rPr lang="en-GB" dirty="0"/>
              <a:t>};</a:t>
            </a:r>
          </a:p>
          <a:p>
            <a:r>
              <a:rPr lang="en-GB" dirty="0"/>
              <a:t>This lambda satisfies the </a:t>
            </a:r>
            <a:r>
              <a:rPr lang="en-GB" dirty="0" err="1"/>
              <a:t>ResponseFormatter</a:t>
            </a:r>
            <a:r>
              <a:rPr lang="en-GB" dirty="0"/>
              <a:t> delegate signature. It uses a C# switch expression (introduced in C# 8) to map each sentiment label to its prefix string. The underscore _ is the discard pattern — it matches anything not already matched (the neutral case). It then builds a personalisation string that includes the user's name and, if available, their stated topic interest. The final response is prefix + personalisation + the raw cybersecurity content.</a:t>
            </a:r>
          </a:p>
          <a:p>
            <a:endParaRPr lang="en-GB" dirty="0"/>
          </a:p>
          <a:p>
            <a:endParaRPr lang="en-US" dirty="0"/>
          </a:p>
        </p:txBody>
      </p:sp>
      <p:sp>
        <p:nvSpPr>
          <p:cNvPr id="4" name="TextBox 3">
            <a:extLst>
              <a:ext uri="{FF2B5EF4-FFF2-40B4-BE49-F238E27FC236}">
                <a16:creationId xmlns:a16="http://schemas.microsoft.com/office/drawing/2014/main" id="{210CA287-18BE-9A69-9F3B-0FC634E1283A}"/>
              </a:ext>
            </a:extLst>
          </p:cNvPr>
          <p:cNvSpPr txBox="1"/>
          <p:nvPr/>
        </p:nvSpPr>
        <p:spPr>
          <a:xfrm>
            <a:off x="1495245" y="12038043"/>
            <a:ext cx="9144000" cy="317500"/>
          </a:xfrm>
          <a:prstGeom prst="rect">
            <a:avLst/>
          </a:prstGeom>
        </p:spPr>
        <p:txBody>
          <a:bodyPr>
            <a:normAutofit fontScale="92500" lnSpcReduction="20000"/>
          </a:bodyPr>
          <a:lstStyle/>
          <a:p>
            <a:r>
              <a:rPr lang="en-US"/>
              <a:t>ThePhoto by PhotoAuthor is licensed under CCYYSA.</a:t>
            </a:r>
          </a:p>
        </p:txBody>
      </p:sp>
    </p:spTree>
    <p:extLst>
      <p:ext uri="{BB962C8B-B14F-4D97-AF65-F5344CB8AC3E}">
        <p14:creationId xmlns:p14="http://schemas.microsoft.com/office/powerpoint/2010/main" val="29721673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51F31-8210-B625-19A4-E57F957255A3}"/>
            </a:ext>
          </a:extLst>
        </p:cNvPr>
        <p:cNvGrpSpPr/>
        <p:nvPr/>
      </p:nvGrpSpPr>
      <p:grpSpPr>
        <a:xfrm>
          <a:off x="0" y="0"/>
          <a:ext cx="0" cy="0"/>
          <a:chOff x="0" y="0"/>
          <a:chExt cx="0" cy="0"/>
        </a:xfrm>
      </p:grpSpPr>
      <p:sp>
        <p:nvSpPr>
          <p:cNvPr id="15" name="Title 14">
            <a:extLst>
              <a:ext uri="{FF2B5EF4-FFF2-40B4-BE49-F238E27FC236}">
                <a16:creationId xmlns:a16="http://schemas.microsoft.com/office/drawing/2014/main" id="{1AD9EA69-849B-4C3C-4BF7-474EC08738E4}"/>
              </a:ext>
            </a:extLst>
          </p:cNvPr>
          <p:cNvSpPr>
            <a:spLocks noGrp="1"/>
          </p:cNvSpPr>
          <p:nvPr>
            <p:ph type="title"/>
          </p:nvPr>
        </p:nvSpPr>
        <p:spPr>
          <a:xfrm>
            <a:off x="344528" y="-1601545"/>
            <a:ext cx="5011654" cy="2614293"/>
          </a:xfrm>
        </p:spPr>
        <p:txBody>
          <a:bodyPr>
            <a:normAutofit/>
          </a:bodyPr>
          <a:lstStyle/>
          <a:p>
            <a:r>
              <a:rPr lang="en-ZA" dirty="0" err="1"/>
              <a:t>MainWindow.xaml.cs</a:t>
            </a:r>
            <a:endParaRPr lang="en-US" dirty="0"/>
          </a:p>
        </p:txBody>
      </p:sp>
      <p:pic>
        <p:nvPicPr>
          <p:cNvPr id="8" name="Picture Placeholder 7">
            <a:extLst>
              <a:ext uri="{FF2B5EF4-FFF2-40B4-BE49-F238E27FC236}">
                <a16:creationId xmlns:a16="http://schemas.microsoft.com/office/drawing/2014/main" id="{E24F22E8-98A2-00CE-41C1-0534AEF8F311}"/>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l="13192" r="13192"/>
          <a:stretch>
            <a:fillRect/>
          </a:stretch>
        </p:blipFill>
        <p:spPr>
          <a:xfrm>
            <a:off x="7894" y="920150"/>
            <a:ext cx="5348288" cy="5845252"/>
          </a:xfrm>
        </p:spPr>
      </p:pic>
      <p:sp>
        <p:nvSpPr>
          <p:cNvPr id="3" name="Footer Placeholder 2">
            <a:extLst>
              <a:ext uri="{FF2B5EF4-FFF2-40B4-BE49-F238E27FC236}">
                <a16:creationId xmlns:a16="http://schemas.microsoft.com/office/drawing/2014/main" id="{5FD0CA3D-38AB-DC1E-120C-E4C69E8E3196}"/>
              </a:ext>
            </a:extLst>
          </p:cNvPr>
          <p:cNvSpPr>
            <a:spLocks noGrp="1"/>
          </p:cNvSpPr>
          <p:nvPr>
            <p:ph type="ftr" sz="quarter" idx="16"/>
          </p:nvPr>
        </p:nvSpPr>
        <p:spPr/>
        <p:txBody>
          <a:bodyPr/>
          <a:lstStyle/>
          <a:p>
            <a:r>
              <a:rPr lang="en-US"/>
              <a:t>Moyagabo Raphasha</a:t>
            </a:r>
          </a:p>
        </p:txBody>
      </p:sp>
      <p:sp>
        <p:nvSpPr>
          <p:cNvPr id="5" name="Slide Number Placeholder 4">
            <a:extLst>
              <a:ext uri="{FF2B5EF4-FFF2-40B4-BE49-F238E27FC236}">
                <a16:creationId xmlns:a16="http://schemas.microsoft.com/office/drawing/2014/main" id="{1772B35C-E1F1-949F-816B-AE4BA323BAFB}"/>
              </a:ext>
            </a:extLst>
          </p:cNvPr>
          <p:cNvSpPr>
            <a:spLocks noGrp="1"/>
          </p:cNvSpPr>
          <p:nvPr>
            <p:ph type="sldNum" sz="quarter" idx="17"/>
          </p:nvPr>
        </p:nvSpPr>
        <p:spPr/>
        <p:txBody>
          <a:bodyPr/>
          <a:lstStyle/>
          <a:p>
            <a:fld id="{24D65F33-A771-944D-9289-CA575F1D1B7F}" type="slidenum">
              <a:rPr lang="en-US" smtClean="0"/>
              <a:pPr/>
              <a:t>13</a:t>
            </a:fld>
            <a:endParaRPr lang="en-US"/>
          </a:p>
        </p:txBody>
      </p:sp>
      <p:sp>
        <p:nvSpPr>
          <p:cNvPr id="17" name="Text Placeholder 16">
            <a:extLst>
              <a:ext uri="{FF2B5EF4-FFF2-40B4-BE49-F238E27FC236}">
                <a16:creationId xmlns:a16="http://schemas.microsoft.com/office/drawing/2014/main" id="{020206ED-8FC9-4295-4667-E5DD9488AFCA}"/>
              </a:ext>
            </a:extLst>
          </p:cNvPr>
          <p:cNvSpPr>
            <a:spLocks noGrp="1"/>
          </p:cNvSpPr>
          <p:nvPr>
            <p:ph type="body" sz="quarter" idx="4294967295"/>
          </p:nvPr>
        </p:nvSpPr>
        <p:spPr>
          <a:xfrm>
            <a:off x="5765322" y="612026"/>
            <a:ext cx="6295498" cy="6054992"/>
          </a:xfrm>
        </p:spPr>
        <p:txBody>
          <a:bodyPr vert="horz" lIns="91440" tIns="45720" rIns="91440" bIns="45720" rtlCol="0" anchor="t">
            <a:normAutofit fontScale="40000" lnSpcReduction="20000"/>
          </a:bodyPr>
          <a:lstStyle/>
          <a:p>
            <a:r>
              <a:rPr lang="en-GB" b="1" dirty="0"/>
              <a:t>Step 6 — _</a:t>
            </a:r>
            <a:r>
              <a:rPr lang="en-GB" b="1" dirty="0" err="1"/>
              <a:t>chatService</a:t>
            </a:r>
            <a:r>
              <a:rPr lang="en-GB" b="1" dirty="0"/>
              <a:t> = new </a:t>
            </a:r>
            <a:r>
              <a:rPr lang="en-GB" b="1" dirty="0" err="1"/>
              <a:t>ChatService</a:t>
            </a:r>
            <a:r>
              <a:rPr lang="en-GB" b="1" dirty="0"/>
              <a:t>(definitions, </a:t>
            </a:r>
            <a:r>
              <a:rPr lang="en-GB" b="1" dirty="0" err="1"/>
              <a:t>formatResponse</a:t>
            </a:r>
            <a:r>
              <a:rPr lang="en-GB" b="1" dirty="0"/>
              <a:t>)</a:t>
            </a:r>
            <a:r>
              <a:rPr lang="en-GB" dirty="0"/>
              <a:t> Constructs the </a:t>
            </a:r>
            <a:r>
              <a:rPr lang="en-GB" dirty="0" err="1"/>
              <a:t>ChatService</a:t>
            </a:r>
            <a:r>
              <a:rPr lang="en-GB" dirty="0"/>
              <a:t> by passing both the dictionary and the delegate. From this point, _</a:t>
            </a:r>
            <a:r>
              <a:rPr lang="en-GB" dirty="0" err="1"/>
              <a:t>chatService.GetResponse</a:t>
            </a:r>
            <a:r>
              <a:rPr lang="en-GB" dirty="0"/>
              <a:t>() is the only call needed to get a bot reply.</a:t>
            </a:r>
          </a:p>
          <a:p>
            <a:r>
              <a:rPr lang="en-GB" b="1" dirty="0"/>
              <a:t>Step 7 — _ = </a:t>
            </a:r>
            <a:r>
              <a:rPr lang="en-GB" b="1" dirty="0" err="1"/>
              <a:t>AudioPlayer.PlayGreetingAsync</a:t>
            </a:r>
            <a:r>
              <a:rPr lang="en-GB" b="1" dirty="0"/>
              <a:t>()</a:t>
            </a:r>
            <a:r>
              <a:rPr lang="en-GB" dirty="0"/>
              <a:t> Plays the greeting sound asynchronously. The _ (underscore) is a discard — it intentionally throws away the returned Task because the app doesn't need to know when or whether the audio finished. This is called fire-and-forget.</a:t>
            </a:r>
          </a:p>
          <a:p>
            <a:r>
              <a:rPr lang="en-GB" b="1" dirty="0"/>
              <a:t>Step 8 — </a:t>
            </a:r>
            <a:r>
              <a:rPr lang="en-GB" b="1" dirty="0" err="1"/>
              <a:t>AddBotMessage</a:t>
            </a:r>
            <a:r>
              <a:rPr lang="en-GB" b="1" dirty="0"/>
              <a:t>(...) and </a:t>
            </a:r>
            <a:r>
              <a:rPr lang="en-GB" b="1" dirty="0" err="1"/>
              <a:t>UserInput.Focus</a:t>
            </a:r>
            <a:r>
              <a:rPr lang="en-GB" b="1" dirty="0"/>
              <a:t>()</a:t>
            </a:r>
            <a:r>
              <a:rPr lang="en-GB" dirty="0"/>
              <a:t> Displays the opening welcome message in the chat, then calls </a:t>
            </a:r>
            <a:r>
              <a:rPr lang="en-GB" dirty="0" err="1"/>
              <a:t>UserInput.Focus</a:t>
            </a:r>
            <a:r>
              <a:rPr lang="en-GB" dirty="0"/>
              <a:t>() which places the text cursor inside the input </a:t>
            </a:r>
            <a:r>
              <a:rPr lang="en-GB" dirty="0" err="1"/>
              <a:t>TextBox</a:t>
            </a:r>
            <a:r>
              <a:rPr lang="en-GB" dirty="0"/>
              <a:t> so the user can start typing immediately without having to click it.</a:t>
            </a:r>
          </a:p>
          <a:p>
            <a:br>
              <a:rPr lang="en-GB" dirty="0"/>
            </a:br>
            <a:endParaRPr lang="en-GB" dirty="0"/>
          </a:p>
          <a:p>
            <a:r>
              <a:rPr lang="en-GB" b="1" dirty="0" err="1"/>
              <a:t>CreateDefinitionsDictionary</a:t>
            </a:r>
            <a:r>
              <a:rPr lang="en-GB" b="1" dirty="0"/>
              <a:t>()</a:t>
            </a:r>
          </a:p>
          <a:p>
            <a:r>
              <a:rPr lang="en-GB" dirty="0"/>
              <a:t>Returns a Dictionary&lt;string, string&gt; using </a:t>
            </a:r>
            <a:r>
              <a:rPr lang="en-GB" dirty="0" err="1"/>
              <a:t>StringComparer.OrdinalIgnoreCase</a:t>
            </a:r>
            <a:r>
              <a:rPr lang="en-GB" dirty="0"/>
              <a:t>. This comparer means that the keys "password", "Password", and "PASSWORD" are all treated as identical — no matter how the user capitalises their input, the correct entry is found.</a:t>
            </a:r>
          </a:p>
          <a:p>
            <a:r>
              <a:rPr lang="en-GB" b="1" dirty="0"/>
              <a:t>The 40 entries are split into 5 categories of 10:</a:t>
            </a:r>
            <a:endParaRPr lang="en-GB" dirty="0"/>
          </a:p>
          <a:p>
            <a:r>
              <a:rPr lang="en-GB" dirty="0"/>
              <a:t>Passwords and Authentication — password, strong password, passphrase, pin, login safety, credentials, 2fa, enable 2fa, </a:t>
            </a:r>
            <a:r>
              <a:rPr lang="en-GB" dirty="0" err="1"/>
              <a:t>mfa</a:t>
            </a:r>
            <a:r>
              <a:rPr lang="en-GB" dirty="0"/>
              <a:t>, biometrics</a:t>
            </a:r>
          </a:p>
          <a:p>
            <a:r>
              <a:rPr lang="en-GB" dirty="0"/>
              <a:t>Phishing and Scams — phishing, spot phishing, report phishing, scam, avoid scams, smishing, vishing, email security, fake website, spam</a:t>
            </a:r>
          </a:p>
          <a:p>
            <a:r>
              <a:rPr lang="en-GB" dirty="0"/>
              <a:t>Malware and Threats — malware, protect from malware, ransomware, virus, trojan, spyware, hacker, data breach, respond to breach, </a:t>
            </a:r>
            <a:r>
              <a:rPr lang="en-GB" dirty="0" err="1"/>
              <a:t>ddos</a:t>
            </a:r>
            <a:r>
              <a:rPr lang="en-GB" dirty="0"/>
              <a:t> attack</a:t>
            </a:r>
          </a:p>
          <a:p>
            <a:r>
              <a:rPr lang="en-GB" dirty="0"/>
              <a:t>Network and Device — </a:t>
            </a:r>
            <a:r>
              <a:rPr lang="en-GB" dirty="0" err="1"/>
              <a:t>wifi</a:t>
            </a:r>
            <a:r>
              <a:rPr lang="en-GB" dirty="0"/>
              <a:t> security, </a:t>
            </a:r>
            <a:r>
              <a:rPr lang="en-GB" dirty="0" err="1"/>
              <a:t>vpn</a:t>
            </a:r>
            <a:r>
              <a:rPr lang="en-GB" dirty="0"/>
              <a:t>, firewall, update software, backup data, encryption, public </a:t>
            </a:r>
            <a:r>
              <a:rPr lang="en-GB" dirty="0" err="1"/>
              <a:t>wifi</a:t>
            </a:r>
            <a:r>
              <a:rPr lang="en-GB" dirty="0"/>
              <a:t>, router security, antivirus, patch management</a:t>
            </a:r>
          </a:p>
          <a:p>
            <a:r>
              <a:rPr lang="en-GB" dirty="0"/>
              <a:t>Privacy and Safe Browsing — privacy, protect privacy, safe browsing, https, cookies, tracking, </a:t>
            </a:r>
            <a:r>
              <a:rPr lang="en-GB" dirty="0" err="1"/>
              <a:t>popia</a:t>
            </a:r>
            <a:r>
              <a:rPr lang="en-GB" dirty="0"/>
              <a:t>, </a:t>
            </a:r>
            <a:r>
              <a:rPr lang="en-GB" dirty="0" err="1"/>
              <a:t>gdpr</a:t>
            </a:r>
            <a:r>
              <a:rPr lang="en-GB" dirty="0"/>
              <a:t>, identity theft, secure download</a:t>
            </a:r>
          </a:p>
          <a:p>
            <a:r>
              <a:rPr lang="en-GB" b="1" dirty="0"/>
              <a:t>Value format:</a:t>
            </a:r>
            <a:r>
              <a:rPr lang="en-GB" dirty="0"/>
              <a:t> Many values use a pipe (|) separator: "Response A | Response B | Response C". The </a:t>
            </a:r>
            <a:r>
              <a:rPr lang="en-GB" dirty="0" err="1"/>
              <a:t>GetRandomResponse</a:t>
            </a:r>
            <a:r>
              <a:rPr lang="en-GB" dirty="0"/>
              <a:t>() helper splits on this pipe and returns one option randomly. This gives the bot variety — asking about the same topic twice can return different wording.</a:t>
            </a:r>
          </a:p>
          <a:p>
            <a:r>
              <a:rPr lang="en-GB" b="1" dirty="0" err="1"/>
              <a:t>AddBotMessage</a:t>
            </a:r>
            <a:r>
              <a:rPr lang="en-GB" b="1" dirty="0"/>
              <a:t>(string text)</a:t>
            </a:r>
          </a:p>
          <a:p>
            <a:r>
              <a:rPr lang="en-GB" dirty="0"/>
              <a:t>Creates a new </a:t>
            </a:r>
            <a:r>
              <a:rPr lang="en-GB" dirty="0" err="1"/>
              <a:t>ChatMessage</a:t>
            </a:r>
            <a:r>
              <a:rPr lang="en-GB" dirty="0"/>
              <a:t> object with:</a:t>
            </a:r>
          </a:p>
          <a:p>
            <a:r>
              <a:rPr lang="en-GB" dirty="0"/>
              <a:t>Background = "#0f3460" (dark navy)</a:t>
            </a:r>
          </a:p>
          <a:p>
            <a:r>
              <a:rPr lang="en-GB" dirty="0"/>
              <a:t>Foreground = "White"</a:t>
            </a:r>
          </a:p>
          <a:p>
            <a:r>
              <a:rPr lang="en-GB" dirty="0"/>
              <a:t>Alignment = </a:t>
            </a:r>
            <a:r>
              <a:rPr lang="en-GB" dirty="0" err="1"/>
              <a:t>HorizontalAlignment.Left</a:t>
            </a:r>
            <a:r>
              <a:rPr lang="en-GB" dirty="0"/>
              <a:t> (left side of chat)</a:t>
            </a:r>
          </a:p>
          <a:p>
            <a:r>
              <a:rPr lang="en-GB" dirty="0"/>
              <a:t>Text set to the parameter</a:t>
            </a:r>
          </a:p>
          <a:p>
            <a:r>
              <a:rPr lang="en-GB" dirty="0"/>
              <a:t>Adds it to _messages (which triggers WPF to render a new bubble), then calls </a:t>
            </a:r>
            <a:r>
              <a:rPr lang="en-GB" dirty="0" err="1"/>
              <a:t>ChatScroll.ScrollToEnd</a:t>
            </a:r>
            <a:r>
              <a:rPr lang="en-GB" dirty="0"/>
              <a:t>() to auto-scroll the chat view down to the newest message.</a:t>
            </a:r>
          </a:p>
          <a:p>
            <a:r>
              <a:rPr lang="en-ZA" b="1" dirty="0" err="1"/>
              <a:t>AddUserMessage</a:t>
            </a:r>
            <a:r>
              <a:rPr lang="en-ZA" b="1" dirty="0"/>
              <a:t>(string text)</a:t>
            </a:r>
          </a:p>
          <a:p>
            <a:r>
              <a:rPr lang="en-ZA" dirty="0"/>
              <a:t>Same pattern as </a:t>
            </a:r>
            <a:r>
              <a:rPr lang="en-ZA" dirty="0" err="1"/>
              <a:t>AddBotMessage</a:t>
            </a:r>
            <a:r>
              <a:rPr lang="en-ZA" dirty="0"/>
              <a:t> but with different styling:</a:t>
            </a:r>
          </a:p>
          <a:p>
            <a:r>
              <a:rPr lang="en-ZA" dirty="0"/>
              <a:t>Background = "#00d4ff" (cyan)</a:t>
            </a:r>
          </a:p>
          <a:p>
            <a:r>
              <a:rPr lang="en-ZA" dirty="0"/>
              <a:t>Foreground = "#1a1a2e" (very dark, for contrast on the bright background)</a:t>
            </a:r>
          </a:p>
          <a:p>
            <a:r>
              <a:rPr lang="en-ZA" dirty="0"/>
              <a:t>Alignment = </a:t>
            </a:r>
            <a:r>
              <a:rPr lang="en-ZA" dirty="0" err="1"/>
              <a:t>HorizontalAlignment.Right</a:t>
            </a:r>
            <a:r>
              <a:rPr lang="en-ZA" dirty="0"/>
              <a:t> (right side of chat)</a:t>
            </a:r>
          </a:p>
          <a:p>
            <a:r>
              <a:rPr lang="en-ZA" dirty="0"/>
              <a:t>Also calls </a:t>
            </a:r>
            <a:r>
              <a:rPr lang="en-ZA" dirty="0" err="1"/>
              <a:t>ScrollToEnd</a:t>
            </a:r>
            <a:r>
              <a:rPr lang="en-ZA" dirty="0"/>
              <a:t>().</a:t>
            </a:r>
          </a:p>
          <a:p>
            <a:endParaRPr lang="en-GB" dirty="0"/>
          </a:p>
          <a:p>
            <a:endParaRPr lang="en-US" dirty="0"/>
          </a:p>
        </p:txBody>
      </p:sp>
      <p:sp>
        <p:nvSpPr>
          <p:cNvPr id="4" name="TextBox 3">
            <a:extLst>
              <a:ext uri="{FF2B5EF4-FFF2-40B4-BE49-F238E27FC236}">
                <a16:creationId xmlns:a16="http://schemas.microsoft.com/office/drawing/2014/main" id="{81DD9AFC-9274-B15B-205D-FF92CE199D8A}"/>
              </a:ext>
            </a:extLst>
          </p:cNvPr>
          <p:cNvSpPr txBox="1"/>
          <p:nvPr/>
        </p:nvSpPr>
        <p:spPr>
          <a:xfrm>
            <a:off x="1495245" y="12038043"/>
            <a:ext cx="9144000" cy="317500"/>
          </a:xfrm>
          <a:prstGeom prst="rect">
            <a:avLst/>
          </a:prstGeom>
        </p:spPr>
        <p:txBody>
          <a:bodyPr>
            <a:normAutofit fontScale="92500" lnSpcReduction="20000"/>
          </a:bodyPr>
          <a:lstStyle/>
          <a:p>
            <a:r>
              <a:rPr lang="en-US"/>
              <a:t>ThePhoto by PhotoAuthor is licensed under CCYYSA.</a:t>
            </a:r>
          </a:p>
        </p:txBody>
      </p:sp>
    </p:spTree>
    <p:extLst>
      <p:ext uri="{BB962C8B-B14F-4D97-AF65-F5344CB8AC3E}">
        <p14:creationId xmlns:p14="http://schemas.microsoft.com/office/powerpoint/2010/main" val="1627395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D519F-3B5F-B9A4-4B9B-DEBEBF22971B}"/>
            </a:ext>
          </a:extLst>
        </p:cNvPr>
        <p:cNvGrpSpPr/>
        <p:nvPr/>
      </p:nvGrpSpPr>
      <p:grpSpPr>
        <a:xfrm>
          <a:off x="0" y="0"/>
          <a:ext cx="0" cy="0"/>
          <a:chOff x="0" y="0"/>
          <a:chExt cx="0" cy="0"/>
        </a:xfrm>
      </p:grpSpPr>
      <p:sp>
        <p:nvSpPr>
          <p:cNvPr id="15" name="Title 14">
            <a:extLst>
              <a:ext uri="{FF2B5EF4-FFF2-40B4-BE49-F238E27FC236}">
                <a16:creationId xmlns:a16="http://schemas.microsoft.com/office/drawing/2014/main" id="{6B7E9455-150C-B747-605C-DE2616B24780}"/>
              </a:ext>
            </a:extLst>
          </p:cNvPr>
          <p:cNvSpPr>
            <a:spLocks noGrp="1"/>
          </p:cNvSpPr>
          <p:nvPr>
            <p:ph type="title"/>
          </p:nvPr>
        </p:nvSpPr>
        <p:spPr>
          <a:xfrm>
            <a:off x="344528" y="-1601545"/>
            <a:ext cx="5011654" cy="2614293"/>
          </a:xfrm>
        </p:spPr>
        <p:txBody>
          <a:bodyPr>
            <a:normAutofit/>
          </a:bodyPr>
          <a:lstStyle/>
          <a:p>
            <a:r>
              <a:rPr lang="en-ZA" dirty="0" err="1"/>
              <a:t>MainWindow.xaml.cs</a:t>
            </a:r>
            <a:endParaRPr lang="en-US" dirty="0"/>
          </a:p>
        </p:txBody>
      </p:sp>
      <p:pic>
        <p:nvPicPr>
          <p:cNvPr id="8" name="Picture Placeholder 7">
            <a:extLst>
              <a:ext uri="{FF2B5EF4-FFF2-40B4-BE49-F238E27FC236}">
                <a16:creationId xmlns:a16="http://schemas.microsoft.com/office/drawing/2014/main" id="{2BC36D2E-39E3-EB39-BA6A-6DFE46A5F8F1}"/>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l="13192" r="13192"/>
          <a:stretch>
            <a:fillRect/>
          </a:stretch>
        </p:blipFill>
        <p:spPr>
          <a:xfrm>
            <a:off x="7894" y="920150"/>
            <a:ext cx="5348288" cy="5845252"/>
          </a:xfrm>
        </p:spPr>
      </p:pic>
      <p:sp>
        <p:nvSpPr>
          <p:cNvPr id="3" name="Footer Placeholder 2">
            <a:extLst>
              <a:ext uri="{FF2B5EF4-FFF2-40B4-BE49-F238E27FC236}">
                <a16:creationId xmlns:a16="http://schemas.microsoft.com/office/drawing/2014/main" id="{F8B44DF9-03F1-5EB6-97FA-B87D54675228}"/>
              </a:ext>
            </a:extLst>
          </p:cNvPr>
          <p:cNvSpPr>
            <a:spLocks noGrp="1"/>
          </p:cNvSpPr>
          <p:nvPr>
            <p:ph type="ftr" sz="quarter" idx="16"/>
          </p:nvPr>
        </p:nvSpPr>
        <p:spPr/>
        <p:txBody>
          <a:bodyPr/>
          <a:lstStyle/>
          <a:p>
            <a:r>
              <a:rPr lang="en-US"/>
              <a:t>Moyagabo Raphasha</a:t>
            </a:r>
          </a:p>
        </p:txBody>
      </p:sp>
      <p:sp>
        <p:nvSpPr>
          <p:cNvPr id="5" name="Slide Number Placeholder 4">
            <a:extLst>
              <a:ext uri="{FF2B5EF4-FFF2-40B4-BE49-F238E27FC236}">
                <a16:creationId xmlns:a16="http://schemas.microsoft.com/office/drawing/2014/main" id="{CF5B2414-5BD3-BFC1-6309-2B8645A02AA9}"/>
              </a:ext>
            </a:extLst>
          </p:cNvPr>
          <p:cNvSpPr>
            <a:spLocks noGrp="1"/>
          </p:cNvSpPr>
          <p:nvPr>
            <p:ph type="sldNum" sz="quarter" idx="17"/>
          </p:nvPr>
        </p:nvSpPr>
        <p:spPr/>
        <p:txBody>
          <a:bodyPr/>
          <a:lstStyle/>
          <a:p>
            <a:fld id="{24D65F33-A771-944D-9289-CA575F1D1B7F}" type="slidenum">
              <a:rPr lang="en-US" smtClean="0"/>
              <a:pPr/>
              <a:t>14</a:t>
            </a:fld>
            <a:endParaRPr lang="en-US"/>
          </a:p>
        </p:txBody>
      </p:sp>
      <p:sp>
        <p:nvSpPr>
          <p:cNvPr id="17" name="Text Placeholder 16">
            <a:extLst>
              <a:ext uri="{FF2B5EF4-FFF2-40B4-BE49-F238E27FC236}">
                <a16:creationId xmlns:a16="http://schemas.microsoft.com/office/drawing/2014/main" id="{61CA2007-BB30-508E-1A68-1A582B59A6E9}"/>
              </a:ext>
            </a:extLst>
          </p:cNvPr>
          <p:cNvSpPr>
            <a:spLocks noGrp="1"/>
          </p:cNvSpPr>
          <p:nvPr>
            <p:ph type="body" sz="quarter" idx="4294967295"/>
          </p:nvPr>
        </p:nvSpPr>
        <p:spPr>
          <a:xfrm>
            <a:off x="5765322" y="612026"/>
            <a:ext cx="6295498" cy="6054992"/>
          </a:xfrm>
        </p:spPr>
        <p:txBody>
          <a:bodyPr vert="horz" lIns="91440" tIns="45720" rIns="91440" bIns="45720" rtlCol="0" anchor="t">
            <a:normAutofit fontScale="70000" lnSpcReduction="20000"/>
          </a:bodyPr>
          <a:lstStyle/>
          <a:p>
            <a:r>
              <a:rPr lang="en-GB" b="1" dirty="0"/>
              <a:t>Event Handlers — </a:t>
            </a:r>
            <a:r>
              <a:rPr lang="en-GB" b="1" dirty="0" err="1"/>
              <a:t>SendButton_Click</a:t>
            </a:r>
            <a:r>
              <a:rPr lang="en-GB" b="1" dirty="0"/>
              <a:t> and </a:t>
            </a:r>
            <a:r>
              <a:rPr lang="en-GB" b="1" dirty="0" err="1"/>
              <a:t>UserInput_KeyDown</a:t>
            </a:r>
            <a:endParaRPr lang="en-GB" b="1" dirty="0"/>
          </a:p>
          <a:p>
            <a:r>
              <a:rPr lang="en-GB" b="1" dirty="0" err="1"/>
              <a:t>SendButton_Click</a:t>
            </a:r>
            <a:r>
              <a:rPr lang="en-GB" b="1" dirty="0"/>
              <a:t>(object sender, </a:t>
            </a:r>
            <a:r>
              <a:rPr lang="en-GB" b="1" dirty="0" err="1"/>
              <a:t>RoutedEventArgs</a:t>
            </a:r>
            <a:r>
              <a:rPr lang="en-GB" b="1" dirty="0"/>
              <a:t> e)</a:t>
            </a:r>
            <a:r>
              <a:rPr lang="en-GB" dirty="0"/>
              <a:t> Wired to the Send button in XAML via Click="</a:t>
            </a:r>
            <a:r>
              <a:rPr lang="en-GB" dirty="0" err="1"/>
              <a:t>SendButton_Click</a:t>
            </a:r>
            <a:r>
              <a:rPr lang="en-GB" dirty="0"/>
              <a:t>". When the button is clicked, this handler fires and immediately calls </a:t>
            </a:r>
            <a:r>
              <a:rPr lang="en-GB" dirty="0" err="1"/>
              <a:t>ProcessInput</a:t>
            </a:r>
            <a:r>
              <a:rPr lang="en-GB" dirty="0"/>
              <a:t>(). The handler itself does nothing else — keeping event handlers thin and delegating real logic to dedicated methods is a good practice.</a:t>
            </a:r>
          </a:p>
          <a:p>
            <a:r>
              <a:rPr lang="en-GB" b="1" dirty="0" err="1"/>
              <a:t>UserInput_KeyDown</a:t>
            </a:r>
            <a:r>
              <a:rPr lang="en-GB" b="1" dirty="0"/>
              <a:t>(object sender, </a:t>
            </a:r>
            <a:r>
              <a:rPr lang="en-GB" b="1" dirty="0" err="1"/>
              <a:t>KeyEventArgs</a:t>
            </a:r>
            <a:r>
              <a:rPr lang="en-GB" b="1" dirty="0"/>
              <a:t> e)</a:t>
            </a:r>
            <a:r>
              <a:rPr lang="en-GB" dirty="0"/>
              <a:t> Wired to the </a:t>
            </a:r>
            <a:r>
              <a:rPr lang="en-GB" dirty="0" err="1"/>
              <a:t>TextBox</a:t>
            </a:r>
            <a:r>
              <a:rPr lang="en-GB" dirty="0"/>
              <a:t> in XAML via </a:t>
            </a:r>
            <a:r>
              <a:rPr lang="en-GB" dirty="0" err="1"/>
              <a:t>KeyDown</a:t>
            </a:r>
            <a:r>
              <a:rPr lang="en-GB" dirty="0"/>
              <a:t>="</a:t>
            </a:r>
            <a:r>
              <a:rPr lang="en-GB" dirty="0" err="1"/>
              <a:t>UserInput_KeyDown</a:t>
            </a:r>
            <a:r>
              <a:rPr lang="en-GB" dirty="0"/>
              <a:t>". Fires on every keypress. The method checks if (</a:t>
            </a:r>
            <a:r>
              <a:rPr lang="en-GB" dirty="0" err="1"/>
              <a:t>e.Key</a:t>
            </a:r>
            <a:r>
              <a:rPr lang="en-GB" dirty="0"/>
              <a:t> == </a:t>
            </a:r>
            <a:r>
              <a:rPr lang="en-GB" dirty="0" err="1"/>
              <a:t>Key.Enter</a:t>
            </a:r>
            <a:r>
              <a:rPr lang="en-GB" dirty="0"/>
              <a:t>) and calls </a:t>
            </a:r>
            <a:r>
              <a:rPr lang="en-GB" dirty="0" err="1"/>
              <a:t>ProcessInput</a:t>
            </a:r>
            <a:r>
              <a:rPr lang="en-GB" dirty="0"/>
              <a:t>() if true. This allows the user to send messages by pressing Enter instead of clicking the button.</a:t>
            </a:r>
          </a:p>
          <a:p>
            <a:br>
              <a:rPr lang="en-GB" dirty="0"/>
            </a:br>
            <a:endParaRPr lang="en-GB" dirty="0"/>
          </a:p>
          <a:p>
            <a:r>
              <a:rPr lang="en-GB" b="1" dirty="0" err="1"/>
              <a:t>ProcessInput</a:t>
            </a:r>
            <a:r>
              <a:rPr lang="en-GB" b="1" dirty="0"/>
              <a:t>()</a:t>
            </a:r>
          </a:p>
          <a:p>
            <a:r>
              <a:rPr lang="en-GB" dirty="0"/>
              <a:t>This is the full send-and-receive cycle that runs every time the user submits a message.</a:t>
            </a:r>
          </a:p>
          <a:p>
            <a:r>
              <a:rPr lang="en-GB" b="1" dirty="0"/>
              <a:t>Step 1 — string </a:t>
            </a:r>
            <a:r>
              <a:rPr lang="en-GB" b="1" dirty="0" err="1"/>
              <a:t>userInput</a:t>
            </a:r>
            <a:r>
              <a:rPr lang="en-GB" b="1" dirty="0"/>
              <a:t> = </a:t>
            </a:r>
            <a:r>
              <a:rPr lang="en-GB" b="1" dirty="0" err="1"/>
              <a:t>UserInput.Text.Trim</a:t>
            </a:r>
            <a:r>
              <a:rPr lang="en-GB" b="1" dirty="0"/>
              <a:t>()</a:t>
            </a:r>
            <a:r>
              <a:rPr lang="en-GB" dirty="0"/>
              <a:t> Reads the raw text from the </a:t>
            </a:r>
            <a:r>
              <a:rPr lang="en-GB" dirty="0" err="1"/>
              <a:t>TextBox</a:t>
            </a:r>
            <a:r>
              <a:rPr lang="en-GB" dirty="0"/>
              <a:t>. Trim() removes any leading or trailing whitespace so that pressing Enter on an empty line (or a line of spaces) doesn't send a blank message.</a:t>
            </a:r>
          </a:p>
          <a:p>
            <a:r>
              <a:rPr lang="en-GB" b="1" dirty="0"/>
              <a:t>Step 2 — Guard clause</a:t>
            </a:r>
            <a:endParaRPr lang="en-GB" dirty="0"/>
          </a:p>
          <a:p>
            <a:r>
              <a:rPr lang="en-GB" dirty="0"/>
              <a:t>if (</a:t>
            </a:r>
            <a:r>
              <a:rPr lang="en-GB" dirty="0" err="1"/>
              <a:t>string.IsNullOrWhiteSpace</a:t>
            </a:r>
            <a:r>
              <a:rPr lang="en-GB" dirty="0"/>
              <a:t>(</a:t>
            </a:r>
            <a:r>
              <a:rPr lang="en-GB" dirty="0" err="1"/>
              <a:t>userInput</a:t>
            </a:r>
            <a:r>
              <a:rPr lang="en-GB" dirty="0"/>
              <a:t>)) {</a:t>
            </a:r>
          </a:p>
          <a:p>
            <a:r>
              <a:rPr lang="en-GB" dirty="0"/>
              <a:t>    </a:t>
            </a:r>
            <a:r>
              <a:rPr lang="en-GB" dirty="0" err="1"/>
              <a:t>AddBotMessage</a:t>
            </a:r>
            <a:r>
              <a:rPr lang="en-GB" dirty="0"/>
              <a:t>(" Please enter a message.");</a:t>
            </a:r>
          </a:p>
          <a:p>
            <a:r>
              <a:rPr lang="en-GB" dirty="0"/>
              <a:t>    return;</a:t>
            </a:r>
          </a:p>
          <a:p>
            <a:r>
              <a:rPr lang="en-GB" dirty="0"/>
              <a:t>}</a:t>
            </a:r>
          </a:p>
          <a:p>
            <a:r>
              <a:rPr lang="en-GB" dirty="0"/>
              <a:t>If the input is empty or only whitespace, a warning bubble is shown and the method returns early. This prevents an empty string being passed to </a:t>
            </a:r>
            <a:r>
              <a:rPr lang="en-GB" dirty="0" err="1"/>
              <a:t>GetResponse</a:t>
            </a:r>
            <a:r>
              <a:rPr lang="en-GB" dirty="0"/>
              <a:t>().</a:t>
            </a:r>
          </a:p>
          <a:p>
            <a:r>
              <a:rPr lang="en-GB" b="1" dirty="0"/>
              <a:t>Step 3 — Display and clear</a:t>
            </a:r>
            <a:r>
              <a:rPr lang="en-GB" dirty="0"/>
              <a:t> </a:t>
            </a:r>
            <a:r>
              <a:rPr lang="en-GB" dirty="0" err="1"/>
              <a:t>AddUserMessage</a:t>
            </a:r>
            <a:r>
              <a:rPr lang="en-GB" dirty="0"/>
              <a:t>(</a:t>
            </a:r>
            <a:r>
              <a:rPr lang="en-GB" dirty="0" err="1"/>
              <a:t>userInput</a:t>
            </a:r>
            <a:r>
              <a:rPr lang="en-GB" dirty="0"/>
              <a:t>) shows the user's message as a cyan right-aligned bubble. </a:t>
            </a:r>
            <a:r>
              <a:rPr lang="en-GB" dirty="0" err="1"/>
              <a:t>UserInput.Clear</a:t>
            </a:r>
            <a:r>
              <a:rPr lang="en-GB" dirty="0"/>
              <a:t>() empties the </a:t>
            </a:r>
            <a:r>
              <a:rPr lang="en-GB" dirty="0" err="1"/>
              <a:t>TextBox</a:t>
            </a:r>
            <a:r>
              <a:rPr lang="en-GB" dirty="0"/>
              <a:t>. </a:t>
            </a:r>
            <a:r>
              <a:rPr lang="en-GB" dirty="0" err="1"/>
              <a:t>StatusText.Text</a:t>
            </a:r>
            <a:r>
              <a:rPr lang="en-GB" dirty="0"/>
              <a:t> = "Processing..." updates the status bar at the bottom of the window to give the user immediate visual feedback that something is happening.</a:t>
            </a:r>
          </a:p>
          <a:p>
            <a:r>
              <a:rPr lang="en-GB" b="1" dirty="0"/>
              <a:t>Step 4 — Get response</a:t>
            </a:r>
            <a:r>
              <a:rPr lang="en-GB" dirty="0"/>
              <a:t> string response = _</a:t>
            </a:r>
            <a:r>
              <a:rPr lang="en-GB" dirty="0" err="1"/>
              <a:t>chatService.GetResponse</a:t>
            </a:r>
            <a:r>
              <a:rPr lang="en-GB" dirty="0"/>
              <a:t>(</a:t>
            </a:r>
            <a:r>
              <a:rPr lang="en-GB" dirty="0" err="1"/>
              <a:t>userInput</a:t>
            </a:r>
            <a:r>
              <a:rPr lang="en-GB" dirty="0"/>
              <a:t>) sends the input through the entire 7-step pipeline in </a:t>
            </a:r>
            <a:r>
              <a:rPr lang="en-GB" dirty="0" err="1"/>
              <a:t>ChatService</a:t>
            </a:r>
            <a:r>
              <a:rPr lang="en-GB" dirty="0"/>
              <a:t> and returns the formatted reply string. This is a synchronous call — it runs on the UI thread. </a:t>
            </a:r>
            <a:r>
              <a:rPr lang="en-GB" dirty="0" err="1"/>
              <a:t>GetResponse</a:t>
            </a:r>
            <a:r>
              <a:rPr lang="en-GB" dirty="0"/>
              <a:t>() is fast enough (dictionary lookups and string operations) that async is not needed here.</a:t>
            </a:r>
          </a:p>
          <a:p>
            <a:r>
              <a:rPr lang="en-GB" b="1" dirty="0"/>
              <a:t>Step 5 — Display response</a:t>
            </a:r>
            <a:r>
              <a:rPr lang="en-GB" dirty="0"/>
              <a:t> </a:t>
            </a:r>
            <a:r>
              <a:rPr lang="en-GB" dirty="0" err="1"/>
              <a:t>AddBotMessage</a:t>
            </a:r>
            <a:r>
              <a:rPr lang="en-GB" dirty="0"/>
              <a:t>(response) renders the bot's reply as a dark navy left-aligned bubble. </a:t>
            </a:r>
            <a:r>
              <a:rPr lang="en-GB" dirty="0" err="1"/>
              <a:t>StatusText.Text</a:t>
            </a:r>
            <a:r>
              <a:rPr lang="en-GB" dirty="0"/>
              <a:t> = "Ready | Type 'help' for topics" resets the status bar to its idle message.</a:t>
            </a:r>
          </a:p>
          <a:p>
            <a:endParaRPr lang="en-US" dirty="0"/>
          </a:p>
        </p:txBody>
      </p:sp>
      <p:sp>
        <p:nvSpPr>
          <p:cNvPr id="4" name="TextBox 3">
            <a:extLst>
              <a:ext uri="{FF2B5EF4-FFF2-40B4-BE49-F238E27FC236}">
                <a16:creationId xmlns:a16="http://schemas.microsoft.com/office/drawing/2014/main" id="{DCC49E0E-3FDD-4A25-F71C-F12CA476E9FD}"/>
              </a:ext>
            </a:extLst>
          </p:cNvPr>
          <p:cNvSpPr txBox="1"/>
          <p:nvPr/>
        </p:nvSpPr>
        <p:spPr>
          <a:xfrm>
            <a:off x="1495245" y="12038043"/>
            <a:ext cx="9144000" cy="317500"/>
          </a:xfrm>
          <a:prstGeom prst="rect">
            <a:avLst/>
          </a:prstGeom>
        </p:spPr>
        <p:txBody>
          <a:bodyPr>
            <a:normAutofit fontScale="92500" lnSpcReduction="20000"/>
          </a:bodyPr>
          <a:lstStyle/>
          <a:p>
            <a:r>
              <a:rPr lang="en-US"/>
              <a:t>ThePhoto by PhotoAuthor is licensed under CCYYSA.</a:t>
            </a:r>
          </a:p>
        </p:txBody>
      </p:sp>
    </p:spTree>
    <p:extLst>
      <p:ext uri="{BB962C8B-B14F-4D97-AF65-F5344CB8AC3E}">
        <p14:creationId xmlns:p14="http://schemas.microsoft.com/office/powerpoint/2010/main" val="10668324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1C1D71D-DFF9-19F5-552D-2A9D5E1D559B}"/>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Placeholder 8">
            <a:extLst>
              <a:ext uri="{FF2B5EF4-FFF2-40B4-BE49-F238E27FC236}">
                <a16:creationId xmlns:a16="http://schemas.microsoft.com/office/drawing/2014/main" id="{0B096534-6953-9C0D-DCD9-C04978EE1D4E}"/>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l="2942" r="2941" b="-1"/>
          <a:stretch>
            <a:fillRect/>
          </a:stretch>
        </p:blipFill>
        <p:spPr>
          <a:xfrm>
            <a:off x="1" y="10"/>
            <a:ext cx="9669642" cy="6857990"/>
          </a:xfrm>
          <a:prstGeom prst="rect">
            <a:avLst/>
          </a:prstGeom>
        </p:spPr>
      </p:pic>
      <p:sp>
        <p:nvSpPr>
          <p:cNvPr id="24" name="Rectangle 23">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itle 14">
            <a:extLst>
              <a:ext uri="{FF2B5EF4-FFF2-40B4-BE49-F238E27FC236}">
                <a16:creationId xmlns:a16="http://schemas.microsoft.com/office/drawing/2014/main" id="{765B603A-5369-3CD6-0C65-EC8E90FBFED9}"/>
              </a:ext>
            </a:extLst>
          </p:cNvPr>
          <p:cNvSpPr>
            <a:spLocks noGrp="1"/>
          </p:cNvSpPr>
          <p:nvPr>
            <p:ph type="title"/>
          </p:nvPr>
        </p:nvSpPr>
        <p:spPr>
          <a:xfrm>
            <a:off x="7599615" y="-493357"/>
            <a:ext cx="3822189" cy="1899912"/>
          </a:xfrm>
        </p:spPr>
        <p:txBody>
          <a:bodyPr vert="horz" lIns="91440" tIns="45720" rIns="91440" bIns="45720" rtlCol="0" anchor="ctr">
            <a:normAutofit/>
          </a:bodyPr>
          <a:lstStyle/>
          <a:p>
            <a:r>
              <a:rPr lang="en-US" sz="2800" dirty="0" err="1"/>
              <a:t>MainWindow.xaml.cs</a:t>
            </a:r>
            <a:endParaRPr lang="en-US" sz="2800" dirty="0"/>
          </a:p>
        </p:txBody>
      </p:sp>
      <p:sp>
        <p:nvSpPr>
          <p:cNvPr id="17" name="Text Placeholder 16">
            <a:extLst>
              <a:ext uri="{FF2B5EF4-FFF2-40B4-BE49-F238E27FC236}">
                <a16:creationId xmlns:a16="http://schemas.microsoft.com/office/drawing/2014/main" id="{2F6BFD7A-4C2C-D40D-5E49-760EC5DB2409}"/>
              </a:ext>
            </a:extLst>
          </p:cNvPr>
          <p:cNvSpPr>
            <a:spLocks noGrp="1"/>
          </p:cNvSpPr>
          <p:nvPr>
            <p:ph type="body" sz="quarter" idx="4294967295"/>
          </p:nvPr>
        </p:nvSpPr>
        <p:spPr>
          <a:xfrm>
            <a:off x="7467462" y="468923"/>
            <a:ext cx="4490076" cy="4449434"/>
          </a:xfrm>
        </p:spPr>
        <p:txBody>
          <a:bodyPr vert="horz" lIns="91440" tIns="45720" rIns="91440" bIns="45720" rtlCol="0">
            <a:noAutofit/>
          </a:bodyPr>
          <a:lstStyle/>
          <a:p>
            <a:br>
              <a:rPr lang="en-GB" sz="900" dirty="0"/>
            </a:br>
            <a:endParaRPr lang="en-GB" sz="900" dirty="0"/>
          </a:p>
          <a:p>
            <a:r>
              <a:rPr lang="en-GB" sz="900" b="1" dirty="0"/>
              <a:t>FILE 6 — </a:t>
            </a:r>
            <a:r>
              <a:rPr lang="en-GB" sz="900" b="1" dirty="0" err="1"/>
              <a:t>MainWindow.xaml</a:t>
            </a:r>
            <a:endParaRPr lang="en-GB" sz="900" b="1" dirty="0"/>
          </a:p>
          <a:p>
            <a:r>
              <a:rPr lang="en-GB" sz="900" dirty="0"/>
              <a:t>This file defines the entire visual layout of the window using XAML (Extensible Application Markup Language). It is structured as a 4-row Grid.</a:t>
            </a:r>
          </a:p>
          <a:p>
            <a:r>
              <a:rPr lang="en-GB" sz="900" b="1" dirty="0"/>
              <a:t>The Root Grid</a:t>
            </a:r>
          </a:p>
          <a:p>
            <a:r>
              <a:rPr lang="en-GB" sz="900" dirty="0"/>
              <a:t>&lt;Grid Margin="12"&gt; — The top-level layout container. The 12px margin creates breathing room on all sides. It has four rows defined in </a:t>
            </a:r>
            <a:r>
              <a:rPr lang="en-GB" sz="900" dirty="0" err="1"/>
              <a:t>Grid.RowDefinitions</a:t>
            </a:r>
            <a:r>
              <a:rPr lang="en-GB" sz="900" dirty="0"/>
              <a:t>.</a:t>
            </a:r>
          </a:p>
          <a:p>
            <a:br>
              <a:rPr lang="en-GB" sz="900" dirty="0"/>
            </a:br>
            <a:endParaRPr lang="en-GB" sz="900" dirty="0"/>
          </a:p>
          <a:p>
            <a:r>
              <a:rPr lang="en-GB" sz="900" b="1" dirty="0"/>
              <a:t>Row 0 — Header Border</a:t>
            </a:r>
          </a:p>
          <a:p>
            <a:r>
              <a:rPr lang="en-GB" sz="900" dirty="0"/>
              <a:t>&lt;</a:t>
            </a:r>
            <a:r>
              <a:rPr lang="en-GB" sz="900" dirty="0" err="1"/>
              <a:t>RowDefinition</a:t>
            </a:r>
            <a:r>
              <a:rPr lang="en-GB" sz="900" dirty="0"/>
              <a:t> Height="Auto"/&gt; — This row is only as tall as its content needs to be.</a:t>
            </a:r>
          </a:p>
          <a:p>
            <a:r>
              <a:rPr lang="en-GB" sz="900" dirty="0"/>
              <a:t>Contains a Border element with:</a:t>
            </a:r>
          </a:p>
          <a:p>
            <a:r>
              <a:rPr lang="en-GB" sz="900" dirty="0"/>
              <a:t>Background="#16213e" (dark blue-grey)</a:t>
            </a:r>
          </a:p>
          <a:p>
            <a:r>
              <a:rPr lang="en-GB" sz="900" dirty="0" err="1"/>
              <a:t>BorderBrush</a:t>
            </a:r>
            <a:r>
              <a:rPr lang="en-GB" sz="900" dirty="0"/>
              <a:t>="#00d4ff" (cyan)</a:t>
            </a:r>
          </a:p>
          <a:p>
            <a:r>
              <a:rPr lang="en-GB" sz="900" dirty="0" err="1"/>
              <a:t>CornerRadius</a:t>
            </a:r>
            <a:r>
              <a:rPr lang="en-GB" sz="900" dirty="0"/>
              <a:t>="8" (rounded corners)</a:t>
            </a:r>
          </a:p>
          <a:p>
            <a:r>
              <a:rPr lang="en-GB" sz="900" dirty="0"/>
              <a:t>Padding="8"</a:t>
            </a:r>
          </a:p>
          <a:p>
            <a:r>
              <a:rPr lang="en-GB" sz="900" dirty="0"/>
              <a:t>Inside the Border is a </a:t>
            </a:r>
            <a:r>
              <a:rPr lang="en-GB" sz="900" dirty="0" err="1"/>
              <a:t>StackPanel</a:t>
            </a:r>
            <a:r>
              <a:rPr lang="en-GB" sz="900" dirty="0"/>
              <a:t> containing two </a:t>
            </a:r>
            <a:r>
              <a:rPr lang="en-GB" sz="900" dirty="0" err="1"/>
              <a:t>TextBlocks</a:t>
            </a:r>
            <a:r>
              <a:rPr lang="en-GB" sz="900" dirty="0"/>
              <a:t>:</a:t>
            </a:r>
          </a:p>
          <a:p>
            <a:r>
              <a:rPr lang="en-GB" sz="900" dirty="0" err="1"/>
              <a:t>AsciiArtText</a:t>
            </a:r>
            <a:r>
              <a:rPr lang="en-GB" sz="900" dirty="0"/>
              <a:t> — </a:t>
            </a:r>
            <a:r>
              <a:rPr lang="en-GB" sz="900" dirty="0" err="1"/>
              <a:t>FontFamily</a:t>
            </a:r>
            <a:r>
              <a:rPr lang="en-GB" sz="900" dirty="0"/>
              <a:t>="Consolas", </a:t>
            </a:r>
            <a:r>
              <a:rPr lang="en-GB" sz="900" dirty="0" err="1"/>
              <a:t>FontSize</a:t>
            </a:r>
            <a:r>
              <a:rPr lang="en-GB" sz="900" dirty="0"/>
              <a:t>="9", Foreground="#00d4ff". Consolas is mandatory here because the ASCII art uses box-drawing characters that only align correctly in a monospace font.</a:t>
            </a:r>
          </a:p>
          <a:p>
            <a:r>
              <a:rPr lang="en-GB" sz="900" dirty="0"/>
              <a:t>A subtitle </a:t>
            </a:r>
            <a:r>
              <a:rPr lang="en-GB" sz="900" dirty="0" err="1"/>
              <a:t>TextBlock</a:t>
            </a:r>
            <a:r>
              <a:rPr lang="en-GB" sz="900" dirty="0"/>
              <a:t> showing "🔐 Maya Cybersecurity Assistant".</a:t>
            </a:r>
          </a:p>
          <a:p>
            <a:br>
              <a:rPr lang="en-GB" sz="900" dirty="0"/>
            </a:br>
            <a:endParaRPr lang="en-GB" sz="900" dirty="0"/>
          </a:p>
          <a:p>
            <a:pPr indent="-228600">
              <a:lnSpc>
                <a:spcPct val="90000"/>
              </a:lnSpc>
              <a:buFont typeface="Arial" panose="020B0604020202020204" pitchFamily="34" charset="0"/>
              <a:buChar char="•"/>
            </a:pPr>
            <a:endParaRPr lang="en-US" sz="900" dirty="0"/>
          </a:p>
        </p:txBody>
      </p:sp>
      <p:sp>
        <p:nvSpPr>
          <p:cNvPr id="3" name="Footer Placeholder 2">
            <a:extLst>
              <a:ext uri="{FF2B5EF4-FFF2-40B4-BE49-F238E27FC236}">
                <a16:creationId xmlns:a16="http://schemas.microsoft.com/office/drawing/2014/main" id="{DB85CD6E-7B09-60C1-0062-4905E78A365E}"/>
              </a:ext>
            </a:extLst>
          </p:cNvPr>
          <p:cNvSpPr>
            <a:spLocks noGrp="1"/>
          </p:cNvSpPr>
          <p:nvPr>
            <p:ph type="ftr" sz="quarter" idx="16"/>
          </p:nvPr>
        </p:nvSpPr>
        <p:spPr>
          <a:xfrm>
            <a:off x="4038600" y="6356350"/>
            <a:ext cx="4114800" cy="365125"/>
          </a:xfrm>
        </p:spPr>
        <p:txBody>
          <a:bodyPr vert="horz" lIns="91440" tIns="45720" rIns="91440" bIns="45720" rtlCol="0" anchor="ctr">
            <a:normAutofit/>
          </a:bodyPr>
          <a:lstStyle/>
          <a:p>
            <a:pPr algn="ctr">
              <a:spcAft>
                <a:spcPts val="600"/>
              </a:spcAft>
              <a:defRPr/>
            </a:pPr>
            <a:r>
              <a:rPr lang="en-US" sz="1200" kern="1200" spc="0">
                <a:solidFill>
                  <a:srgbClr val="FFFFFF"/>
                </a:solidFill>
                <a:latin typeface="Calibri" panose="020F0502020204030204"/>
                <a:ea typeface="+mn-ea"/>
                <a:cs typeface="+mn-cs"/>
              </a:rPr>
              <a:t>Moyagabo Raphasha</a:t>
            </a:r>
          </a:p>
        </p:txBody>
      </p:sp>
      <p:sp>
        <p:nvSpPr>
          <p:cNvPr id="5" name="Slide Number Placeholder 4">
            <a:extLst>
              <a:ext uri="{FF2B5EF4-FFF2-40B4-BE49-F238E27FC236}">
                <a16:creationId xmlns:a16="http://schemas.microsoft.com/office/drawing/2014/main" id="{2A0C8318-E65F-2CC1-E28D-44E5D32AAB16}"/>
              </a:ext>
            </a:extLst>
          </p:cNvPr>
          <p:cNvSpPr>
            <a:spLocks noGrp="1"/>
          </p:cNvSpPr>
          <p:nvPr>
            <p:ph type="sldNum" sz="quarter" idx="17"/>
          </p:nvPr>
        </p:nvSpPr>
        <p:spPr>
          <a:xfrm>
            <a:off x="8610600" y="6356350"/>
            <a:ext cx="2743200" cy="365125"/>
          </a:xfrm>
        </p:spPr>
        <p:txBody>
          <a:bodyPr vert="horz" lIns="91440" tIns="45720" rIns="91440" bIns="45720" rtlCol="0" anchor="ctr">
            <a:normAutofit/>
          </a:bodyPr>
          <a:lstStyle/>
          <a:p>
            <a:pPr>
              <a:spcAft>
                <a:spcPts val="600"/>
              </a:spcAft>
              <a:defRPr/>
            </a:pPr>
            <a:fld id="{24D65F33-A771-944D-9289-CA575F1D1B7F}" type="slidenum">
              <a:rPr lang="en-US" sz="1200" spc="0" smtClean="0">
                <a:solidFill>
                  <a:prstClr val="black">
                    <a:tint val="75000"/>
                  </a:prstClr>
                </a:solidFill>
                <a:latin typeface="Calibri" panose="020F0502020204030204"/>
              </a:rPr>
              <a:pPr>
                <a:spcAft>
                  <a:spcPts val="600"/>
                </a:spcAft>
                <a:defRPr/>
              </a:pPr>
              <a:t>15</a:t>
            </a:fld>
            <a:endParaRPr lang="en-US" sz="1200" spc="0">
              <a:solidFill>
                <a:prstClr val="black">
                  <a:tint val="75000"/>
                </a:prstClr>
              </a:solidFill>
              <a:latin typeface="Calibri" panose="020F0502020204030204"/>
            </a:endParaRPr>
          </a:p>
        </p:txBody>
      </p:sp>
      <p:sp>
        <p:nvSpPr>
          <p:cNvPr id="4" name="TextBox 3">
            <a:extLst>
              <a:ext uri="{FF2B5EF4-FFF2-40B4-BE49-F238E27FC236}">
                <a16:creationId xmlns:a16="http://schemas.microsoft.com/office/drawing/2014/main" id="{AC7D0347-D53A-B664-E6DD-980E022F57B9}"/>
              </a:ext>
            </a:extLst>
          </p:cNvPr>
          <p:cNvSpPr txBox="1"/>
          <p:nvPr/>
        </p:nvSpPr>
        <p:spPr>
          <a:xfrm>
            <a:off x="1495245" y="12038043"/>
            <a:ext cx="9144000" cy="317500"/>
          </a:xfrm>
          <a:prstGeom prst="rect">
            <a:avLst/>
          </a:prstGeom>
        </p:spPr>
        <p:txBody>
          <a:bodyPr>
            <a:normAutofit lnSpcReduction="10000"/>
          </a:bodyPr>
          <a:lstStyle/>
          <a:p>
            <a:pPr>
              <a:lnSpc>
                <a:spcPct val="90000"/>
              </a:lnSpc>
              <a:spcAft>
                <a:spcPts val="600"/>
              </a:spcAft>
            </a:pPr>
            <a:r>
              <a:rPr lang="en-US" sz="1700"/>
              <a:t>ThePhoto by PhotoAuthor is licensed under CCYYSA.</a:t>
            </a:r>
          </a:p>
        </p:txBody>
      </p:sp>
    </p:spTree>
    <p:extLst>
      <p:ext uri="{BB962C8B-B14F-4D97-AF65-F5344CB8AC3E}">
        <p14:creationId xmlns:p14="http://schemas.microsoft.com/office/powerpoint/2010/main" val="26510360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AC15DB9-4550-6BC4-1C66-A254359F7960}"/>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F1738AE4-706C-34A0-09B3-B9CB2B6A58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Placeholder 8">
            <a:extLst>
              <a:ext uri="{FF2B5EF4-FFF2-40B4-BE49-F238E27FC236}">
                <a16:creationId xmlns:a16="http://schemas.microsoft.com/office/drawing/2014/main" id="{42DB5590-7CF0-4B5C-B660-C97CB28B5CD2}"/>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l="2942" r="2941" b="-1"/>
          <a:stretch>
            <a:fillRect/>
          </a:stretch>
        </p:blipFill>
        <p:spPr>
          <a:xfrm>
            <a:off x="1" y="10"/>
            <a:ext cx="9669642" cy="6857990"/>
          </a:xfrm>
          <a:prstGeom prst="rect">
            <a:avLst/>
          </a:prstGeom>
        </p:spPr>
      </p:pic>
      <p:sp>
        <p:nvSpPr>
          <p:cNvPr id="24" name="Rectangle 23">
            <a:extLst>
              <a:ext uri="{FF2B5EF4-FFF2-40B4-BE49-F238E27FC236}">
                <a16:creationId xmlns:a16="http://schemas.microsoft.com/office/drawing/2014/main" id="{DFBE4A04-4165-F107-A4A6-FD4AAEA33D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itle 14">
            <a:extLst>
              <a:ext uri="{FF2B5EF4-FFF2-40B4-BE49-F238E27FC236}">
                <a16:creationId xmlns:a16="http://schemas.microsoft.com/office/drawing/2014/main" id="{D6CA337A-FD3C-22EE-1463-CE02FDC22405}"/>
              </a:ext>
            </a:extLst>
          </p:cNvPr>
          <p:cNvSpPr>
            <a:spLocks noGrp="1"/>
          </p:cNvSpPr>
          <p:nvPr>
            <p:ph type="title"/>
          </p:nvPr>
        </p:nvSpPr>
        <p:spPr>
          <a:xfrm>
            <a:off x="7599615" y="-493357"/>
            <a:ext cx="3822189" cy="1899912"/>
          </a:xfrm>
        </p:spPr>
        <p:txBody>
          <a:bodyPr vert="horz" lIns="91440" tIns="45720" rIns="91440" bIns="45720" rtlCol="0" anchor="ctr">
            <a:normAutofit/>
          </a:bodyPr>
          <a:lstStyle/>
          <a:p>
            <a:r>
              <a:rPr lang="en-US" sz="2800" dirty="0" err="1"/>
              <a:t>MainWindow.xaml.cs</a:t>
            </a:r>
            <a:endParaRPr lang="en-US" sz="2800" dirty="0"/>
          </a:p>
        </p:txBody>
      </p:sp>
      <p:sp>
        <p:nvSpPr>
          <p:cNvPr id="17" name="Text Placeholder 16">
            <a:extLst>
              <a:ext uri="{FF2B5EF4-FFF2-40B4-BE49-F238E27FC236}">
                <a16:creationId xmlns:a16="http://schemas.microsoft.com/office/drawing/2014/main" id="{ACD24E78-9096-DF35-7B4D-0003772DECF4}"/>
              </a:ext>
            </a:extLst>
          </p:cNvPr>
          <p:cNvSpPr>
            <a:spLocks noGrp="1"/>
          </p:cNvSpPr>
          <p:nvPr>
            <p:ph type="body" sz="quarter" idx="4294967295"/>
          </p:nvPr>
        </p:nvSpPr>
        <p:spPr>
          <a:xfrm>
            <a:off x="7467462" y="726831"/>
            <a:ext cx="4490076" cy="4191526"/>
          </a:xfrm>
        </p:spPr>
        <p:txBody>
          <a:bodyPr vert="horz" lIns="91440" tIns="45720" rIns="91440" bIns="45720" rtlCol="0">
            <a:noAutofit/>
          </a:bodyPr>
          <a:lstStyle/>
          <a:p>
            <a:r>
              <a:rPr lang="en-GB" sz="900" b="1" dirty="0"/>
              <a:t>Row 1 — Chat Display</a:t>
            </a:r>
          </a:p>
          <a:p>
            <a:r>
              <a:rPr lang="en-GB" sz="900" dirty="0"/>
              <a:t>&lt;</a:t>
            </a:r>
            <a:r>
              <a:rPr lang="en-GB" sz="900" dirty="0" err="1"/>
              <a:t>RowDefinition</a:t>
            </a:r>
            <a:r>
              <a:rPr lang="en-GB" sz="900" dirty="0"/>
              <a:t> Height="*"/&gt; — The asterisk means this row takes all remaining vertical space after the other rows have taken their fixed amounts.</a:t>
            </a:r>
          </a:p>
          <a:p>
            <a:r>
              <a:rPr lang="en-GB" sz="900" dirty="0"/>
              <a:t>Contains a Border wrapping a </a:t>
            </a:r>
            <a:r>
              <a:rPr lang="en-GB" sz="900" dirty="0" err="1"/>
              <a:t>ScrollViewer</a:t>
            </a:r>
            <a:r>
              <a:rPr lang="en-GB" sz="900" dirty="0"/>
              <a:t> wrapping an </a:t>
            </a:r>
            <a:r>
              <a:rPr lang="en-GB" sz="900" dirty="0" err="1"/>
              <a:t>ItemsControl</a:t>
            </a:r>
            <a:r>
              <a:rPr lang="en-GB" sz="900" dirty="0"/>
              <a:t>:</a:t>
            </a:r>
          </a:p>
          <a:p>
            <a:r>
              <a:rPr lang="en-GB" sz="900" dirty="0" err="1"/>
              <a:t>ScrollViewer</a:t>
            </a:r>
            <a:r>
              <a:rPr lang="en-GB" sz="900" dirty="0"/>
              <a:t> has x:Name="ChatScroll" and </a:t>
            </a:r>
            <a:r>
              <a:rPr lang="en-GB" sz="900" dirty="0" err="1"/>
              <a:t>VerticalScrollBarVisibility</a:t>
            </a:r>
            <a:r>
              <a:rPr lang="en-GB" sz="900" dirty="0"/>
              <a:t>="Auto" — the scrollbar appears only when needed.</a:t>
            </a:r>
          </a:p>
          <a:p>
            <a:r>
              <a:rPr lang="en-GB" sz="900" dirty="0" err="1"/>
              <a:t>ItemsControl</a:t>
            </a:r>
            <a:r>
              <a:rPr lang="en-GB" sz="900" dirty="0"/>
              <a:t> has x:Name="ChatMessages" — this is where the chat messages are rendered.</a:t>
            </a:r>
          </a:p>
          <a:p>
            <a:r>
              <a:rPr lang="en-GB" sz="900" dirty="0"/>
              <a:t>The </a:t>
            </a:r>
            <a:r>
              <a:rPr lang="en-GB" sz="900" dirty="0" err="1"/>
              <a:t>ItemTemplate</a:t>
            </a:r>
            <a:r>
              <a:rPr lang="en-GB" sz="900" dirty="0"/>
              <a:t> </a:t>
            </a:r>
            <a:r>
              <a:rPr lang="en-GB" sz="900" dirty="0" err="1"/>
              <a:t>DataTemplate</a:t>
            </a:r>
            <a:r>
              <a:rPr lang="en-GB" sz="900" dirty="0"/>
              <a:t> creates a Border for each </a:t>
            </a:r>
            <a:r>
              <a:rPr lang="en-GB" sz="900" dirty="0" err="1"/>
              <a:t>ChatMessage</a:t>
            </a:r>
            <a:r>
              <a:rPr lang="en-GB" sz="900" dirty="0"/>
              <a:t>. The Border's Background is bound to the </a:t>
            </a:r>
            <a:r>
              <a:rPr lang="en-GB" sz="900" dirty="0" err="1"/>
              <a:t>ChatMessage.Background</a:t>
            </a:r>
            <a:r>
              <a:rPr lang="en-GB" sz="900" dirty="0"/>
              <a:t> property, its </a:t>
            </a:r>
            <a:r>
              <a:rPr lang="en-GB" sz="900" dirty="0" err="1"/>
              <a:t>HorizontalAlignment</a:t>
            </a:r>
            <a:r>
              <a:rPr lang="en-GB" sz="900" dirty="0"/>
              <a:t> is bound to </a:t>
            </a:r>
            <a:r>
              <a:rPr lang="en-GB" sz="900" dirty="0" err="1"/>
              <a:t>ChatMessage.Alignment</a:t>
            </a:r>
            <a:r>
              <a:rPr lang="en-GB" sz="900" dirty="0"/>
              <a:t>, and it contains a </a:t>
            </a:r>
            <a:r>
              <a:rPr lang="en-GB" sz="900" dirty="0" err="1"/>
              <a:t>TextBlock</a:t>
            </a:r>
            <a:r>
              <a:rPr lang="en-GB" sz="900" dirty="0"/>
              <a:t> whose Text is bound to </a:t>
            </a:r>
            <a:r>
              <a:rPr lang="en-GB" sz="900" dirty="0" err="1"/>
              <a:t>ChatMessage.Text</a:t>
            </a:r>
            <a:r>
              <a:rPr lang="en-GB" sz="900" dirty="0"/>
              <a:t> and whose Foreground is bound to </a:t>
            </a:r>
            <a:r>
              <a:rPr lang="en-GB" sz="900" dirty="0" err="1"/>
              <a:t>ChatMessage.Foreground</a:t>
            </a:r>
            <a:r>
              <a:rPr lang="en-GB" sz="900" dirty="0"/>
              <a:t>. </a:t>
            </a:r>
            <a:r>
              <a:rPr lang="en-GB" sz="900" dirty="0" err="1"/>
              <a:t>TextWrapping</a:t>
            </a:r>
            <a:r>
              <a:rPr lang="en-GB" sz="900" dirty="0"/>
              <a:t>="Wrap" ensures long messages break across lines instead of overflowing.</a:t>
            </a:r>
          </a:p>
          <a:p>
            <a:br>
              <a:rPr lang="en-GB" sz="900" dirty="0"/>
            </a:br>
            <a:endParaRPr lang="en-GB" sz="900" dirty="0"/>
          </a:p>
          <a:p>
            <a:r>
              <a:rPr lang="en-GB" sz="900" b="1" dirty="0"/>
              <a:t>Row 2 — Input Area</a:t>
            </a:r>
          </a:p>
          <a:p>
            <a:r>
              <a:rPr lang="en-GB" sz="900" dirty="0"/>
              <a:t>&lt;</a:t>
            </a:r>
            <a:r>
              <a:rPr lang="en-GB" sz="900" dirty="0" err="1"/>
              <a:t>RowDefinition</a:t>
            </a:r>
            <a:r>
              <a:rPr lang="en-GB" sz="900" dirty="0"/>
              <a:t> Height="Auto"/&gt; — Sized to content.</a:t>
            </a:r>
          </a:p>
          <a:p>
            <a:r>
              <a:rPr lang="en-GB" sz="900" dirty="0"/>
              <a:t>Contains a nested Grid with two columns:</a:t>
            </a:r>
          </a:p>
          <a:p>
            <a:r>
              <a:rPr lang="en-GB" sz="900" dirty="0"/>
              <a:t>Column 0 (Width="*") — Stretches to fill available width. Contains the </a:t>
            </a:r>
            <a:r>
              <a:rPr lang="en-GB" sz="900" dirty="0" err="1"/>
              <a:t>TextBox</a:t>
            </a:r>
            <a:r>
              <a:rPr lang="en-GB" sz="900" dirty="0"/>
              <a:t> named </a:t>
            </a:r>
            <a:r>
              <a:rPr lang="en-GB" sz="900" dirty="0" err="1"/>
              <a:t>UserInput</a:t>
            </a:r>
            <a:r>
              <a:rPr lang="en-GB" sz="900" dirty="0"/>
              <a:t>. Background="#0f3460", Foreground="White", Padding="10", </a:t>
            </a:r>
            <a:r>
              <a:rPr lang="en-GB" sz="900" dirty="0" err="1"/>
              <a:t>FontSize</a:t>
            </a:r>
            <a:r>
              <a:rPr lang="en-GB" sz="900" dirty="0"/>
              <a:t>="14". The </a:t>
            </a:r>
            <a:r>
              <a:rPr lang="en-GB" sz="900" dirty="0" err="1"/>
              <a:t>KeyDown</a:t>
            </a:r>
            <a:r>
              <a:rPr lang="en-GB" sz="900" dirty="0"/>
              <a:t>="</a:t>
            </a:r>
            <a:r>
              <a:rPr lang="en-GB" sz="900" dirty="0" err="1"/>
              <a:t>UserInput_KeyDown</a:t>
            </a:r>
            <a:r>
              <a:rPr lang="en-GB" sz="900" dirty="0"/>
              <a:t>" attribute wires the Enter key to send messages.</a:t>
            </a:r>
          </a:p>
          <a:p>
            <a:r>
              <a:rPr lang="en-GB" sz="900" dirty="0"/>
              <a:t>Column 1 (Width="Auto") — Fixed width. Contains the Send Button with Content="Send", Width="80", Background="#00d4ff", Foreground="#1a1a2e", </a:t>
            </a:r>
            <a:r>
              <a:rPr lang="en-GB" sz="900" dirty="0" err="1"/>
              <a:t>FontWeight</a:t>
            </a:r>
            <a:r>
              <a:rPr lang="en-GB" sz="900" dirty="0"/>
              <a:t>="Bold", Click="</a:t>
            </a:r>
            <a:r>
              <a:rPr lang="en-GB" sz="900" dirty="0" err="1"/>
              <a:t>SendButton_Click</a:t>
            </a:r>
            <a:r>
              <a:rPr lang="en-GB" sz="900" dirty="0"/>
              <a:t>".</a:t>
            </a:r>
          </a:p>
          <a:p>
            <a:br>
              <a:rPr lang="en-GB" sz="900" dirty="0"/>
            </a:br>
            <a:endParaRPr lang="en-GB" sz="900" dirty="0"/>
          </a:p>
          <a:p>
            <a:pPr indent="-228600">
              <a:lnSpc>
                <a:spcPct val="90000"/>
              </a:lnSpc>
              <a:buFont typeface="Arial" panose="020B0604020202020204" pitchFamily="34" charset="0"/>
              <a:buChar char="•"/>
            </a:pPr>
            <a:endParaRPr lang="en-US" sz="900" dirty="0"/>
          </a:p>
        </p:txBody>
      </p:sp>
      <p:sp>
        <p:nvSpPr>
          <p:cNvPr id="3" name="Footer Placeholder 2">
            <a:extLst>
              <a:ext uri="{FF2B5EF4-FFF2-40B4-BE49-F238E27FC236}">
                <a16:creationId xmlns:a16="http://schemas.microsoft.com/office/drawing/2014/main" id="{F6E358D5-9F0B-E0DB-22D8-7186B73FFEAC}"/>
              </a:ext>
            </a:extLst>
          </p:cNvPr>
          <p:cNvSpPr>
            <a:spLocks noGrp="1"/>
          </p:cNvSpPr>
          <p:nvPr>
            <p:ph type="ftr" sz="quarter" idx="16"/>
          </p:nvPr>
        </p:nvSpPr>
        <p:spPr>
          <a:xfrm>
            <a:off x="4038600" y="6356350"/>
            <a:ext cx="4114800" cy="365125"/>
          </a:xfrm>
        </p:spPr>
        <p:txBody>
          <a:bodyPr vert="horz" lIns="91440" tIns="45720" rIns="91440" bIns="45720" rtlCol="0" anchor="ctr">
            <a:normAutofit/>
          </a:bodyPr>
          <a:lstStyle/>
          <a:p>
            <a:pPr algn="ctr">
              <a:spcAft>
                <a:spcPts val="600"/>
              </a:spcAft>
              <a:defRPr/>
            </a:pPr>
            <a:r>
              <a:rPr lang="en-US" sz="1200" kern="1200" spc="0">
                <a:solidFill>
                  <a:srgbClr val="FFFFFF"/>
                </a:solidFill>
                <a:latin typeface="Calibri" panose="020F0502020204030204"/>
                <a:ea typeface="+mn-ea"/>
                <a:cs typeface="+mn-cs"/>
              </a:rPr>
              <a:t>Moyagabo Raphasha</a:t>
            </a:r>
          </a:p>
        </p:txBody>
      </p:sp>
      <p:sp>
        <p:nvSpPr>
          <p:cNvPr id="5" name="Slide Number Placeholder 4">
            <a:extLst>
              <a:ext uri="{FF2B5EF4-FFF2-40B4-BE49-F238E27FC236}">
                <a16:creationId xmlns:a16="http://schemas.microsoft.com/office/drawing/2014/main" id="{8DBFAF8F-8444-78A5-4F05-41103A5295CB}"/>
              </a:ext>
            </a:extLst>
          </p:cNvPr>
          <p:cNvSpPr>
            <a:spLocks noGrp="1"/>
          </p:cNvSpPr>
          <p:nvPr>
            <p:ph type="sldNum" sz="quarter" idx="17"/>
          </p:nvPr>
        </p:nvSpPr>
        <p:spPr>
          <a:xfrm>
            <a:off x="8610600" y="6356350"/>
            <a:ext cx="2743200" cy="365125"/>
          </a:xfrm>
        </p:spPr>
        <p:txBody>
          <a:bodyPr vert="horz" lIns="91440" tIns="45720" rIns="91440" bIns="45720" rtlCol="0" anchor="ctr">
            <a:normAutofit/>
          </a:bodyPr>
          <a:lstStyle/>
          <a:p>
            <a:pPr>
              <a:spcAft>
                <a:spcPts val="600"/>
              </a:spcAft>
              <a:defRPr/>
            </a:pPr>
            <a:fld id="{24D65F33-A771-944D-9289-CA575F1D1B7F}" type="slidenum">
              <a:rPr lang="en-US" sz="1200" spc="0" smtClean="0">
                <a:solidFill>
                  <a:prstClr val="black">
                    <a:tint val="75000"/>
                  </a:prstClr>
                </a:solidFill>
                <a:latin typeface="Calibri" panose="020F0502020204030204"/>
              </a:rPr>
              <a:pPr>
                <a:spcAft>
                  <a:spcPts val="600"/>
                </a:spcAft>
                <a:defRPr/>
              </a:pPr>
              <a:t>16</a:t>
            </a:fld>
            <a:endParaRPr lang="en-US" sz="1200" spc="0" dirty="0">
              <a:solidFill>
                <a:prstClr val="black">
                  <a:tint val="75000"/>
                </a:prstClr>
              </a:solidFill>
              <a:latin typeface="Calibri" panose="020F0502020204030204"/>
            </a:endParaRPr>
          </a:p>
        </p:txBody>
      </p:sp>
      <p:sp>
        <p:nvSpPr>
          <p:cNvPr id="4" name="TextBox 3">
            <a:extLst>
              <a:ext uri="{FF2B5EF4-FFF2-40B4-BE49-F238E27FC236}">
                <a16:creationId xmlns:a16="http://schemas.microsoft.com/office/drawing/2014/main" id="{12B1331D-59D9-6BBE-9F43-4F6E9E2837E8}"/>
              </a:ext>
            </a:extLst>
          </p:cNvPr>
          <p:cNvSpPr txBox="1"/>
          <p:nvPr/>
        </p:nvSpPr>
        <p:spPr>
          <a:xfrm>
            <a:off x="1495245" y="12038043"/>
            <a:ext cx="9144000" cy="317500"/>
          </a:xfrm>
          <a:prstGeom prst="rect">
            <a:avLst/>
          </a:prstGeom>
        </p:spPr>
        <p:txBody>
          <a:bodyPr>
            <a:normAutofit lnSpcReduction="10000"/>
          </a:bodyPr>
          <a:lstStyle/>
          <a:p>
            <a:pPr>
              <a:lnSpc>
                <a:spcPct val="90000"/>
              </a:lnSpc>
              <a:spcAft>
                <a:spcPts val="600"/>
              </a:spcAft>
            </a:pPr>
            <a:r>
              <a:rPr lang="en-US" sz="1700"/>
              <a:t>ThePhoto by PhotoAuthor is licensed under CCYYSA.</a:t>
            </a:r>
          </a:p>
        </p:txBody>
      </p:sp>
    </p:spTree>
    <p:extLst>
      <p:ext uri="{BB962C8B-B14F-4D97-AF65-F5344CB8AC3E}">
        <p14:creationId xmlns:p14="http://schemas.microsoft.com/office/powerpoint/2010/main" val="11564577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71498CE-D49C-A083-4B91-19DBF165B46C}"/>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3D51868D-5553-679D-EBC5-08F0350B4F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Placeholder 8">
            <a:extLst>
              <a:ext uri="{FF2B5EF4-FFF2-40B4-BE49-F238E27FC236}">
                <a16:creationId xmlns:a16="http://schemas.microsoft.com/office/drawing/2014/main" id="{39D19771-4E18-54C6-F2F8-204C2C212CC8}"/>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l="2942" r="2941" b="-1"/>
          <a:stretch>
            <a:fillRect/>
          </a:stretch>
        </p:blipFill>
        <p:spPr>
          <a:xfrm>
            <a:off x="1" y="10"/>
            <a:ext cx="9669642" cy="6857990"/>
          </a:xfrm>
          <a:prstGeom prst="rect">
            <a:avLst/>
          </a:prstGeom>
        </p:spPr>
      </p:pic>
      <p:sp>
        <p:nvSpPr>
          <p:cNvPr id="24" name="Rectangle 23">
            <a:extLst>
              <a:ext uri="{FF2B5EF4-FFF2-40B4-BE49-F238E27FC236}">
                <a16:creationId xmlns:a16="http://schemas.microsoft.com/office/drawing/2014/main" id="{6ABA71AD-4273-ED24-3D15-94346C0E43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itle 14">
            <a:extLst>
              <a:ext uri="{FF2B5EF4-FFF2-40B4-BE49-F238E27FC236}">
                <a16:creationId xmlns:a16="http://schemas.microsoft.com/office/drawing/2014/main" id="{05766AA0-ED66-F9C9-7A23-0A00C97F22F9}"/>
              </a:ext>
            </a:extLst>
          </p:cNvPr>
          <p:cNvSpPr>
            <a:spLocks noGrp="1"/>
          </p:cNvSpPr>
          <p:nvPr>
            <p:ph type="title"/>
          </p:nvPr>
        </p:nvSpPr>
        <p:spPr>
          <a:xfrm>
            <a:off x="7599615" y="-493357"/>
            <a:ext cx="3822189" cy="1899912"/>
          </a:xfrm>
        </p:spPr>
        <p:txBody>
          <a:bodyPr vert="horz" lIns="91440" tIns="45720" rIns="91440" bIns="45720" rtlCol="0" anchor="ctr">
            <a:normAutofit/>
          </a:bodyPr>
          <a:lstStyle/>
          <a:p>
            <a:r>
              <a:rPr lang="en-US" sz="2800" dirty="0" err="1"/>
              <a:t>MainWindow.xaml.cs</a:t>
            </a:r>
            <a:endParaRPr lang="en-US" sz="2800" dirty="0"/>
          </a:p>
        </p:txBody>
      </p:sp>
      <p:sp>
        <p:nvSpPr>
          <p:cNvPr id="17" name="Text Placeholder 16">
            <a:extLst>
              <a:ext uri="{FF2B5EF4-FFF2-40B4-BE49-F238E27FC236}">
                <a16:creationId xmlns:a16="http://schemas.microsoft.com/office/drawing/2014/main" id="{4C978D7E-2C9E-2E5B-8A3C-4D7DC408D04B}"/>
              </a:ext>
            </a:extLst>
          </p:cNvPr>
          <p:cNvSpPr>
            <a:spLocks noGrp="1"/>
          </p:cNvSpPr>
          <p:nvPr>
            <p:ph type="body" sz="quarter" idx="4294967295"/>
          </p:nvPr>
        </p:nvSpPr>
        <p:spPr>
          <a:xfrm>
            <a:off x="7467462" y="726831"/>
            <a:ext cx="4490076" cy="4191526"/>
          </a:xfrm>
        </p:spPr>
        <p:txBody>
          <a:bodyPr vert="horz" lIns="91440" tIns="45720" rIns="91440" bIns="45720" rtlCol="0">
            <a:noAutofit/>
          </a:bodyPr>
          <a:lstStyle/>
          <a:p>
            <a:r>
              <a:rPr lang="en-GB" sz="900" b="1" dirty="0"/>
              <a:t>Row 3 — Status Bar</a:t>
            </a:r>
          </a:p>
          <a:p>
            <a:r>
              <a:rPr lang="en-GB" sz="900" dirty="0"/>
              <a:t>&lt;</a:t>
            </a:r>
            <a:r>
              <a:rPr lang="en-GB" sz="900" dirty="0" err="1"/>
              <a:t>RowDefinition</a:t>
            </a:r>
            <a:r>
              <a:rPr lang="en-GB" sz="900" dirty="0"/>
              <a:t> Height="Auto"/&gt; — Sized to content.</a:t>
            </a:r>
          </a:p>
          <a:p>
            <a:r>
              <a:rPr lang="en-GB" sz="900" dirty="0"/>
              <a:t>A </a:t>
            </a:r>
            <a:r>
              <a:rPr lang="en-GB" sz="900" dirty="0" err="1"/>
              <a:t>StatusBar</a:t>
            </a:r>
            <a:r>
              <a:rPr lang="en-GB" sz="900" dirty="0"/>
              <a:t> element with Background="#0f3460" and Foreground="#00d4ff". Contains a </a:t>
            </a:r>
            <a:r>
              <a:rPr lang="en-GB" sz="900" dirty="0" err="1"/>
              <a:t>TextBlock</a:t>
            </a:r>
            <a:r>
              <a:rPr lang="en-GB" sz="900" dirty="0"/>
              <a:t> named </a:t>
            </a:r>
            <a:r>
              <a:rPr lang="en-GB" sz="900" dirty="0" err="1"/>
              <a:t>StatusText</a:t>
            </a:r>
            <a:r>
              <a:rPr lang="en-GB" sz="900" dirty="0"/>
              <a:t> with initial text "Ready | Type 'help' for topics". The code-behind updates this text during processing and resets it when idle.</a:t>
            </a:r>
          </a:p>
          <a:p>
            <a:r>
              <a:rPr lang="en-GB" sz="900" b="1" dirty="0"/>
              <a:t>FILE PURPOSE</a:t>
            </a:r>
          </a:p>
          <a:p>
            <a:r>
              <a:rPr lang="en-GB" sz="900" dirty="0" err="1"/>
              <a:t>MainWindow.xaml.cs</a:t>
            </a:r>
            <a:r>
              <a:rPr lang="en-GB" sz="900" dirty="0"/>
              <a:t> is the code-behind file for the WPF window. "Code-behind" means it is the C# logic file that is paired with </a:t>
            </a:r>
            <a:r>
              <a:rPr lang="en-GB" sz="900" dirty="0" err="1"/>
              <a:t>MainWindow.xaml</a:t>
            </a:r>
            <a:r>
              <a:rPr lang="en-GB" sz="900" dirty="0"/>
              <a:t>. The XAML file defines what the window looks like; this file defines what it does. Together they form the complete window. Everything the user sees and interacts with is controlled from here.</a:t>
            </a:r>
          </a:p>
          <a:p>
            <a:br>
              <a:rPr lang="en-GB" sz="900" dirty="0"/>
            </a:br>
            <a:endParaRPr lang="en-GB" sz="900" dirty="0"/>
          </a:p>
          <a:p>
            <a:r>
              <a:rPr lang="en-GB" sz="900" b="1" dirty="0"/>
              <a:t>FIELDS (CLASS-LEVEL VARIABLES)</a:t>
            </a:r>
          </a:p>
          <a:p>
            <a:r>
              <a:rPr lang="en-GB" sz="900" dirty="0"/>
              <a:t>These two variables are declared at the top of the class, outside any method, so every method in the class can access them.</a:t>
            </a:r>
          </a:p>
          <a:p>
            <a:r>
              <a:rPr lang="en-GB" b="1" dirty="0"/>
              <a:t>private </a:t>
            </a:r>
            <a:r>
              <a:rPr lang="en-GB" b="1" dirty="0" err="1"/>
              <a:t>ChatService</a:t>
            </a:r>
            <a:r>
              <a:rPr lang="en-GB" b="1" dirty="0"/>
              <a:t> _</a:t>
            </a:r>
            <a:r>
              <a:rPr lang="en-GB" b="1" dirty="0" err="1"/>
              <a:t>chatService</a:t>
            </a:r>
            <a:r>
              <a:rPr lang="en-GB" b="1" dirty="0"/>
              <a:t> = null;</a:t>
            </a:r>
            <a:r>
              <a:rPr lang="en-GB" sz="900" dirty="0"/>
              <a:t> Holds the single instance of the </a:t>
            </a:r>
            <a:r>
              <a:rPr lang="en-GB" sz="900" dirty="0" err="1"/>
              <a:t>ChatService</a:t>
            </a:r>
            <a:r>
              <a:rPr lang="en-GB" sz="900" dirty="0"/>
              <a:t> that will process all user messages. It is initialised as null here and assigned a real value inside </a:t>
            </a:r>
            <a:r>
              <a:rPr lang="en-GB" sz="900" dirty="0" err="1"/>
              <a:t>InitializeChat</a:t>
            </a:r>
            <a:r>
              <a:rPr lang="en-GB" sz="900" dirty="0"/>
              <a:t>(). The underscore prefix is a naming convention for private fields — it signals that this variable belongs to the class, not to any one method.</a:t>
            </a:r>
          </a:p>
          <a:p>
            <a:pPr indent="-228600">
              <a:lnSpc>
                <a:spcPct val="90000"/>
              </a:lnSpc>
              <a:buFont typeface="Arial" panose="020B0604020202020204" pitchFamily="34" charset="0"/>
              <a:buChar char="•"/>
            </a:pPr>
            <a:endParaRPr lang="en-US" sz="900" dirty="0"/>
          </a:p>
        </p:txBody>
      </p:sp>
      <p:sp>
        <p:nvSpPr>
          <p:cNvPr id="3" name="Footer Placeholder 2">
            <a:extLst>
              <a:ext uri="{FF2B5EF4-FFF2-40B4-BE49-F238E27FC236}">
                <a16:creationId xmlns:a16="http://schemas.microsoft.com/office/drawing/2014/main" id="{5F1DEBD0-88CA-AC9E-C9D5-D771A47CCC43}"/>
              </a:ext>
            </a:extLst>
          </p:cNvPr>
          <p:cNvSpPr>
            <a:spLocks noGrp="1"/>
          </p:cNvSpPr>
          <p:nvPr>
            <p:ph type="ftr" sz="quarter" idx="16"/>
          </p:nvPr>
        </p:nvSpPr>
        <p:spPr>
          <a:xfrm>
            <a:off x="4038600" y="6356350"/>
            <a:ext cx="4114800" cy="365125"/>
          </a:xfrm>
        </p:spPr>
        <p:txBody>
          <a:bodyPr vert="horz" lIns="91440" tIns="45720" rIns="91440" bIns="45720" rtlCol="0" anchor="ctr">
            <a:normAutofit/>
          </a:bodyPr>
          <a:lstStyle/>
          <a:p>
            <a:pPr algn="ctr">
              <a:spcAft>
                <a:spcPts val="600"/>
              </a:spcAft>
              <a:defRPr/>
            </a:pPr>
            <a:r>
              <a:rPr lang="en-US" sz="1200" kern="1200" spc="0">
                <a:solidFill>
                  <a:srgbClr val="FFFFFF"/>
                </a:solidFill>
                <a:latin typeface="Calibri" panose="020F0502020204030204"/>
                <a:ea typeface="+mn-ea"/>
                <a:cs typeface="+mn-cs"/>
              </a:rPr>
              <a:t>Moyagabo Raphasha</a:t>
            </a:r>
          </a:p>
        </p:txBody>
      </p:sp>
      <p:sp>
        <p:nvSpPr>
          <p:cNvPr id="5" name="Slide Number Placeholder 4">
            <a:extLst>
              <a:ext uri="{FF2B5EF4-FFF2-40B4-BE49-F238E27FC236}">
                <a16:creationId xmlns:a16="http://schemas.microsoft.com/office/drawing/2014/main" id="{A6AFC309-B938-C690-BDAE-FB62BD95406E}"/>
              </a:ext>
            </a:extLst>
          </p:cNvPr>
          <p:cNvSpPr>
            <a:spLocks noGrp="1"/>
          </p:cNvSpPr>
          <p:nvPr>
            <p:ph type="sldNum" sz="quarter" idx="17"/>
          </p:nvPr>
        </p:nvSpPr>
        <p:spPr>
          <a:xfrm>
            <a:off x="8610600" y="6356350"/>
            <a:ext cx="2743200" cy="365125"/>
          </a:xfrm>
        </p:spPr>
        <p:txBody>
          <a:bodyPr vert="horz" lIns="91440" tIns="45720" rIns="91440" bIns="45720" rtlCol="0" anchor="ctr">
            <a:normAutofit/>
          </a:bodyPr>
          <a:lstStyle/>
          <a:p>
            <a:pPr>
              <a:spcAft>
                <a:spcPts val="600"/>
              </a:spcAft>
              <a:defRPr/>
            </a:pPr>
            <a:fld id="{24D65F33-A771-944D-9289-CA575F1D1B7F}" type="slidenum">
              <a:rPr lang="en-US" sz="1200" spc="0" smtClean="0">
                <a:solidFill>
                  <a:prstClr val="black">
                    <a:tint val="75000"/>
                  </a:prstClr>
                </a:solidFill>
                <a:latin typeface="Calibri" panose="020F0502020204030204"/>
              </a:rPr>
              <a:pPr>
                <a:spcAft>
                  <a:spcPts val="600"/>
                </a:spcAft>
                <a:defRPr/>
              </a:pPr>
              <a:t>17</a:t>
            </a:fld>
            <a:endParaRPr lang="en-US" sz="1200" spc="0" dirty="0">
              <a:solidFill>
                <a:prstClr val="black">
                  <a:tint val="75000"/>
                </a:prstClr>
              </a:solidFill>
              <a:latin typeface="Calibri" panose="020F0502020204030204"/>
            </a:endParaRPr>
          </a:p>
        </p:txBody>
      </p:sp>
      <p:sp>
        <p:nvSpPr>
          <p:cNvPr id="4" name="TextBox 3">
            <a:extLst>
              <a:ext uri="{FF2B5EF4-FFF2-40B4-BE49-F238E27FC236}">
                <a16:creationId xmlns:a16="http://schemas.microsoft.com/office/drawing/2014/main" id="{FA019781-7104-297D-2253-F87485F1AA2C}"/>
              </a:ext>
            </a:extLst>
          </p:cNvPr>
          <p:cNvSpPr txBox="1"/>
          <p:nvPr/>
        </p:nvSpPr>
        <p:spPr>
          <a:xfrm>
            <a:off x="1495245" y="12038043"/>
            <a:ext cx="9144000" cy="317500"/>
          </a:xfrm>
          <a:prstGeom prst="rect">
            <a:avLst/>
          </a:prstGeom>
        </p:spPr>
        <p:txBody>
          <a:bodyPr>
            <a:normAutofit lnSpcReduction="10000"/>
          </a:bodyPr>
          <a:lstStyle/>
          <a:p>
            <a:pPr>
              <a:lnSpc>
                <a:spcPct val="90000"/>
              </a:lnSpc>
              <a:spcAft>
                <a:spcPts val="600"/>
              </a:spcAft>
            </a:pPr>
            <a:r>
              <a:rPr lang="en-US" sz="1700"/>
              <a:t>ThePhoto by PhotoAuthor is licensed under CCYYSA.</a:t>
            </a:r>
          </a:p>
        </p:txBody>
      </p:sp>
    </p:spTree>
    <p:extLst>
      <p:ext uri="{BB962C8B-B14F-4D97-AF65-F5344CB8AC3E}">
        <p14:creationId xmlns:p14="http://schemas.microsoft.com/office/powerpoint/2010/main" val="27994116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D138E5C-A84E-E9BD-DE3A-157B1B95AB3F}"/>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98C0A35C-E9B6-47D4-7067-9B332DA40C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Placeholder 8">
            <a:extLst>
              <a:ext uri="{FF2B5EF4-FFF2-40B4-BE49-F238E27FC236}">
                <a16:creationId xmlns:a16="http://schemas.microsoft.com/office/drawing/2014/main" id="{EF67541F-998D-06AF-BB66-5B053FE35338}"/>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l="2942" r="2941" b="-1"/>
          <a:stretch>
            <a:fillRect/>
          </a:stretch>
        </p:blipFill>
        <p:spPr>
          <a:xfrm>
            <a:off x="1" y="10"/>
            <a:ext cx="9669642" cy="6857990"/>
          </a:xfrm>
          <a:prstGeom prst="rect">
            <a:avLst/>
          </a:prstGeom>
        </p:spPr>
      </p:pic>
      <p:sp>
        <p:nvSpPr>
          <p:cNvPr id="24" name="Rectangle 23">
            <a:extLst>
              <a:ext uri="{FF2B5EF4-FFF2-40B4-BE49-F238E27FC236}">
                <a16:creationId xmlns:a16="http://schemas.microsoft.com/office/drawing/2014/main" id="{AFF33F26-DB39-E90C-727D-F789675A1F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itle 14">
            <a:extLst>
              <a:ext uri="{FF2B5EF4-FFF2-40B4-BE49-F238E27FC236}">
                <a16:creationId xmlns:a16="http://schemas.microsoft.com/office/drawing/2014/main" id="{1F45C513-B482-6A44-6FF2-946EFF6544AB}"/>
              </a:ext>
            </a:extLst>
          </p:cNvPr>
          <p:cNvSpPr>
            <a:spLocks noGrp="1"/>
          </p:cNvSpPr>
          <p:nvPr>
            <p:ph type="title"/>
          </p:nvPr>
        </p:nvSpPr>
        <p:spPr>
          <a:xfrm>
            <a:off x="7599615" y="-493357"/>
            <a:ext cx="3822189" cy="1899912"/>
          </a:xfrm>
        </p:spPr>
        <p:txBody>
          <a:bodyPr vert="horz" lIns="91440" tIns="45720" rIns="91440" bIns="45720" rtlCol="0" anchor="ctr">
            <a:normAutofit/>
          </a:bodyPr>
          <a:lstStyle/>
          <a:p>
            <a:r>
              <a:rPr lang="en-US" sz="2800" dirty="0" err="1"/>
              <a:t>MainWindow.xaml.cs</a:t>
            </a:r>
            <a:endParaRPr lang="en-US" sz="2800" dirty="0"/>
          </a:p>
        </p:txBody>
      </p:sp>
      <p:sp>
        <p:nvSpPr>
          <p:cNvPr id="17" name="Text Placeholder 16">
            <a:extLst>
              <a:ext uri="{FF2B5EF4-FFF2-40B4-BE49-F238E27FC236}">
                <a16:creationId xmlns:a16="http://schemas.microsoft.com/office/drawing/2014/main" id="{B6A3E3B9-A23A-6CC8-9691-7DB111215A18}"/>
              </a:ext>
            </a:extLst>
          </p:cNvPr>
          <p:cNvSpPr>
            <a:spLocks noGrp="1"/>
          </p:cNvSpPr>
          <p:nvPr>
            <p:ph type="body" sz="quarter" idx="4294967295"/>
          </p:nvPr>
        </p:nvSpPr>
        <p:spPr>
          <a:xfrm>
            <a:off x="7467462" y="726831"/>
            <a:ext cx="4490076" cy="4191526"/>
          </a:xfrm>
        </p:spPr>
        <p:txBody>
          <a:bodyPr vert="horz" lIns="91440" tIns="45720" rIns="91440" bIns="45720" rtlCol="0">
            <a:noAutofit/>
          </a:bodyPr>
          <a:lstStyle/>
          <a:p>
            <a:r>
              <a:rPr lang="en-GB" sz="900" b="1" dirty="0"/>
              <a:t>private </a:t>
            </a:r>
            <a:r>
              <a:rPr lang="en-GB" sz="900" b="1" dirty="0" err="1"/>
              <a:t>ObservableCollection</a:t>
            </a:r>
            <a:r>
              <a:rPr lang="en-GB" sz="900" b="1" dirty="0"/>
              <a:t>&lt;</a:t>
            </a:r>
            <a:r>
              <a:rPr lang="en-GB" sz="900" b="1" dirty="0" err="1"/>
              <a:t>ChatMessage</a:t>
            </a:r>
            <a:r>
              <a:rPr lang="en-GB" sz="900" b="1" dirty="0"/>
              <a:t>&gt; _messages = null!;</a:t>
            </a:r>
            <a:r>
              <a:rPr lang="en-GB" sz="900" dirty="0"/>
              <a:t> Holds the list of all chat messages displayed on screen. The null! (null-forgiving operator) tells the C# compiler "I know this looks null right now, but I guarantee it will be set before it is used" — this suppresses the nullable reference type warning without disabling the safety check globally. Like _</a:t>
            </a:r>
            <a:r>
              <a:rPr lang="en-GB" sz="900" dirty="0" err="1"/>
              <a:t>chatService</a:t>
            </a:r>
            <a:r>
              <a:rPr lang="en-GB" sz="900" dirty="0"/>
              <a:t>, it is properly assigned inside </a:t>
            </a:r>
            <a:r>
              <a:rPr lang="en-GB" sz="900" dirty="0" err="1"/>
              <a:t>InitializeChat</a:t>
            </a:r>
            <a:r>
              <a:rPr lang="en-GB" sz="900" dirty="0"/>
              <a:t>().</a:t>
            </a:r>
          </a:p>
          <a:p>
            <a:br>
              <a:rPr lang="en-GB" sz="900" dirty="0"/>
            </a:br>
            <a:endParaRPr lang="en-GB" sz="900" dirty="0"/>
          </a:p>
          <a:p>
            <a:r>
              <a:rPr lang="en-GB" sz="900" b="1" dirty="0"/>
              <a:t>CONSTRUCTOR — </a:t>
            </a:r>
            <a:r>
              <a:rPr lang="en-GB" sz="900" b="1" dirty="0" err="1"/>
              <a:t>MainWindow</a:t>
            </a:r>
            <a:r>
              <a:rPr lang="en-GB" sz="900" b="1" dirty="0"/>
              <a:t>()</a:t>
            </a:r>
          </a:p>
          <a:p>
            <a:r>
              <a:rPr lang="en-GB" sz="900" dirty="0" err="1"/>
              <a:t>csharp</a:t>
            </a:r>
            <a:endParaRPr lang="en-GB" sz="900" dirty="0"/>
          </a:p>
          <a:p>
            <a:r>
              <a:rPr lang="en-GB" sz="900" dirty="0"/>
              <a:t>public </a:t>
            </a:r>
            <a:r>
              <a:rPr lang="en-GB" sz="900" dirty="0" err="1"/>
              <a:t>MainWindow</a:t>
            </a:r>
            <a:r>
              <a:rPr lang="en-GB" sz="900" dirty="0"/>
              <a:t>()</a:t>
            </a:r>
          </a:p>
          <a:p>
            <a:r>
              <a:rPr lang="en-GB" sz="900" dirty="0"/>
              <a:t>{</a:t>
            </a:r>
          </a:p>
          <a:p>
            <a:r>
              <a:rPr lang="en-GB" sz="900" dirty="0"/>
              <a:t>    </a:t>
            </a:r>
            <a:r>
              <a:rPr lang="en-GB" sz="900" dirty="0" err="1"/>
              <a:t>InitializeComponent</a:t>
            </a:r>
            <a:r>
              <a:rPr lang="en-GB" sz="900" dirty="0"/>
              <a:t>();</a:t>
            </a:r>
          </a:p>
          <a:p>
            <a:r>
              <a:rPr lang="en-GB" sz="900" dirty="0"/>
              <a:t>    </a:t>
            </a:r>
            <a:r>
              <a:rPr lang="en-GB" sz="900" dirty="0" err="1"/>
              <a:t>InitializeChat</a:t>
            </a:r>
            <a:r>
              <a:rPr lang="en-GB" sz="900" dirty="0"/>
              <a:t>();</a:t>
            </a:r>
          </a:p>
          <a:p>
            <a:r>
              <a:rPr lang="en-GB" sz="900" dirty="0"/>
              <a:t>}</a:t>
            </a:r>
          </a:p>
          <a:p>
            <a:r>
              <a:rPr lang="en-GB" sz="900" b="1" dirty="0" err="1"/>
              <a:t>InitializeComponent</a:t>
            </a:r>
            <a:r>
              <a:rPr lang="en-GB" sz="900" b="1" dirty="0"/>
              <a:t>()</a:t>
            </a:r>
            <a:r>
              <a:rPr lang="en-GB" sz="900" dirty="0"/>
              <a:t> This is an auto-generated method produced by the WPF build system. It reads the </a:t>
            </a:r>
            <a:r>
              <a:rPr lang="en-GB" sz="900" dirty="0" err="1"/>
              <a:t>MainWindow.xaml</a:t>
            </a:r>
            <a:r>
              <a:rPr lang="en-GB" sz="900" dirty="0"/>
              <a:t> file and creates all the UI elements in memory — the Grid, the Borders, the </a:t>
            </a:r>
            <a:r>
              <a:rPr lang="en-GB" sz="900" dirty="0" err="1"/>
              <a:t>TextBoxes</a:t>
            </a:r>
            <a:r>
              <a:rPr lang="en-GB" sz="900" dirty="0"/>
              <a:t>, the Buttons, everything. It must always be the first call in the constructor. If you skip it, none of the named elements like </a:t>
            </a:r>
            <a:r>
              <a:rPr lang="en-GB" sz="900" dirty="0" err="1"/>
              <a:t>AsciiArtText</a:t>
            </a:r>
            <a:r>
              <a:rPr lang="en-GB" sz="900" dirty="0"/>
              <a:t>, </a:t>
            </a:r>
            <a:r>
              <a:rPr lang="en-GB" sz="900" dirty="0" err="1"/>
              <a:t>UserInput</a:t>
            </a:r>
            <a:r>
              <a:rPr lang="en-GB" sz="900" dirty="0"/>
              <a:t>, or </a:t>
            </a:r>
            <a:r>
              <a:rPr lang="en-GB" sz="900" dirty="0" err="1"/>
              <a:t>ChatScroll</a:t>
            </a:r>
            <a:r>
              <a:rPr lang="en-GB" sz="900" dirty="0"/>
              <a:t> will exist, and any reference to them will throw a </a:t>
            </a:r>
            <a:r>
              <a:rPr lang="en-GB" sz="900" dirty="0" err="1"/>
              <a:t>NullReferenceException</a:t>
            </a:r>
            <a:endParaRPr lang="en-GB" sz="900" dirty="0"/>
          </a:p>
          <a:p>
            <a:pPr indent="-228600">
              <a:lnSpc>
                <a:spcPct val="90000"/>
              </a:lnSpc>
              <a:buFont typeface="Arial" panose="020B0604020202020204" pitchFamily="34" charset="0"/>
              <a:buChar char="•"/>
            </a:pPr>
            <a:endParaRPr lang="en-US" sz="900" dirty="0"/>
          </a:p>
        </p:txBody>
      </p:sp>
      <p:sp>
        <p:nvSpPr>
          <p:cNvPr id="3" name="Footer Placeholder 2">
            <a:extLst>
              <a:ext uri="{FF2B5EF4-FFF2-40B4-BE49-F238E27FC236}">
                <a16:creationId xmlns:a16="http://schemas.microsoft.com/office/drawing/2014/main" id="{831FE580-182B-1011-0F1E-677896F4016D}"/>
              </a:ext>
            </a:extLst>
          </p:cNvPr>
          <p:cNvSpPr>
            <a:spLocks noGrp="1"/>
          </p:cNvSpPr>
          <p:nvPr>
            <p:ph type="ftr" sz="quarter" idx="16"/>
          </p:nvPr>
        </p:nvSpPr>
        <p:spPr>
          <a:xfrm>
            <a:off x="4038600" y="6356350"/>
            <a:ext cx="4114800" cy="365125"/>
          </a:xfrm>
        </p:spPr>
        <p:txBody>
          <a:bodyPr vert="horz" lIns="91440" tIns="45720" rIns="91440" bIns="45720" rtlCol="0" anchor="ctr">
            <a:normAutofit/>
          </a:bodyPr>
          <a:lstStyle/>
          <a:p>
            <a:pPr algn="ctr">
              <a:spcAft>
                <a:spcPts val="600"/>
              </a:spcAft>
              <a:defRPr/>
            </a:pPr>
            <a:r>
              <a:rPr lang="en-US" sz="1200" kern="1200" spc="0">
                <a:solidFill>
                  <a:srgbClr val="FFFFFF"/>
                </a:solidFill>
                <a:latin typeface="Calibri" panose="020F0502020204030204"/>
                <a:ea typeface="+mn-ea"/>
                <a:cs typeface="+mn-cs"/>
              </a:rPr>
              <a:t>Moyagabo Raphasha</a:t>
            </a:r>
          </a:p>
        </p:txBody>
      </p:sp>
      <p:sp>
        <p:nvSpPr>
          <p:cNvPr id="5" name="Slide Number Placeholder 4">
            <a:extLst>
              <a:ext uri="{FF2B5EF4-FFF2-40B4-BE49-F238E27FC236}">
                <a16:creationId xmlns:a16="http://schemas.microsoft.com/office/drawing/2014/main" id="{055F6AB8-85AE-3EB3-3EF0-0D361D011336}"/>
              </a:ext>
            </a:extLst>
          </p:cNvPr>
          <p:cNvSpPr>
            <a:spLocks noGrp="1"/>
          </p:cNvSpPr>
          <p:nvPr>
            <p:ph type="sldNum" sz="quarter" idx="17"/>
          </p:nvPr>
        </p:nvSpPr>
        <p:spPr>
          <a:xfrm>
            <a:off x="8610600" y="6356350"/>
            <a:ext cx="2743200" cy="365125"/>
          </a:xfrm>
        </p:spPr>
        <p:txBody>
          <a:bodyPr vert="horz" lIns="91440" tIns="45720" rIns="91440" bIns="45720" rtlCol="0" anchor="ctr">
            <a:normAutofit/>
          </a:bodyPr>
          <a:lstStyle/>
          <a:p>
            <a:pPr>
              <a:spcAft>
                <a:spcPts val="600"/>
              </a:spcAft>
              <a:defRPr/>
            </a:pPr>
            <a:fld id="{24D65F33-A771-944D-9289-CA575F1D1B7F}" type="slidenum">
              <a:rPr lang="en-US" sz="1200" spc="0" smtClean="0">
                <a:solidFill>
                  <a:prstClr val="black">
                    <a:tint val="75000"/>
                  </a:prstClr>
                </a:solidFill>
                <a:latin typeface="Calibri" panose="020F0502020204030204"/>
              </a:rPr>
              <a:pPr>
                <a:spcAft>
                  <a:spcPts val="600"/>
                </a:spcAft>
                <a:defRPr/>
              </a:pPr>
              <a:t>18</a:t>
            </a:fld>
            <a:endParaRPr lang="en-US" sz="1200" spc="0" dirty="0">
              <a:solidFill>
                <a:prstClr val="black">
                  <a:tint val="75000"/>
                </a:prstClr>
              </a:solidFill>
              <a:latin typeface="Calibri" panose="020F0502020204030204"/>
            </a:endParaRPr>
          </a:p>
        </p:txBody>
      </p:sp>
      <p:sp>
        <p:nvSpPr>
          <p:cNvPr id="4" name="TextBox 3">
            <a:extLst>
              <a:ext uri="{FF2B5EF4-FFF2-40B4-BE49-F238E27FC236}">
                <a16:creationId xmlns:a16="http://schemas.microsoft.com/office/drawing/2014/main" id="{60492B12-DB95-D570-7651-6BD43D488111}"/>
              </a:ext>
            </a:extLst>
          </p:cNvPr>
          <p:cNvSpPr txBox="1"/>
          <p:nvPr/>
        </p:nvSpPr>
        <p:spPr>
          <a:xfrm>
            <a:off x="1495245" y="12038043"/>
            <a:ext cx="9144000" cy="317500"/>
          </a:xfrm>
          <a:prstGeom prst="rect">
            <a:avLst/>
          </a:prstGeom>
        </p:spPr>
        <p:txBody>
          <a:bodyPr>
            <a:normAutofit lnSpcReduction="10000"/>
          </a:bodyPr>
          <a:lstStyle/>
          <a:p>
            <a:pPr>
              <a:lnSpc>
                <a:spcPct val="90000"/>
              </a:lnSpc>
              <a:spcAft>
                <a:spcPts val="600"/>
              </a:spcAft>
            </a:pPr>
            <a:r>
              <a:rPr lang="en-US" sz="1700"/>
              <a:t>ThePhoto by PhotoAuthor is licensed under CCYYSA.</a:t>
            </a:r>
          </a:p>
        </p:txBody>
      </p:sp>
    </p:spTree>
    <p:extLst>
      <p:ext uri="{BB962C8B-B14F-4D97-AF65-F5344CB8AC3E}">
        <p14:creationId xmlns:p14="http://schemas.microsoft.com/office/powerpoint/2010/main" val="20557587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D186758-83C6-A603-2CA4-8DF41BCAC9FD}"/>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702A2A8F-FC11-189D-C21C-48E91BC862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Placeholder 8">
            <a:extLst>
              <a:ext uri="{FF2B5EF4-FFF2-40B4-BE49-F238E27FC236}">
                <a16:creationId xmlns:a16="http://schemas.microsoft.com/office/drawing/2014/main" id="{03E15928-A04C-76C0-EC2A-639DC2377D81}"/>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l="2942" r="2941" b="-1"/>
          <a:stretch>
            <a:fillRect/>
          </a:stretch>
        </p:blipFill>
        <p:spPr>
          <a:xfrm>
            <a:off x="1" y="10"/>
            <a:ext cx="9669642" cy="6857990"/>
          </a:xfrm>
          <a:prstGeom prst="rect">
            <a:avLst/>
          </a:prstGeom>
        </p:spPr>
      </p:pic>
      <p:sp>
        <p:nvSpPr>
          <p:cNvPr id="24" name="Rectangle 23">
            <a:extLst>
              <a:ext uri="{FF2B5EF4-FFF2-40B4-BE49-F238E27FC236}">
                <a16:creationId xmlns:a16="http://schemas.microsoft.com/office/drawing/2014/main" id="{DAE95124-EF48-65B8-13C7-7549AFF41D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itle 14">
            <a:extLst>
              <a:ext uri="{FF2B5EF4-FFF2-40B4-BE49-F238E27FC236}">
                <a16:creationId xmlns:a16="http://schemas.microsoft.com/office/drawing/2014/main" id="{B3A9EF6F-9538-AD0A-9628-708C33883A5E}"/>
              </a:ext>
            </a:extLst>
          </p:cNvPr>
          <p:cNvSpPr>
            <a:spLocks noGrp="1"/>
          </p:cNvSpPr>
          <p:nvPr>
            <p:ph type="title"/>
          </p:nvPr>
        </p:nvSpPr>
        <p:spPr>
          <a:xfrm>
            <a:off x="7599615" y="-493357"/>
            <a:ext cx="3822189" cy="1899912"/>
          </a:xfrm>
        </p:spPr>
        <p:txBody>
          <a:bodyPr vert="horz" lIns="91440" tIns="45720" rIns="91440" bIns="45720" rtlCol="0" anchor="ctr">
            <a:normAutofit/>
          </a:bodyPr>
          <a:lstStyle/>
          <a:p>
            <a:r>
              <a:rPr lang="en-US" sz="2800" dirty="0" err="1"/>
              <a:t>MainWindow.xaml.cs</a:t>
            </a:r>
            <a:endParaRPr lang="en-US" sz="2800" dirty="0"/>
          </a:p>
        </p:txBody>
      </p:sp>
      <p:sp>
        <p:nvSpPr>
          <p:cNvPr id="17" name="Text Placeholder 16">
            <a:extLst>
              <a:ext uri="{FF2B5EF4-FFF2-40B4-BE49-F238E27FC236}">
                <a16:creationId xmlns:a16="http://schemas.microsoft.com/office/drawing/2014/main" id="{BA0B086B-64C4-E01F-6CAC-25894410B27E}"/>
              </a:ext>
            </a:extLst>
          </p:cNvPr>
          <p:cNvSpPr>
            <a:spLocks noGrp="1"/>
          </p:cNvSpPr>
          <p:nvPr>
            <p:ph type="body" sz="quarter" idx="4294967295"/>
          </p:nvPr>
        </p:nvSpPr>
        <p:spPr>
          <a:xfrm>
            <a:off x="7467462" y="726831"/>
            <a:ext cx="4490076" cy="4191526"/>
          </a:xfrm>
        </p:spPr>
        <p:txBody>
          <a:bodyPr vert="horz" lIns="91440" tIns="45720" rIns="91440" bIns="45720" rtlCol="0">
            <a:noAutofit/>
          </a:bodyPr>
          <a:lstStyle/>
          <a:p>
            <a:r>
              <a:rPr lang="en-GB" b="1" dirty="0" err="1"/>
              <a:t>InitializeChat</a:t>
            </a:r>
            <a:r>
              <a:rPr lang="en-GB" b="1" dirty="0"/>
              <a:t>()</a:t>
            </a:r>
            <a:r>
              <a:rPr lang="en-GB" sz="900" dirty="0"/>
              <a:t> This is the custom setup method. The reason all the setup logic is in </a:t>
            </a:r>
            <a:r>
              <a:rPr lang="en-GB" sz="900" dirty="0" err="1"/>
              <a:t>InitializeChat</a:t>
            </a:r>
            <a:r>
              <a:rPr lang="en-GB" sz="900" dirty="0"/>
              <a:t>() rather than directly in the constructor is clean code — the constructor's job is just to get the window ready, not to contain pages of business logic. Keeping it separate also makes it easier to re-initialise the chat later if needed (for example, a "Reset" feature) without duplicating code.</a:t>
            </a:r>
          </a:p>
          <a:p>
            <a:br>
              <a:rPr lang="en-GB" sz="900" dirty="0"/>
            </a:br>
            <a:endParaRPr lang="en-GB" sz="900" dirty="0"/>
          </a:p>
          <a:p>
            <a:r>
              <a:rPr lang="en-GB" sz="900" b="1" dirty="0"/>
              <a:t>METHOD — </a:t>
            </a:r>
            <a:r>
              <a:rPr lang="en-GB" sz="900" b="1" dirty="0" err="1"/>
              <a:t>InitializeChat</a:t>
            </a:r>
            <a:r>
              <a:rPr lang="en-GB" sz="900" b="1" dirty="0"/>
              <a:t>()</a:t>
            </a:r>
          </a:p>
          <a:p>
            <a:r>
              <a:rPr lang="en-GB" sz="900" dirty="0"/>
              <a:t>This runs once when the window opens and sets up every component the bot depends on. The commented numbers (1 through 5) in the original code show the intended sequence.</a:t>
            </a:r>
          </a:p>
          <a:p>
            <a:br>
              <a:rPr lang="en-GB" sz="900" dirty="0"/>
            </a:br>
            <a:endParaRPr lang="en-GB" sz="900" dirty="0"/>
          </a:p>
          <a:p>
            <a:r>
              <a:rPr lang="en-GB" sz="900" b="1" dirty="0"/>
              <a:t>Step 1 — Display the ASCII Logo</a:t>
            </a:r>
            <a:endParaRPr lang="en-GB" sz="900" dirty="0"/>
          </a:p>
          <a:p>
            <a:r>
              <a:rPr lang="en-GB" sz="900" dirty="0" err="1"/>
              <a:t>csharp</a:t>
            </a:r>
            <a:endParaRPr lang="en-GB" sz="900" dirty="0"/>
          </a:p>
          <a:p>
            <a:r>
              <a:rPr lang="en-GB" dirty="0" err="1"/>
              <a:t>AsciiArtText.Text</a:t>
            </a:r>
            <a:r>
              <a:rPr lang="en-GB" dirty="0"/>
              <a:t> = </a:t>
            </a:r>
            <a:r>
              <a:rPr lang="en-GB" dirty="0" err="1"/>
              <a:t>AsciiArt.GetLogoForGui</a:t>
            </a:r>
            <a:r>
              <a:rPr lang="en-GB" dirty="0"/>
              <a:t>();</a:t>
            </a:r>
          </a:p>
          <a:p>
            <a:r>
              <a:rPr lang="en-GB" sz="900" dirty="0" err="1"/>
              <a:t>AsciiArtText</a:t>
            </a:r>
            <a:r>
              <a:rPr lang="en-GB" sz="900" dirty="0"/>
              <a:t> is the name given to the </a:t>
            </a:r>
            <a:r>
              <a:rPr lang="en-GB" sz="900" dirty="0" err="1"/>
              <a:t>TextBlock</a:t>
            </a:r>
            <a:r>
              <a:rPr lang="en-GB" sz="900" dirty="0"/>
              <a:t> in XAML using x:Name="AsciiArtText". Calling .Text on it sets its displayed content. </a:t>
            </a:r>
            <a:r>
              <a:rPr lang="en-GB" sz="900" dirty="0" err="1"/>
              <a:t>AsciiArt.GetLogoForGui</a:t>
            </a:r>
            <a:r>
              <a:rPr lang="en-GB" sz="900" dirty="0"/>
              <a:t>() is called on the static class — no object needed — and returns the multi-line box-drawing logo string. The </a:t>
            </a:r>
            <a:r>
              <a:rPr lang="en-GB" sz="900" dirty="0" err="1"/>
              <a:t>TextBlock</a:t>
            </a:r>
            <a:r>
              <a:rPr lang="en-GB" sz="900" dirty="0"/>
              <a:t> is set to </a:t>
            </a:r>
            <a:r>
              <a:rPr lang="en-GB" sz="900" dirty="0" err="1"/>
              <a:t>FontFamily</a:t>
            </a:r>
            <a:r>
              <a:rPr lang="en-GB" sz="900" dirty="0"/>
              <a:t>="Consolas" in XAML, which is required because box-drawing characters (╔ ═ ║) are monospace characters that only align visually in fixed-width fonts.</a:t>
            </a:r>
          </a:p>
          <a:p>
            <a:pPr indent="-228600">
              <a:lnSpc>
                <a:spcPct val="90000"/>
              </a:lnSpc>
              <a:buFont typeface="Arial" panose="020B0604020202020204" pitchFamily="34" charset="0"/>
              <a:buChar char="•"/>
            </a:pPr>
            <a:endParaRPr lang="en-US" sz="900" dirty="0"/>
          </a:p>
        </p:txBody>
      </p:sp>
      <p:sp>
        <p:nvSpPr>
          <p:cNvPr id="3" name="Footer Placeholder 2">
            <a:extLst>
              <a:ext uri="{FF2B5EF4-FFF2-40B4-BE49-F238E27FC236}">
                <a16:creationId xmlns:a16="http://schemas.microsoft.com/office/drawing/2014/main" id="{23D45695-51DC-9592-FB8D-DE98191EE0D5}"/>
              </a:ext>
            </a:extLst>
          </p:cNvPr>
          <p:cNvSpPr>
            <a:spLocks noGrp="1"/>
          </p:cNvSpPr>
          <p:nvPr>
            <p:ph type="ftr" sz="quarter" idx="16"/>
          </p:nvPr>
        </p:nvSpPr>
        <p:spPr>
          <a:xfrm>
            <a:off x="4038600" y="6356350"/>
            <a:ext cx="4114800" cy="365125"/>
          </a:xfrm>
        </p:spPr>
        <p:txBody>
          <a:bodyPr vert="horz" lIns="91440" tIns="45720" rIns="91440" bIns="45720" rtlCol="0" anchor="ctr">
            <a:normAutofit/>
          </a:bodyPr>
          <a:lstStyle/>
          <a:p>
            <a:pPr algn="ctr">
              <a:spcAft>
                <a:spcPts val="600"/>
              </a:spcAft>
              <a:defRPr/>
            </a:pPr>
            <a:r>
              <a:rPr lang="en-US" sz="1200" kern="1200" spc="0">
                <a:solidFill>
                  <a:srgbClr val="FFFFFF"/>
                </a:solidFill>
                <a:latin typeface="Calibri" panose="020F0502020204030204"/>
                <a:ea typeface="+mn-ea"/>
                <a:cs typeface="+mn-cs"/>
              </a:rPr>
              <a:t>Moyagabo Raphasha</a:t>
            </a:r>
          </a:p>
        </p:txBody>
      </p:sp>
      <p:sp>
        <p:nvSpPr>
          <p:cNvPr id="5" name="Slide Number Placeholder 4">
            <a:extLst>
              <a:ext uri="{FF2B5EF4-FFF2-40B4-BE49-F238E27FC236}">
                <a16:creationId xmlns:a16="http://schemas.microsoft.com/office/drawing/2014/main" id="{2D04AA4E-AC07-F4B3-1610-3FB8FB312B08}"/>
              </a:ext>
            </a:extLst>
          </p:cNvPr>
          <p:cNvSpPr>
            <a:spLocks noGrp="1"/>
          </p:cNvSpPr>
          <p:nvPr>
            <p:ph type="sldNum" sz="quarter" idx="17"/>
          </p:nvPr>
        </p:nvSpPr>
        <p:spPr>
          <a:xfrm>
            <a:off x="8610600" y="6356350"/>
            <a:ext cx="2743200" cy="365125"/>
          </a:xfrm>
        </p:spPr>
        <p:txBody>
          <a:bodyPr vert="horz" lIns="91440" tIns="45720" rIns="91440" bIns="45720" rtlCol="0" anchor="ctr">
            <a:normAutofit/>
          </a:bodyPr>
          <a:lstStyle/>
          <a:p>
            <a:pPr>
              <a:spcAft>
                <a:spcPts val="600"/>
              </a:spcAft>
              <a:defRPr/>
            </a:pPr>
            <a:fld id="{24D65F33-A771-944D-9289-CA575F1D1B7F}" type="slidenum">
              <a:rPr lang="en-US" sz="1200" spc="0" smtClean="0">
                <a:solidFill>
                  <a:prstClr val="black">
                    <a:tint val="75000"/>
                  </a:prstClr>
                </a:solidFill>
                <a:latin typeface="Calibri" panose="020F0502020204030204"/>
              </a:rPr>
              <a:pPr>
                <a:spcAft>
                  <a:spcPts val="600"/>
                </a:spcAft>
                <a:defRPr/>
              </a:pPr>
              <a:t>19</a:t>
            </a:fld>
            <a:endParaRPr lang="en-US" sz="1200" spc="0" dirty="0">
              <a:solidFill>
                <a:prstClr val="black">
                  <a:tint val="75000"/>
                </a:prstClr>
              </a:solidFill>
              <a:latin typeface="Calibri" panose="020F0502020204030204"/>
            </a:endParaRPr>
          </a:p>
        </p:txBody>
      </p:sp>
      <p:sp>
        <p:nvSpPr>
          <p:cNvPr id="4" name="TextBox 3">
            <a:extLst>
              <a:ext uri="{FF2B5EF4-FFF2-40B4-BE49-F238E27FC236}">
                <a16:creationId xmlns:a16="http://schemas.microsoft.com/office/drawing/2014/main" id="{078EF385-B6D9-06D1-37BC-1EBE19A57802}"/>
              </a:ext>
            </a:extLst>
          </p:cNvPr>
          <p:cNvSpPr txBox="1"/>
          <p:nvPr/>
        </p:nvSpPr>
        <p:spPr>
          <a:xfrm>
            <a:off x="1495245" y="12038043"/>
            <a:ext cx="9144000" cy="317500"/>
          </a:xfrm>
          <a:prstGeom prst="rect">
            <a:avLst/>
          </a:prstGeom>
        </p:spPr>
        <p:txBody>
          <a:bodyPr>
            <a:normAutofit lnSpcReduction="10000"/>
          </a:bodyPr>
          <a:lstStyle/>
          <a:p>
            <a:pPr>
              <a:lnSpc>
                <a:spcPct val="90000"/>
              </a:lnSpc>
              <a:spcAft>
                <a:spcPts val="600"/>
              </a:spcAft>
            </a:pPr>
            <a:r>
              <a:rPr lang="en-US" sz="1700"/>
              <a:t>ThePhoto by PhotoAuthor is licensed under CCYYSA.</a:t>
            </a:r>
          </a:p>
        </p:txBody>
      </p:sp>
    </p:spTree>
    <p:extLst>
      <p:ext uri="{BB962C8B-B14F-4D97-AF65-F5344CB8AC3E}">
        <p14:creationId xmlns:p14="http://schemas.microsoft.com/office/powerpoint/2010/main" val="51963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A5F72FC-A468-BB80-9EE4-BA5AB83DD38F}"/>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563272B-6569-FEF0-BD78-CBE7E9F2F4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Placeholder 8">
            <a:extLst>
              <a:ext uri="{FF2B5EF4-FFF2-40B4-BE49-F238E27FC236}">
                <a16:creationId xmlns:a16="http://schemas.microsoft.com/office/drawing/2014/main" id="{F6FC179D-BD5D-76DE-A22C-CB0A1F7A393D}"/>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l="2942" r="2941" b="-1"/>
          <a:stretch>
            <a:fillRect/>
          </a:stretch>
        </p:blipFill>
        <p:spPr>
          <a:xfrm>
            <a:off x="1" y="10"/>
            <a:ext cx="9669642" cy="6857990"/>
          </a:xfrm>
          <a:prstGeom prst="rect">
            <a:avLst/>
          </a:prstGeom>
        </p:spPr>
      </p:pic>
      <p:sp>
        <p:nvSpPr>
          <p:cNvPr id="24" name="Rectangle 23">
            <a:extLst>
              <a:ext uri="{FF2B5EF4-FFF2-40B4-BE49-F238E27FC236}">
                <a16:creationId xmlns:a16="http://schemas.microsoft.com/office/drawing/2014/main" id="{31F5D68D-EEE8-C521-B757-7BFDDC6F14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itle 14">
            <a:extLst>
              <a:ext uri="{FF2B5EF4-FFF2-40B4-BE49-F238E27FC236}">
                <a16:creationId xmlns:a16="http://schemas.microsoft.com/office/drawing/2014/main" id="{BD5E6444-7B1B-F588-15D2-10B58B20E674}"/>
              </a:ext>
            </a:extLst>
          </p:cNvPr>
          <p:cNvSpPr>
            <a:spLocks noGrp="1"/>
          </p:cNvSpPr>
          <p:nvPr>
            <p:ph type="title"/>
          </p:nvPr>
        </p:nvSpPr>
        <p:spPr>
          <a:xfrm>
            <a:off x="7599615" y="-493357"/>
            <a:ext cx="3822189" cy="1899912"/>
          </a:xfrm>
        </p:spPr>
        <p:txBody>
          <a:bodyPr vert="horz" lIns="91440" tIns="45720" rIns="91440" bIns="45720" rtlCol="0" anchor="ctr">
            <a:normAutofit/>
          </a:bodyPr>
          <a:lstStyle/>
          <a:p>
            <a:r>
              <a:rPr lang="en-US" sz="2800" dirty="0" err="1"/>
              <a:t>MainWindow.xaml.cs</a:t>
            </a:r>
            <a:endParaRPr lang="en-US" sz="2800" dirty="0"/>
          </a:p>
        </p:txBody>
      </p:sp>
      <p:sp>
        <p:nvSpPr>
          <p:cNvPr id="17" name="Text Placeholder 16">
            <a:extLst>
              <a:ext uri="{FF2B5EF4-FFF2-40B4-BE49-F238E27FC236}">
                <a16:creationId xmlns:a16="http://schemas.microsoft.com/office/drawing/2014/main" id="{4AD739BF-A41B-65E5-5689-A6801088EAC8}"/>
              </a:ext>
            </a:extLst>
          </p:cNvPr>
          <p:cNvSpPr>
            <a:spLocks noGrp="1"/>
          </p:cNvSpPr>
          <p:nvPr>
            <p:ph type="body" sz="quarter" idx="4294967295"/>
          </p:nvPr>
        </p:nvSpPr>
        <p:spPr>
          <a:xfrm>
            <a:off x="7467462" y="726831"/>
            <a:ext cx="4490076" cy="4191526"/>
          </a:xfrm>
        </p:spPr>
        <p:txBody>
          <a:bodyPr vert="horz" lIns="91440" tIns="45720" rIns="91440" bIns="45720" rtlCol="0">
            <a:noAutofit/>
          </a:bodyPr>
          <a:lstStyle/>
          <a:p>
            <a:r>
              <a:rPr lang="en-GB" b="1" dirty="0"/>
              <a:t>Set Up the Chat Collection</a:t>
            </a:r>
            <a:endParaRPr lang="en-GB" dirty="0"/>
          </a:p>
          <a:p>
            <a:r>
              <a:rPr lang="en-GB" dirty="0" err="1"/>
              <a:t>csharp</a:t>
            </a:r>
            <a:endParaRPr lang="en-GB" dirty="0"/>
          </a:p>
          <a:p>
            <a:r>
              <a:rPr lang="en-GB" dirty="0"/>
              <a:t>_messages = new </a:t>
            </a:r>
            <a:r>
              <a:rPr lang="en-GB" dirty="0" err="1"/>
              <a:t>ObservableCollection</a:t>
            </a:r>
            <a:r>
              <a:rPr lang="en-GB" dirty="0"/>
              <a:t>&lt;</a:t>
            </a:r>
            <a:r>
              <a:rPr lang="en-GB" dirty="0" err="1"/>
              <a:t>ChatMessage</a:t>
            </a:r>
            <a:r>
              <a:rPr lang="en-GB" dirty="0"/>
              <a:t>&gt;();</a:t>
            </a:r>
          </a:p>
          <a:p>
            <a:r>
              <a:rPr lang="en-GB" dirty="0" err="1"/>
              <a:t>ChatMessages.ItemsSource</a:t>
            </a:r>
            <a:r>
              <a:rPr lang="en-GB" dirty="0"/>
              <a:t> = _messages;</a:t>
            </a:r>
          </a:p>
          <a:p>
            <a:r>
              <a:rPr lang="en-GB" dirty="0"/>
              <a:t>new </a:t>
            </a:r>
            <a:r>
              <a:rPr lang="en-GB" dirty="0" err="1"/>
              <a:t>ObservableCollection</a:t>
            </a:r>
            <a:r>
              <a:rPr lang="en-GB" dirty="0"/>
              <a:t>&lt;</a:t>
            </a:r>
            <a:r>
              <a:rPr lang="en-GB" dirty="0" err="1"/>
              <a:t>ChatMessage</a:t>
            </a:r>
            <a:r>
              <a:rPr lang="en-GB" dirty="0"/>
              <a:t>&gt;() creates an empty list. </a:t>
            </a:r>
            <a:r>
              <a:rPr lang="en-GB" dirty="0" err="1"/>
              <a:t>ObservableCollection</a:t>
            </a:r>
            <a:r>
              <a:rPr lang="en-GB" dirty="0"/>
              <a:t> is not just a regular List — it implements the </a:t>
            </a:r>
            <a:r>
              <a:rPr lang="en-GB" dirty="0" err="1"/>
              <a:t>INotifyCollectionChanged</a:t>
            </a:r>
            <a:r>
              <a:rPr lang="en-GB" dirty="0"/>
              <a:t> interface, which means it automatically fires an event every time an item is added or removed. WPF listens for that event and immediately updates what is shown on screen without you writing any refresh code.</a:t>
            </a:r>
          </a:p>
          <a:p>
            <a:r>
              <a:rPr lang="en-GB" dirty="0" err="1"/>
              <a:t>ChatMessages.ItemsSource</a:t>
            </a:r>
            <a:r>
              <a:rPr lang="en-GB" dirty="0"/>
              <a:t> = _messages connects this collection to the </a:t>
            </a:r>
            <a:r>
              <a:rPr lang="en-GB" dirty="0" err="1"/>
              <a:t>ItemsControl</a:t>
            </a:r>
            <a:r>
              <a:rPr lang="en-GB" dirty="0"/>
              <a:t> in XAML named </a:t>
            </a:r>
            <a:r>
              <a:rPr lang="en-GB" dirty="0" err="1"/>
              <a:t>ChatMessages</a:t>
            </a:r>
            <a:r>
              <a:rPr lang="en-GB" dirty="0"/>
              <a:t>. From this point forward, every item added to _messages is automatically rendered as a chat bubble using the </a:t>
            </a:r>
            <a:r>
              <a:rPr lang="en-GB" dirty="0" err="1"/>
              <a:t>DataTemplate</a:t>
            </a:r>
            <a:r>
              <a:rPr lang="en-GB" dirty="0"/>
              <a:t> defined in XAML. This is the core of WPF data binding — the UI and the data are linked, and changes to the data automatically update the UI.</a:t>
            </a:r>
          </a:p>
          <a:p>
            <a:br>
              <a:rPr lang="en-GB" dirty="0"/>
            </a:br>
            <a:endParaRPr lang="en-GB" dirty="0"/>
          </a:p>
        </p:txBody>
      </p:sp>
      <p:sp>
        <p:nvSpPr>
          <p:cNvPr id="3" name="Footer Placeholder 2">
            <a:extLst>
              <a:ext uri="{FF2B5EF4-FFF2-40B4-BE49-F238E27FC236}">
                <a16:creationId xmlns:a16="http://schemas.microsoft.com/office/drawing/2014/main" id="{CFD4FE79-6A39-8180-1421-D94A22301661}"/>
              </a:ext>
            </a:extLst>
          </p:cNvPr>
          <p:cNvSpPr>
            <a:spLocks noGrp="1"/>
          </p:cNvSpPr>
          <p:nvPr>
            <p:ph type="ftr" sz="quarter" idx="16"/>
          </p:nvPr>
        </p:nvSpPr>
        <p:spPr>
          <a:xfrm>
            <a:off x="4038600" y="6356350"/>
            <a:ext cx="4114800" cy="365125"/>
          </a:xfrm>
        </p:spPr>
        <p:txBody>
          <a:bodyPr vert="horz" lIns="91440" tIns="45720" rIns="91440" bIns="45720" rtlCol="0" anchor="ctr">
            <a:normAutofit/>
          </a:bodyPr>
          <a:lstStyle/>
          <a:p>
            <a:pPr algn="ctr">
              <a:spcAft>
                <a:spcPts val="600"/>
              </a:spcAft>
              <a:defRPr/>
            </a:pPr>
            <a:r>
              <a:rPr lang="en-US" sz="1200" kern="1200" spc="0">
                <a:solidFill>
                  <a:srgbClr val="FFFFFF"/>
                </a:solidFill>
                <a:latin typeface="Calibri" panose="020F0502020204030204"/>
                <a:ea typeface="+mn-ea"/>
                <a:cs typeface="+mn-cs"/>
              </a:rPr>
              <a:t>Moyagabo Raphasha</a:t>
            </a:r>
          </a:p>
        </p:txBody>
      </p:sp>
      <p:sp>
        <p:nvSpPr>
          <p:cNvPr id="5" name="Slide Number Placeholder 4">
            <a:extLst>
              <a:ext uri="{FF2B5EF4-FFF2-40B4-BE49-F238E27FC236}">
                <a16:creationId xmlns:a16="http://schemas.microsoft.com/office/drawing/2014/main" id="{E06DB55E-7795-3D9C-51D1-C05426C5D9D2}"/>
              </a:ext>
            </a:extLst>
          </p:cNvPr>
          <p:cNvSpPr>
            <a:spLocks noGrp="1"/>
          </p:cNvSpPr>
          <p:nvPr>
            <p:ph type="sldNum" sz="quarter" idx="17"/>
          </p:nvPr>
        </p:nvSpPr>
        <p:spPr>
          <a:xfrm>
            <a:off x="8610600" y="6356350"/>
            <a:ext cx="2743200" cy="365125"/>
          </a:xfrm>
        </p:spPr>
        <p:txBody>
          <a:bodyPr vert="horz" lIns="91440" tIns="45720" rIns="91440" bIns="45720" rtlCol="0" anchor="ctr">
            <a:normAutofit/>
          </a:bodyPr>
          <a:lstStyle/>
          <a:p>
            <a:pPr>
              <a:spcAft>
                <a:spcPts val="600"/>
              </a:spcAft>
              <a:defRPr/>
            </a:pPr>
            <a:fld id="{24D65F33-A771-944D-9289-CA575F1D1B7F}" type="slidenum">
              <a:rPr lang="en-US" sz="1200" spc="0" smtClean="0">
                <a:solidFill>
                  <a:prstClr val="black">
                    <a:tint val="75000"/>
                  </a:prstClr>
                </a:solidFill>
                <a:latin typeface="Calibri" panose="020F0502020204030204"/>
              </a:rPr>
              <a:pPr>
                <a:spcAft>
                  <a:spcPts val="600"/>
                </a:spcAft>
                <a:defRPr/>
              </a:pPr>
              <a:t>20</a:t>
            </a:fld>
            <a:endParaRPr lang="en-US" sz="1200" spc="0" dirty="0">
              <a:solidFill>
                <a:prstClr val="black">
                  <a:tint val="75000"/>
                </a:prstClr>
              </a:solidFill>
              <a:latin typeface="Calibri" panose="020F0502020204030204"/>
            </a:endParaRPr>
          </a:p>
        </p:txBody>
      </p:sp>
      <p:sp>
        <p:nvSpPr>
          <p:cNvPr id="4" name="TextBox 3">
            <a:extLst>
              <a:ext uri="{FF2B5EF4-FFF2-40B4-BE49-F238E27FC236}">
                <a16:creationId xmlns:a16="http://schemas.microsoft.com/office/drawing/2014/main" id="{7CFDE3A2-A718-0D53-1226-9E197A2819F7}"/>
              </a:ext>
            </a:extLst>
          </p:cNvPr>
          <p:cNvSpPr txBox="1"/>
          <p:nvPr/>
        </p:nvSpPr>
        <p:spPr>
          <a:xfrm>
            <a:off x="1495245" y="12038043"/>
            <a:ext cx="9144000" cy="317500"/>
          </a:xfrm>
          <a:prstGeom prst="rect">
            <a:avLst/>
          </a:prstGeom>
        </p:spPr>
        <p:txBody>
          <a:bodyPr>
            <a:normAutofit lnSpcReduction="10000"/>
          </a:bodyPr>
          <a:lstStyle/>
          <a:p>
            <a:pPr>
              <a:lnSpc>
                <a:spcPct val="90000"/>
              </a:lnSpc>
              <a:spcAft>
                <a:spcPts val="600"/>
              </a:spcAft>
            </a:pPr>
            <a:r>
              <a:rPr lang="en-US" sz="1700"/>
              <a:t>ThePhoto by PhotoAuthor is licensed under CCYYSA.</a:t>
            </a:r>
          </a:p>
        </p:txBody>
      </p:sp>
    </p:spTree>
    <p:extLst>
      <p:ext uri="{BB962C8B-B14F-4D97-AF65-F5344CB8AC3E}">
        <p14:creationId xmlns:p14="http://schemas.microsoft.com/office/powerpoint/2010/main" val="408942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D48E996-2AB1-4FA5-FCD4-F49D9683D509}"/>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8B8FF56-465B-F782-14CE-D34C39CE9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Placeholder 8">
            <a:extLst>
              <a:ext uri="{FF2B5EF4-FFF2-40B4-BE49-F238E27FC236}">
                <a16:creationId xmlns:a16="http://schemas.microsoft.com/office/drawing/2014/main" id="{6F7AA59A-D137-F713-51F6-5D2BD8821CE2}"/>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l="2942" r="2941" b="-1"/>
          <a:stretch>
            <a:fillRect/>
          </a:stretch>
        </p:blipFill>
        <p:spPr>
          <a:xfrm>
            <a:off x="1" y="10"/>
            <a:ext cx="9669642" cy="6857990"/>
          </a:xfrm>
          <a:prstGeom prst="rect">
            <a:avLst/>
          </a:prstGeom>
        </p:spPr>
      </p:pic>
      <p:sp>
        <p:nvSpPr>
          <p:cNvPr id="24" name="Rectangle 23">
            <a:extLst>
              <a:ext uri="{FF2B5EF4-FFF2-40B4-BE49-F238E27FC236}">
                <a16:creationId xmlns:a16="http://schemas.microsoft.com/office/drawing/2014/main" id="{D10483F3-C46A-FB15-0CB7-BC7202D8A2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itle 14">
            <a:extLst>
              <a:ext uri="{FF2B5EF4-FFF2-40B4-BE49-F238E27FC236}">
                <a16:creationId xmlns:a16="http://schemas.microsoft.com/office/drawing/2014/main" id="{53DAD952-1431-889B-8661-0C1D5A248C60}"/>
              </a:ext>
            </a:extLst>
          </p:cNvPr>
          <p:cNvSpPr>
            <a:spLocks noGrp="1"/>
          </p:cNvSpPr>
          <p:nvPr>
            <p:ph type="title"/>
          </p:nvPr>
        </p:nvSpPr>
        <p:spPr>
          <a:xfrm>
            <a:off x="7599615" y="-493357"/>
            <a:ext cx="3822189" cy="1899912"/>
          </a:xfrm>
        </p:spPr>
        <p:txBody>
          <a:bodyPr vert="horz" lIns="91440" tIns="45720" rIns="91440" bIns="45720" rtlCol="0" anchor="ctr">
            <a:normAutofit/>
          </a:bodyPr>
          <a:lstStyle/>
          <a:p>
            <a:r>
              <a:rPr lang="en-US" sz="2800" dirty="0" err="1"/>
              <a:t>MainWindow.xaml.cs</a:t>
            </a:r>
            <a:endParaRPr lang="en-US" sz="2800" dirty="0"/>
          </a:p>
        </p:txBody>
      </p:sp>
      <p:sp>
        <p:nvSpPr>
          <p:cNvPr id="17" name="Text Placeholder 16">
            <a:extLst>
              <a:ext uri="{FF2B5EF4-FFF2-40B4-BE49-F238E27FC236}">
                <a16:creationId xmlns:a16="http://schemas.microsoft.com/office/drawing/2014/main" id="{55BD307A-9EF3-E3FE-346E-15F4403B8841}"/>
              </a:ext>
            </a:extLst>
          </p:cNvPr>
          <p:cNvSpPr>
            <a:spLocks noGrp="1"/>
          </p:cNvSpPr>
          <p:nvPr>
            <p:ph type="body" sz="quarter" idx="4294967295"/>
          </p:nvPr>
        </p:nvSpPr>
        <p:spPr>
          <a:xfrm>
            <a:off x="7467462" y="726831"/>
            <a:ext cx="4490076" cy="4191526"/>
          </a:xfrm>
        </p:spPr>
        <p:txBody>
          <a:bodyPr vert="horz" lIns="91440" tIns="45720" rIns="91440" bIns="45720" rtlCol="0">
            <a:noAutofit/>
          </a:bodyPr>
          <a:lstStyle/>
          <a:p>
            <a:r>
              <a:rPr lang="en-GB" b="1" dirty="0"/>
              <a:t>Step 3 — Load the Knowledge Base</a:t>
            </a:r>
            <a:endParaRPr lang="en-GB" dirty="0"/>
          </a:p>
          <a:p>
            <a:r>
              <a:rPr lang="en-GB" dirty="0" err="1"/>
              <a:t>csharp</a:t>
            </a:r>
            <a:endParaRPr lang="en-GB" dirty="0"/>
          </a:p>
          <a:p>
            <a:r>
              <a:rPr lang="en-GB" dirty="0"/>
              <a:t>var definitions = </a:t>
            </a:r>
            <a:r>
              <a:rPr lang="en-GB" dirty="0" err="1"/>
              <a:t>CreateDefinitionsDictionary</a:t>
            </a:r>
            <a:r>
              <a:rPr lang="en-GB" dirty="0"/>
              <a:t>();</a:t>
            </a:r>
          </a:p>
          <a:p>
            <a:r>
              <a:rPr lang="en-GB" dirty="0"/>
              <a:t>Calls the method defined later in the file that builds all 40 keyword-to-response entries. The result is stored in a local variable called definitions. Using var here instead of writing out the full type Dictionary&lt;string, string&gt; is a C# convenience — the compiler infers the type automatically from what </a:t>
            </a:r>
            <a:r>
              <a:rPr lang="en-GB" dirty="0" err="1"/>
              <a:t>CreateDefinitionsDictionary</a:t>
            </a:r>
            <a:r>
              <a:rPr lang="en-GB" dirty="0"/>
              <a:t>() returns. This does not make the variable loosely typed; it is still strongly typed at compile time</a:t>
            </a:r>
          </a:p>
          <a:p>
            <a:br>
              <a:rPr lang="en-GB" dirty="0"/>
            </a:br>
            <a:endParaRPr lang="en-GB" dirty="0"/>
          </a:p>
          <a:p>
            <a:r>
              <a:rPr lang="en-GB" b="1" dirty="0"/>
              <a:t>Step 4 — Create the Delegate Instance (the Lambda)</a:t>
            </a:r>
            <a:endParaRPr lang="en-GB" dirty="0"/>
          </a:p>
          <a:p>
            <a:r>
              <a:rPr lang="en-GB" dirty="0" err="1"/>
              <a:t>csharp</a:t>
            </a:r>
            <a:endParaRPr lang="en-GB" dirty="0"/>
          </a:p>
          <a:p>
            <a:br>
              <a:rPr lang="en-GB" dirty="0"/>
            </a:br>
            <a:endParaRPr lang="en-GB" dirty="0"/>
          </a:p>
        </p:txBody>
      </p:sp>
      <p:sp>
        <p:nvSpPr>
          <p:cNvPr id="3" name="Footer Placeholder 2">
            <a:extLst>
              <a:ext uri="{FF2B5EF4-FFF2-40B4-BE49-F238E27FC236}">
                <a16:creationId xmlns:a16="http://schemas.microsoft.com/office/drawing/2014/main" id="{C9FA2AC2-8000-7510-3F55-B0FD001AFAF4}"/>
              </a:ext>
            </a:extLst>
          </p:cNvPr>
          <p:cNvSpPr>
            <a:spLocks noGrp="1"/>
          </p:cNvSpPr>
          <p:nvPr>
            <p:ph type="ftr" sz="quarter" idx="16"/>
          </p:nvPr>
        </p:nvSpPr>
        <p:spPr>
          <a:xfrm>
            <a:off x="4038600" y="6356350"/>
            <a:ext cx="4114800" cy="365125"/>
          </a:xfrm>
        </p:spPr>
        <p:txBody>
          <a:bodyPr vert="horz" lIns="91440" tIns="45720" rIns="91440" bIns="45720" rtlCol="0" anchor="ctr">
            <a:normAutofit/>
          </a:bodyPr>
          <a:lstStyle/>
          <a:p>
            <a:pPr algn="ctr">
              <a:spcAft>
                <a:spcPts val="600"/>
              </a:spcAft>
              <a:defRPr/>
            </a:pPr>
            <a:r>
              <a:rPr lang="en-US" sz="1200" kern="1200" spc="0">
                <a:solidFill>
                  <a:srgbClr val="FFFFFF"/>
                </a:solidFill>
                <a:latin typeface="Calibri" panose="020F0502020204030204"/>
                <a:ea typeface="+mn-ea"/>
                <a:cs typeface="+mn-cs"/>
              </a:rPr>
              <a:t>Moyagabo Raphasha</a:t>
            </a:r>
          </a:p>
        </p:txBody>
      </p:sp>
      <p:sp>
        <p:nvSpPr>
          <p:cNvPr id="5" name="Slide Number Placeholder 4">
            <a:extLst>
              <a:ext uri="{FF2B5EF4-FFF2-40B4-BE49-F238E27FC236}">
                <a16:creationId xmlns:a16="http://schemas.microsoft.com/office/drawing/2014/main" id="{12DB2BC3-F5AA-A480-E51F-75B7D950D03E}"/>
              </a:ext>
            </a:extLst>
          </p:cNvPr>
          <p:cNvSpPr>
            <a:spLocks noGrp="1"/>
          </p:cNvSpPr>
          <p:nvPr>
            <p:ph type="sldNum" sz="quarter" idx="17"/>
          </p:nvPr>
        </p:nvSpPr>
        <p:spPr>
          <a:xfrm>
            <a:off x="8610600" y="6356350"/>
            <a:ext cx="2743200" cy="365125"/>
          </a:xfrm>
        </p:spPr>
        <p:txBody>
          <a:bodyPr vert="horz" lIns="91440" tIns="45720" rIns="91440" bIns="45720" rtlCol="0" anchor="ctr">
            <a:normAutofit/>
          </a:bodyPr>
          <a:lstStyle/>
          <a:p>
            <a:pPr>
              <a:spcAft>
                <a:spcPts val="600"/>
              </a:spcAft>
              <a:defRPr/>
            </a:pPr>
            <a:fld id="{24D65F33-A771-944D-9289-CA575F1D1B7F}" type="slidenum">
              <a:rPr lang="en-US" sz="1200" spc="0" smtClean="0">
                <a:solidFill>
                  <a:prstClr val="black">
                    <a:tint val="75000"/>
                  </a:prstClr>
                </a:solidFill>
                <a:latin typeface="Calibri" panose="020F0502020204030204"/>
              </a:rPr>
              <a:pPr>
                <a:spcAft>
                  <a:spcPts val="600"/>
                </a:spcAft>
                <a:defRPr/>
              </a:pPr>
              <a:t>21</a:t>
            </a:fld>
            <a:endParaRPr lang="en-US" sz="1200" spc="0" dirty="0">
              <a:solidFill>
                <a:prstClr val="black">
                  <a:tint val="75000"/>
                </a:prstClr>
              </a:solidFill>
              <a:latin typeface="Calibri" panose="020F0502020204030204"/>
            </a:endParaRPr>
          </a:p>
        </p:txBody>
      </p:sp>
      <p:sp>
        <p:nvSpPr>
          <p:cNvPr id="4" name="TextBox 3">
            <a:extLst>
              <a:ext uri="{FF2B5EF4-FFF2-40B4-BE49-F238E27FC236}">
                <a16:creationId xmlns:a16="http://schemas.microsoft.com/office/drawing/2014/main" id="{2E8F8BD3-8C4E-A3CF-572A-04D92C798D42}"/>
              </a:ext>
            </a:extLst>
          </p:cNvPr>
          <p:cNvSpPr txBox="1"/>
          <p:nvPr/>
        </p:nvSpPr>
        <p:spPr>
          <a:xfrm>
            <a:off x="1495245" y="12038043"/>
            <a:ext cx="9144000" cy="317500"/>
          </a:xfrm>
          <a:prstGeom prst="rect">
            <a:avLst/>
          </a:prstGeom>
        </p:spPr>
        <p:txBody>
          <a:bodyPr>
            <a:normAutofit lnSpcReduction="10000"/>
          </a:bodyPr>
          <a:lstStyle/>
          <a:p>
            <a:pPr>
              <a:lnSpc>
                <a:spcPct val="90000"/>
              </a:lnSpc>
              <a:spcAft>
                <a:spcPts val="600"/>
              </a:spcAft>
            </a:pPr>
            <a:r>
              <a:rPr lang="en-US" sz="1700"/>
              <a:t>ThePhoto by PhotoAuthor is licensed under CCYYSA.</a:t>
            </a:r>
          </a:p>
        </p:txBody>
      </p:sp>
    </p:spTree>
    <p:extLst>
      <p:ext uri="{BB962C8B-B14F-4D97-AF65-F5344CB8AC3E}">
        <p14:creationId xmlns:p14="http://schemas.microsoft.com/office/powerpoint/2010/main" val="12873678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A3C7CDA-EC2C-13C3-ED38-F1D177527C9D}"/>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06B840D1-880D-B3DE-3E0B-F1205A0B01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Placeholder 8">
            <a:extLst>
              <a:ext uri="{FF2B5EF4-FFF2-40B4-BE49-F238E27FC236}">
                <a16:creationId xmlns:a16="http://schemas.microsoft.com/office/drawing/2014/main" id="{9A0C899B-DB06-9864-5975-97BE90A0528D}"/>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l="2942" r="2941" b="-1"/>
          <a:stretch>
            <a:fillRect/>
          </a:stretch>
        </p:blipFill>
        <p:spPr>
          <a:xfrm>
            <a:off x="1" y="10"/>
            <a:ext cx="9669642" cy="6857990"/>
          </a:xfrm>
          <a:prstGeom prst="rect">
            <a:avLst/>
          </a:prstGeom>
        </p:spPr>
      </p:pic>
      <p:sp>
        <p:nvSpPr>
          <p:cNvPr id="24" name="Rectangle 23">
            <a:extLst>
              <a:ext uri="{FF2B5EF4-FFF2-40B4-BE49-F238E27FC236}">
                <a16:creationId xmlns:a16="http://schemas.microsoft.com/office/drawing/2014/main" id="{894D192E-340F-C211-C235-878B21BDC7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itle 14">
            <a:extLst>
              <a:ext uri="{FF2B5EF4-FFF2-40B4-BE49-F238E27FC236}">
                <a16:creationId xmlns:a16="http://schemas.microsoft.com/office/drawing/2014/main" id="{89AEC8B3-908A-7118-489B-FD8847625B40}"/>
              </a:ext>
            </a:extLst>
          </p:cNvPr>
          <p:cNvSpPr>
            <a:spLocks noGrp="1"/>
          </p:cNvSpPr>
          <p:nvPr>
            <p:ph type="title"/>
          </p:nvPr>
        </p:nvSpPr>
        <p:spPr>
          <a:xfrm>
            <a:off x="7599615" y="-493357"/>
            <a:ext cx="3822189" cy="1899912"/>
          </a:xfrm>
        </p:spPr>
        <p:txBody>
          <a:bodyPr vert="horz" lIns="91440" tIns="45720" rIns="91440" bIns="45720" rtlCol="0" anchor="ctr">
            <a:normAutofit/>
          </a:bodyPr>
          <a:lstStyle/>
          <a:p>
            <a:r>
              <a:rPr lang="en-US" sz="2800" dirty="0" err="1"/>
              <a:t>MainWindow.xaml.cs</a:t>
            </a:r>
            <a:endParaRPr lang="en-US" sz="2800" dirty="0"/>
          </a:p>
        </p:txBody>
      </p:sp>
      <p:sp>
        <p:nvSpPr>
          <p:cNvPr id="17" name="Text Placeholder 16">
            <a:extLst>
              <a:ext uri="{FF2B5EF4-FFF2-40B4-BE49-F238E27FC236}">
                <a16:creationId xmlns:a16="http://schemas.microsoft.com/office/drawing/2014/main" id="{0243E666-D331-3598-1C8C-3B2095060E6D}"/>
              </a:ext>
            </a:extLst>
          </p:cNvPr>
          <p:cNvSpPr>
            <a:spLocks noGrp="1"/>
          </p:cNvSpPr>
          <p:nvPr>
            <p:ph type="body" sz="quarter" idx="4294967295"/>
          </p:nvPr>
        </p:nvSpPr>
        <p:spPr>
          <a:xfrm>
            <a:off x="7467462" y="726831"/>
            <a:ext cx="4490076" cy="4191526"/>
          </a:xfrm>
        </p:spPr>
        <p:txBody>
          <a:bodyPr vert="horz" lIns="91440" tIns="45720" rIns="91440" bIns="45720" rtlCol="0">
            <a:noAutofit/>
          </a:bodyPr>
          <a:lstStyle/>
          <a:p>
            <a:r>
              <a:rPr lang="en-GB" dirty="0" err="1"/>
              <a:t>ResponseFormatter</a:t>
            </a:r>
            <a:r>
              <a:rPr lang="en-GB" dirty="0"/>
              <a:t> </a:t>
            </a:r>
            <a:r>
              <a:rPr lang="en-GB" dirty="0" err="1"/>
              <a:t>formatResponse</a:t>
            </a:r>
            <a:r>
              <a:rPr lang="en-GB" dirty="0"/>
              <a:t> = (</a:t>
            </a:r>
            <a:r>
              <a:rPr lang="en-GB" dirty="0" err="1"/>
              <a:t>baseResponse</a:t>
            </a:r>
            <a:r>
              <a:rPr lang="en-GB" dirty="0"/>
              <a:t>, sentiment, </a:t>
            </a:r>
            <a:r>
              <a:rPr lang="en-GB" dirty="0" err="1"/>
              <a:t>userName</a:t>
            </a:r>
            <a:r>
              <a:rPr lang="en-GB" dirty="0"/>
              <a:t>, memory) =&gt;</a:t>
            </a:r>
          </a:p>
          <a:p>
            <a:r>
              <a:rPr lang="en-GB" dirty="0"/>
              <a:t>{</a:t>
            </a:r>
          </a:p>
          <a:p>
            <a:r>
              <a:rPr lang="en-GB" dirty="0"/>
              <a:t>    string prefix = sentiment switch</a:t>
            </a:r>
          </a:p>
          <a:p>
            <a:r>
              <a:rPr lang="en-GB" dirty="0"/>
              <a:t>    {</a:t>
            </a:r>
          </a:p>
          <a:p>
            <a:r>
              <a:rPr lang="en-GB" dirty="0"/>
              <a:t>        "empathetic"   =&gt; "It's completely understandable to feel that way. ",</a:t>
            </a:r>
          </a:p>
          <a:p>
            <a:r>
              <a:rPr lang="en-GB" dirty="0"/>
              <a:t>        "enthusiastic" =&gt; "That's a great question! ",</a:t>
            </a:r>
          </a:p>
          <a:p>
            <a:r>
              <a:rPr lang="en-GB" dirty="0"/>
              <a:t>        "supportive"   =&gt; "No worries, let me break it down simply: ",</a:t>
            </a:r>
          </a:p>
          <a:p>
            <a:r>
              <a:rPr lang="en-GB" dirty="0"/>
              <a:t>        _              =&gt; ""</a:t>
            </a:r>
          </a:p>
          <a:p>
            <a:r>
              <a:rPr lang="en-GB" dirty="0"/>
              <a:t>    };</a:t>
            </a:r>
          </a:p>
          <a:p>
            <a:endParaRPr lang="en-GB" dirty="0"/>
          </a:p>
          <a:p>
            <a:r>
              <a:rPr lang="en-GB" dirty="0"/>
              <a:t>    string personalization = </a:t>
            </a:r>
            <a:r>
              <a:rPr lang="en-GB" dirty="0" err="1"/>
              <a:t>memory.TryGetValue</a:t>
            </a:r>
            <a:r>
              <a:rPr lang="en-GB" dirty="0"/>
              <a:t>("interest", out var interest)</a:t>
            </a:r>
          </a:p>
          <a:p>
            <a:r>
              <a:rPr lang="en-GB" dirty="0"/>
              <a:t>        ? $" As someone interested in {interest}, {</a:t>
            </a:r>
            <a:r>
              <a:rPr lang="en-GB" dirty="0" err="1"/>
              <a:t>userName</a:t>
            </a:r>
            <a:r>
              <a:rPr lang="en-GB" dirty="0"/>
              <a:t>}: "</a:t>
            </a:r>
          </a:p>
          <a:p>
            <a:r>
              <a:rPr lang="en-GB" dirty="0"/>
              <a:t>        : $" {</a:t>
            </a:r>
            <a:r>
              <a:rPr lang="en-GB" dirty="0" err="1"/>
              <a:t>userName</a:t>
            </a:r>
            <a:r>
              <a:rPr lang="en-GB" dirty="0"/>
              <a:t>}: ";</a:t>
            </a:r>
          </a:p>
          <a:p>
            <a:endParaRPr lang="en-GB" dirty="0"/>
          </a:p>
          <a:p>
            <a:endParaRPr lang="en-GB" dirty="0"/>
          </a:p>
        </p:txBody>
      </p:sp>
      <p:sp>
        <p:nvSpPr>
          <p:cNvPr id="3" name="Footer Placeholder 2">
            <a:extLst>
              <a:ext uri="{FF2B5EF4-FFF2-40B4-BE49-F238E27FC236}">
                <a16:creationId xmlns:a16="http://schemas.microsoft.com/office/drawing/2014/main" id="{383D9D85-FF5B-F2DE-92AA-E800DCED2A81}"/>
              </a:ext>
            </a:extLst>
          </p:cNvPr>
          <p:cNvSpPr>
            <a:spLocks noGrp="1"/>
          </p:cNvSpPr>
          <p:nvPr>
            <p:ph type="ftr" sz="quarter" idx="16"/>
          </p:nvPr>
        </p:nvSpPr>
        <p:spPr>
          <a:xfrm>
            <a:off x="4038600" y="6356350"/>
            <a:ext cx="4114800" cy="365125"/>
          </a:xfrm>
        </p:spPr>
        <p:txBody>
          <a:bodyPr vert="horz" lIns="91440" tIns="45720" rIns="91440" bIns="45720" rtlCol="0" anchor="ctr">
            <a:normAutofit/>
          </a:bodyPr>
          <a:lstStyle/>
          <a:p>
            <a:pPr algn="ctr">
              <a:spcAft>
                <a:spcPts val="600"/>
              </a:spcAft>
              <a:defRPr/>
            </a:pPr>
            <a:r>
              <a:rPr lang="en-US" sz="1200" kern="1200" spc="0" dirty="0">
                <a:solidFill>
                  <a:srgbClr val="FFFFFF"/>
                </a:solidFill>
                <a:latin typeface="Calibri" panose="020F0502020204030204"/>
                <a:ea typeface="+mn-ea"/>
                <a:cs typeface="+mn-cs"/>
              </a:rPr>
              <a:t>Moyagabo Raphasha</a:t>
            </a:r>
          </a:p>
        </p:txBody>
      </p:sp>
      <p:sp>
        <p:nvSpPr>
          <p:cNvPr id="5" name="Slide Number Placeholder 4">
            <a:extLst>
              <a:ext uri="{FF2B5EF4-FFF2-40B4-BE49-F238E27FC236}">
                <a16:creationId xmlns:a16="http://schemas.microsoft.com/office/drawing/2014/main" id="{EBFE8001-2F28-FCD3-CA42-DEBB9A289BC7}"/>
              </a:ext>
            </a:extLst>
          </p:cNvPr>
          <p:cNvSpPr>
            <a:spLocks noGrp="1"/>
          </p:cNvSpPr>
          <p:nvPr>
            <p:ph type="sldNum" sz="quarter" idx="17"/>
          </p:nvPr>
        </p:nvSpPr>
        <p:spPr>
          <a:xfrm>
            <a:off x="8610600" y="6356350"/>
            <a:ext cx="2743200" cy="365125"/>
          </a:xfrm>
        </p:spPr>
        <p:txBody>
          <a:bodyPr vert="horz" lIns="91440" tIns="45720" rIns="91440" bIns="45720" rtlCol="0" anchor="ctr">
            <a:normAutofit/>
          </a:bodyPr>
          <a:lstStyle/>
          <a:p>
            <a:pPr>
              <a:spcAft>
                <a:spcPts val="600"/>
              </a:spcAft>
              <a:defRPr/>
            </a:pPr>
            <a:fld id="{24D65F33-A771-944D-9289-CA575F1D1B7F}" type="slidenum">
              <a:rPr lang="en-US" sz="1200" spc="0" smtClean="0">
                <a:solidFill>
                  <a:prstClr val="black">
                    <a:tint val="75000"/>
                  </a:prstClr>
                </a:solidFill>
                <a:latin typeface="Calibri" panose="020F0502020204030204"/>
              </a:rPr>
              <a:pPr>
                <a:spcAft>
                  <a:spcPts val="600"/>
                </a:spcAft>
                <a:defRPr/>
              </a:pPr>
              <a:t>22</a:t>
            </a:fld>
            <a:endParaRPr lang="en-US" sz="1200" spc="0" dirty="0">
              <a:solidFill>
                <a:prstClr val="black">
                  <a:tint val="75000"/>
                </a:prstClr>
              </a:solidFill>
              <a:latin typeface="Calibri" panose="020F0502020204030204"/>
            </a:endParaRPr>
          </a:p>
        </p:txBody>
      </p:sp>
      <p:sp>
        <p:nvSpPr>
          <p:cNvPr id="4" name="TextBox 3">
            <a:extLst>
              <a:ext uri="{FF2B5EF4-FFF2-40B4-BE49-F238E27FC236}">
                <a16:creationId xmlns:a16="http://schemas.microsoft.com/office/drawing/2014/main" id="{E8026F2C-1199-04B7-19A9-5A58F4FB9DF4}"/>
              </a:ext>
            </a:extLst>
          </p:cNvPr>
          <p:cNvSpPr txBox="1"/>
          <p:nvPr/>
        </p:nvSpPr>
        <p:spPr>
          <a:xfrm>
            <a:off x="1495245" y="12038043"/>
            <a:ext cx="9144000" cy="317500"/>
          </a:xfrm>
          <a:prstGeom prst="rect">
            <a:avLst/>
          </a:prstGeom>
        </p:spPr>
        <p:txBody>
          <a:bodyPr>
            <a:normAutofit lnSpcReduction="10000"/>
          </a:bodyPr>
          <a:lstStyle/>
          <a:p>
            <a:pPr>
              <a:lnSpc>
                <a:spcPct val="90000"/>
              </a:lnSpc>
              <a:spcAft>
                <a:spcPts val="600"/>
              </a:spcAft>
            </a:pPr>
            <a:r>
              <a:rPr lang="en-US" sz="1700"/>
              <a:t>ThePhoto by PhotoAuthor is licensed under CCYYSA.</a:t>
            </a:r>
          </a:p>
        </p:txBody>
      </p:sp>
    </p:spTree>
    <p:extLst>
      <p:ext uri="{BB962C8B-B14F-4D97-AF65-F5344CB8AC3E}">
        <p14:creationId xmlns:p14="http://schemas.microsoft.com/office/powerpoint/2010/main" val="12702155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8A6837D-214B-CF63-02C6-AFC3F4D14B42}"/>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61E1B62-1ECD-BBA2-974E-85BC858AA4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Placeholder 8">
            <a:extLst>
              <a:ext uri="{FF2B5EF4-FFF2-40B4-BE49-F238E27FC236}">
                <a16:creationId xmlns:a16="http://schemas.microsoft.com/office/drawing/2014/main" id="{D8B20125-8910-E609-1E62-0FB2691660FB}"/>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l="2942" r="2941" b="-1"/>
          <a:stretch>
            <a:fillRect/>
          </a:stretch>
        </p:blipFill>
        <p:spPr>
          <a:xfrm>
            <a:off x="1" y="10"/>
            <a:ext cx="9669642" cy="6857990"/>
          </a:xfrm>
          <a:prstGeom prst="rect">
            <a:avLst/>
          </a:prstGeom>
        </p:spPr>
      </p:pic>
      <p:sp>
        <p:nvSpPr>
          <p:cNvPr id="24" name="Rectangle 23">
            <a:extLst>
              <a:ext uri="{FF2B5EF4-FFF2-40B4-BE49-F238E27FC236}">
                <a16:creationId xmlns:a16="http://schemas.microsoft.com/office/drawing/2014/main" id="{3ED4BD0C-037C-B598-EBEE-091160AA5A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itle 14">
            <a:extLst>
              <a:ext uri="{FF2B5EF4-FFF2-40B4-BE49-F238E27FC236}">
                <a16:creationId xmlns:a16="http://schemas.microsoft.com/office/drawing/2014/main" id="{688E343A-CB3F-43BD-85E2-6384100B48DF}"/>
              </a:ext>
            </a:extLst>
          </p:cNvPr>
          <p:cNvSpPr>
            <a:spLocks noGrp="1"/>
          </p:cNvSpPr>
          <p:nvPr>
            <p:ph type="title"/>
          </p:nvPr>
        </p:nvSpPr>
        <p:spPr>
          <a:xfrm>
            <a:off x="7599615" y="-493357"/>
            <a:ext cx="3822189" cy="1899912"/>
          </a:xfrm>
        </p:spPr>
        <p:txBody>
          <a:bodyPr vert="horz" lIns="91440" tIns="45720" rIns="91440" bIns="45720" rtlCol="0" anchor="ctr">
            <a:normAutofit/>
          </a:bodyPr>
          <a:lstStyle/>
          <a:p>
            <a:r>
              <a:rPr lang="en-US" sz="2800" dirty="0" err="1"/>
              <a:t>MainWindow.xaml.cs</a:t>
            </a:r>
            <a:endParaRPr lang="en-US" sz="2800" dirty="0"/>
          </a:p>
        </p:txBody>
      </p:sp>
      <p:sp>
        <p:nvSpPr>
          <p:cNvPr id="17" name="Text Placeholder 16">
            <a:extLst>
              <a:ext uri="{FF2B5EF4-FFF2-40B4-BE49-F238E27FC236}">
                <a16:creationId xmlns:a16="http://schemas.microsoft.com/office/drawing/2014/main" id="{387E70DB-2E26-EC62-5EFC-CC9E52BBCC64}"/>
              </a:ext>
            </a:extLst>
          </p:cNvPr>
          <p:cNvSpPr>
            <a:spLocks noGrp="1"/>
          </p:cNvSpPr>
          <p:nvPr>
            <p:ph type="body" sz="quarter" idx="4294967295"/>
          </p:nvPr>
        </p:nvSpPr>
        <p:spPr>
          <a:xfrm>
            <a:off x="7467462" y="726831"/>
            <a:ext cx="4490076" cy="4191526"/>
          </a:xfrm>
        </p:spPr>
        <p:txBody>
          <a:bodyPr vert="horz" lIns="91440" tIns="45720" rIns="91440" bIns="45720" rtlCol="0">
            <a:noAutofit/>
          </a:bodyPr>
          <a:lstStyle/>
          <a:p>
            <a:r>
              <a:rPr lang="en-GB" dirty="0"/>
              <a:t> return $"{prefix}{personalization}{</a:t>
            </a:r>
            <a:r>
              <a:rPr lang="en-GB" dirty="0" err="1"/>
              <a:t>baseResponse</a:t>
            </a:r>
            <a:r>
              <a:rPr lang="en-GB" dirty="0"/>
              <a:t>}";</a:t>
            </a:r>
          </a:p>
          <a:p>
            <a:r>
              <a:rPr lang="en-GB" dirty="0"/>
              <a:t>};</a:t>
            </a:r>
          </a:p>
          <a:p>
            <a:r>
              <a:rPr lang="en-GB" dirty="0"/>
              <a:t>This is where the delegate defined in </a:t>
            </a:r>
            <a:r>
              <a:rPr lang="en-GB" dirty="0" err="1"/>
              <a:t>ChatService.cs</a:t>
            </a:r>
            <a:r>
              <a:rPr lang="en-GB" dirty="0"/>
              <a:t> is actually fulfilled. </a:t>
            </a:r>
            <a:r>
              <a:rPr lang="en-GB" dirty="0" err="1"/>
              <a:t>ResponseFormatter</a:t>
            </a:r>
            <a:r>
              <a:rPr lang="en-GB" dirty="0"/>
              <a:t> is the delegate type — it defines a function signature. Here, a lambda expression is written that matches that exact signature (takes four parameters, returns a string), and it is assigned to a variable called </a:t>
            </a:r>
            <a:r>
              <a:rPr lang="en-GB" dirty="0" err="1"/>
              <a:t>formatResponse</a:t>
            </a:r>
            <a:r>
              <a:rPr lang="en-GB" dirty="0"/>
              <a:t>.</a:t>
            </a:r>
          </a:p>
          <a:p>
            <a:r>
              <a:rPr lang="en-GB" b="1" dirty="0"/>
              <a:t>The switch expression:</a:t>
            </a:r>
            <a:r>
              <a:rPr lang="en-GB" dirty="0"/>
              <a:t> sentiment switch { ... } is a C# 8 switch expression — a more concise alternative to a switch statement. It evaluates the sentiment string and returns the matching prefix. The underscore _ is the discard pattern, which means "match anything not already matched" — it serves as the default case and returns an empty string for the neutral sentiment.</a:t>
            </a:r>
          </a:p>
          <a:p>
            <a:br>
              <a:rPr lang="en-GB" dirty="0"/>
            </a:br>
            <a:endParaRPr lang="en-GB" dirty="0"/>
          </a:p>
          <a:p>
            <a:endParaRPr lang="en-GB" dirty="0"/>
          </a:p>
        </p:txBody>
      </p:sp>
      <p:sp>
        <p:nvSpPr>
          <p:cNvPr id="3" name="Footer Placeholder 2">
            <a:extLst>
              <a:ext uri="{FF2B5EF4-FFF2-40B4-BE49-F238E27FC236}">
                <a16:creationId xmlns:a16="http://schemas.microsoft.com/office/drawing/2014/main" id="{2062CB76-0302-009F-98CD-D31641EC4196}"/>
              </a:ext>
            </a:extLst>
          </p:cNvPr>
          <p:cNvSpPr>
            <a:spLocks noGrp="1"/>
          </p:cNvSpPr>
          <p:nvPr>
            <p:ph type="ftr" sz="quarter" idx="16"/>
          </p:nvPr>
        </p:nvSpPr>
        <p:spPr>
          <a:xfrm>
            <a:off x="4038600" y="6356350"/>
            <a:ext cx="4114800" cy="365125"/>
          </a:xfrm>
        </p:spPr>
        <p:txBody>
          <a:bodyPr vert="horz" lIns="91440" tIns="45720" rIns="91440" bIns="45720" rtlCol="0" anchor="ctr">
            <a:normAutofit/>
          </a:bodyPr>
          <a:lstStyle/>
          <a:p>
            <a:pPr algn="ctr">
              <a:spcAft>
                <a:spcPts val="600"/>
              </a:spcAft>
              <a:defRPr/>
            </a:pPr>
            <a:r>
              <a:rPr lang="en-US" sz="1200" kern="1200" spc="0" dirty="0">
                <a:solidFill>
                  <a:srgbClr val="FFFFFF"/>
                </a:solidFill>
                <a:latin typeface="Calibri" panose="020F0502020204030204"/>
                <a:ea typeface="+mn-ea"/>
                <a:cs typeface="+mn-cs"/>
              </a:rPr>
              <a:t>Moyagabo Raphasha</a:t>
            </a:r>
          </a:p>
        </p:txBody>
      </p:sp>
      <p:sp>
        <p:nvSpPr>
          <p:cNvPr id="5" name="Slide Number Placeholder 4">
            <a:extLst>
              <a:ext uri="{FF2B5EF4-FFF2-40B4-BE49-F238E27FC236}">
                <a16:creationId xmlns:a16="http://schemas.microsoft.com/office/drawing/2014/main" id="{1418B292-9D40-0F82-22F1-BDC84E665787}"/>
              </a:ext>
            </a:extLst>
          </p:cNvPr>
          <p:cNvSpPr>
            <a:spLocks noGrp="1"/>
          </p:cNvSpPr>
          <p:nvPr>
            <p:ph type="sldNum" sz="quarter" idx="17"/>
          </p:nvPr>
        </p:nvSpPr>
        <p:spPr>
          <a:xfrm>
            <a:off x="8610600" y="6356350"/>
            <a:ext cx="2743200" cy="365125"/>
          </a:xfrm>
        </p:spPr>
        <p:txBody>
          <a:bodyPr vert="horz" lIns="91440" tIns="45720" rIns="91440" bIns="45720" rtlCol="0" anchor="ctr">
            <a:normAutofit/>
          </a:bodyPr>
          <a:lstStyle/>
          <a:p>
            <a:pPr>
              <a:spcAft>
                <a:spcPts val="600"/>
              </a:spcAft>
              <a:defRPr/>
            </a:pPr>
            <a:fld id="{24D65F33-A771-944D-9289-CA575F1D1B7F}" type="slidenum">
              <a:rPr lang="en-US" sz="1200" spc="0" smtClean="0">
                <a:solidFill>
                  <a:prstClr val="black">
                    <a:tint val="75000"/>
                  </a:prstClr>
                </a:solidFill>
                <a:latin typeface="Calibri" panose="020F0502020204030204"/>
              </a:rPr>
              <a:pPr>
                <a:spcAft>
                  <a:spcPts val="600"/>
                </a:spcAft>
                <a:defRPr/>
              </a:pPr>
              <a:t>23</a:t>
            </a:fld>
            <a:endParaRPr lang="en-US" sz="1200" spc="0" dirty="0">
              <a:solidFill>
                <a:prstClr val="black">
                  <a:tint val="75000"/>
                </a:prstClr>
              </a:solidFill>
              <a:latin typeface="Calibri" panose="020F0502020204030204"/>
            </a:endParaRPr>
          </a:p>
        </p:txBody>
      </p:sp>
      <p:sp>
        <p:nvSpPr>
          <p:cNvPr id="4" name="TextBox 3">
            <a:extLst>
              <a:ext uri="{FF2B5EF4-FFF2-40B4-BE49-F238E27FC236}">
                <a16:creationId xmlns:a16="http://schemas.microsoft.com/office/drawing/2014/main" id="{39865E81-313F-DBA7-708C-6943ADBF7B02}"/>
              </a:ext>
            </a:extLst>
          </p:cNvPr>
          <p:cNvSpPr txBox="1"/>
          <p:nvPr/>
        </p:nvSpPr>
        <p:spPr>
          <a:xfrm>
            <a:off x="1495245" y="12038043"/>
            <a:ext cx="9144000" cy="317500"/>
          </a:xfrm>
          <a:prstGeom prst="rect">
            <a:avLst/>
          </a:prstGeom>
        </p:spPr>
        <p:txBody>
          <a:bodyPr>
            <a:normAutofit lnSpcReduction="10000"/>
          </a:bodyPr>
          <a:lstStyle/>
          <a:p>
            <a:pPr>
              <a:lnSpc>
                <a:spcPct val="90000"/>
              </a:lnSpc>
              <a:spcAft>
                <a:spcPts val="600"/>
              </a:spcAft>
            </a:pPr>
            <a:r>
              <a:rPr lang="en-US" sz="1700"/>
              <a:t>ThePhoto by PhotoAuthor is licensed under CCYYSA.</a:t>
            </a:r>
          </a:p>
        </p:txBody>
      </p:sp>
    </p:spTree>
    <p:extLst>
      <p:ext uri="{BB962C8B-B14F-4D97-AF65-F5344CB8AC3E}">
        <p14:creationId xmlns:p14="http://schemas.microsoft.com/office/powerpoint/2010/main" val="33617694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B674273-3EFC-B0EF-5F4A-FC7464ECE327}"/>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61EBD557-8598-A233-F2AB-B09584FE90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Placeholder 8">
            <a:extLst>
              <a:ext uri="{FF2B5EF4-FFF2-40B4-BE49-F238E27FC236}">
                <a16:creationId xmlns:a16="http://schemas.microsoft.com/office/drawing/2014/main" id="{A966E744-3A66-EA83-BBF5-8CAA2CAC29E1}"/>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l="2942" r="2941" b="-1"/>
          <a:stretch>
            <a:fillRect/>
          </a:stretch>
        </p:blipFill>
        <p:spPr>
          <a:xfrm>
            <a:off x="1" y="10"/>
            <a:ext cx="9669642" cy="6857990"/>
          </a:xfrm>
          <a:prstGeom prst="rect">
            <a:avLst/>
          </a:prstGeom>
        </p:spPr>
      </p:pic>
      <p:sp>
        <p:nvSpPr>
          <p:cNvPr id="24" name="Rectangle 23">
            <a:extLst>
              <a:ext uri="{FF2B5EF4-FFF2-40B4-BE49-F238E27FC236}">
                <a16:creationId xmlns:a16="http://schemas.microsoft.com/office/drawing/2014/main" id="{B59F1D7C-FEC7-AAF7-7326-DBADC78537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itle 14">
            <a:extLst>
              <a:ext uri="{FF2B5EF4-FFF2-40B4-BE49-F238E27FC236}">
                <a16:creationId xmlns:a16="http://schemas.microsoft.com/office/drawing/2014/main" id="{A4EA8E1B-FECF-7464-55D3-D53E96932433}"/>
              </a:ext>
            </a:extLst>
          </p:cNvPr>
          <p:cNvSpPr>
            <a:spLocks noGrp="1"/>
          </p:cNvSpPr>
          <p:nvPr>
            <p:ph type="title"/>
          </p:nvPr>
        </p:nvSpPr>
        <p:spPr>
          <a:xfrm>
            <a:off x="7599615" y="-493357"/>
            <a:ext cx="3822189" cy="1899912"/>
          </a:xfrm>
        </p:spPr>
        <p:txBody>
          <a:bodyPr vert="horz" lIns="91440" tIns="45720" rIns="91440" bIns="45720" rtlCol="0" anchor="ctr">
            <a:normAutofit/>
          </a:bodyPr>
          <a:lstStyle/>
          <a:p>
            <a:r>
              <a:rPr lang="en-US" sz="2800" dirty="0" err="1"/>
              <a:t>MainWindow.xaml.cs</a:t>
            </a:r>
            <a:endParaRPr lang="en-US" sz="2800" dirty="0"/>
          </a:p>
        </p:txBody>
      </p:sp>
      <p:sp>
        <p:nvSpPr>
          <p:cNvPr id="17" name="Text Placeholder 16">
            <a:extLst>
              <a:ext uri="{FF2B5EF4-FFF2-40B4-BE49-F238E27FC236}">
                <a16:creationId xmlns:a16="http://schemas.microsoft.com/office/drawing/2014/main" id="{042FFF08-79A0-CB32-4288-ADD7A1BA7BE7}"/>
              </a:ext>
            </a:extLst>
          </p:cNvPr>
          <p:cNvSpPr>
            <a:spLocks noGrp="1"/>
          </p:cNvSpPr>
          <p:nvPr>
            <p:ph type="body" sz="quarter" idx="4294967295"/>
          </p:nvPr>
        </p:nvSpPr>
        <p:spPr>
          <a:xfrm>
            <a:off x="7467462" y="726831"/>
            <a:ext cx="4490076" cy="4191526"/>
          </a:xfrm>
        </p:spPr>
        <p:txBody>
          <a:bodyPr vert="horz" lIns="91440" tIns="45720" rIns="91440" bIns="45720" rtlCol="0">
            <a:noAutofit/>
          </a:bodyPr>
          <a:lstStyle/>
          <a:p>
            <a:r>
              <a:rPr lang="en-GB" b="1" dirty="0"/>
              <a:t>The ternary for personalisation:</a:t>
            </a:r>
            <a:r>
              <a:rPr lang="en-GB" dirty="0"/>
              <a:t> </a:t>
            </a:r>
            <a:r>
              <a:rPr lang="en-GB" dirty="0" err="1"/>
              <a:t>memory.TryGetValue</a:t>
            </a:r>
            <a:r>
              <a:rPr lang="en-GB" dirty="0"/>
              <a:t>("interest", out var interest) attempts to read the "interest" key from the user memory dictionary. </a:t>
            </a:r>
            <a:r>
              <a:rPr lang="en-GB" dirty="0" err="1"/>
              <a:t>TryGetValue</a:t>
            </a:r>
            <a:r>
              <a:rPr lang="en-GB" dirty="0"/>
              <a:t> returns true if the key exists and simultaneously assigns the value to the new variable interest via the out var declaration. If the key exists, the personalisation string includes the user's stated topic. If not, it just uses their name. The ? : is the ternary (conditional) operator — a compact if/else on one line.</a:t>
            </a:r>
          </a:p>
          <a:p>
            <a:r>
              <a:rPr lang="en-GB" b="1" dirty="0"/>
              <a:t>The final return:</a:t>
            </a:r>
            <a:r>
              <a:rPr lang="en-GB" dirty="0"/>
              <a:t> $"{prefix}{personalization}{</a:t>
            </a:r>
            <a:r>
              <a:rPr lang="en-GB" dirty="0" err="1"/>
              <a:t>baseResponse</a:t>
            </a:r>
            <a:r>
              <a:rPr lang="en-GB" dirty="0"/>
              <a:t>}" is a C# interpolated string. The $ prefix enables embedding expressions in curly braces directly in the string. The three parts are concatenated: the sentiment prefix comes first, then the personalised name/interest, then the actual cybersecurity content.</a:t>
            </a:r>
          </a:p>
          <a:p>
            <a:br>
              <a:rPr lang="en-GB" dirty="0"/>
            </a:br>
            <a:endParaRPr lang="en-GB" dirty="0"/>
          </a:p>
          <a:p>
            <a:r>
              <a:rPr lang="en-GB" b="1" dirty="0"/>
              <a:t>Step 5 — Construct </a:t>
            </a:r>
            <a:r>
              <a:rPr lang="en-GB" b="1" dirty="0" err="1"/>
              <a:t>ChatService</a:t>
            </a:r>
            <a:endParaRPr lang="en-GB" dirty="0"/>
          </a:p>
          <a:p>
            <a:r>
              <a:rPr lang="en-GB" dirty="0" err="1"/>
              <a:t>csharp</a:t>
            </a:r>
            <a:endParaRPr lang="en-GB" dirty="0"/>
          </a:p>
          <a:p>
            <a:r>
              <a:rPr lang="en-GB" dirty="0"/>
              <a:t>_</a:t>
            </a:r>
            <a:r>
              <a:rPr lang="en-GB" dirty="0" err="1"/>
              <a:t>chatService</a:t>
            </a:r>
            <a:r>
              <a:rPr lang="en-GB" dirty="0"/>
              <a:t> = new </a:t>
            </a:r>
            <a:r>
              <a:rPr lang="en-GB" dirty="0" err="1"/>
              <a:t>ChatService</a:t>
            </a:r>
            <a:r>
              <a:rPr lang="en-GB" dirty="0"/>
              <a:t>(definitions, </a:t>
            </a:r>
            <a:r>
              <a:rPr lang="en-GB" dirty="0" err="1"/>
              <a:t>formatResponse</a:t>
            </a:r>
            <a:r>
              <a:rPr lang="en-GB" dirty="0"/>
              <a:t>);</a:t>
            </a:r>
          </a:p>
          <a:p>
            <a:endParaRPr lang="en-GB" dirty="0"/>
          </a:p>
        </p:txBody>
      </p:sp>
      <p:sp>
        <p:nvSpPr>
          <p:cNvPr id="3" name="Footer Placeholder 2">
            <a:extLst>
              <a:ext uri="{FF2B5EF4-FFF2-40B4-BE49-F238E27FC236}">
                <a16:creationId xmlns:a16="http://schemas.microsoft.com/office/drawing/2014/main" id="{9063326B-7684-821B-10D9-AAF0ED7577AD}"/>
              </a:ext>
            </a:extLst>
          </p:cNvPr>
          <p:cNvSpPr>
            <a:spLocks noGrp="1"/>
          </p:cNvSpPr>
          <p:nvPr>
            <p:ph type="ftr" sz="quarter" idx="16"/>
          </p:nvPr>
        </p:nvSpPr>
        <p:spPr>
          <a:xfrm>
            <a:off x="4038600" y="6356350"/>
            <a:ext cx="4114800" cy="365125"/>
          </a:xfrm>
        </p:spPr>
        <p:txBody>
          <a:bodyPr vert="horz" lIns="91440" tIns="45720" rIns="91440" bIns="45720" rtlCol="0" anchor="ctr">
            <a:normAutofit/>
          </a:bodyPr>
          <a:lstStyle/>
          <a:p>
            <a:pPr algn="ctr">
              <a:spcAft>
                <a:spcPts val="600"/>
              </a:spcAft>
              <a:defRPr/>
            </a:pPr>
            <a:r>
              <a:rPr lang="en-US" sz="1200" kern="1200" spc="0" dirty="0">
                <a:solidFill>
                  <a:srgbClr val="FFFFFF"/>
                </a:solidFill>
                <a:latin typeface="Calibri" panose="020F0502020204030204"/>
                <a:ea typeface="+mn-ea"/>
                <a:cs typeface="+mn-cs"/>
              </a:rPr>
              <a:t>Moyagabo Raphasha</a:t>
            </a:r>
          </a:p>
        </p:txBody>
      </p:sp>
      <p:sp>
        <p:nvSpPr>
          <p:cNvPr id="5" name="Slide Number Placeholder 4">
            <a:extLst>
              <a:ext uri="{FF2B5EF4-FFF2-40B4-BE49-F238E27FC236}">
                <a16:creationId xmlns:a16="http://schemas.microsoft.com/office/drawing/2014/main" id="{4C207292-FA37-9BA8-A700-D28A153C6A5C}"/>
              </a:ext>
            </a:extLst>
          </p:cNvPr>
          <p:cNvSpPr>
            <a:spLocks noGrp="1"/>
          </p:cNvSpPr>
          <p:nvPr>
            <p:ph type="sldNum" sz="quarter" idx="17"/>
          </p:nvPr>
        </p:nvSpPr>
        <p:spPr>
          <a:xfrm>
            <a:off x="8610600" y="6356350"/>
            <a:ext cx="2743200" cy="365125"/>
          </a:xfrm>
        </p:spPr>
        <p:txBody>
          <a:bodyPr vert="horz" lIns="91440" tIns="45720" rIns="91440" bIns="45720" rtlCol="0" anchor="ctr">
            <a:normAutofit/>
          </a:bodyPr>
          <a:lstStyle/>
          <a:p>
            <a:pPr>
              <a:spcAft>
                <a:spcPts val="600"/>
              </a:spcAft>
              <a:defRPr/>
            </a:pPr>
            <a:fld id="{24D65F33-A771-944D-9289-CA575F1D1B7F}" type="slidenum">
              <a:rPr lang="en-US" sz="1200" spc="0" smtClean="0">
                <a:solidFill>
                  <a:prstClr val="black">
                    <a:tint val="75000"/>
                  </a:prstClr>
                </a:solidFill>
                <a:latin typeface="Calibri" panose="020F0502020204030204"/>
              </a:rPr>
              <a:pPr>
                <a:spcAft>
                  <a:spcPts val="600"/>
                </a:spcAft>
                <a:defRPr/>
              </a:pPr>
              <a:t>24</a:t>
            </a:fld>
            <a:endParaRPr lang="en-US" sz="1200" spc="0" dirty="0">
              <a:solidFill>
                <a:prstClr val="black">
                  <a:tint val="75000"/>
                </a:prstClr>
              </a:solidFill>
              <a:latin typeface="Calibri" panose="020F0502020204030204"/>
            </a:endParaRPr>
          </a:p>
        </p:txBody>
      </p:sp>
      <p:sp>
        <p:nvSpPr>
          <p:cNvPr id="4" name="TextBox 3">
            <a:extLst>
              <a:ext uri="{FF2B5EF4-FFF2-40B4-BE49-F238E27FC236}">
                <a16:creationId xmlns:a16="http://schemas.microsoft.com/office/drawing/2014/main" id="{9F16860E-903A-CC9F-4993-45EF7ACAE452}"/>
              </a:ext>
            </a:extLst>
          </p:cNvPr>
          <p:cNvSpPr txBox="1"/>
          <p:nvPr/>
        </p:nvSpPr>
        <p:spPr>
          <a:xfrm>
            <a:off x="1495245" y="12038043"/>
            <a:ext cx="9144000" cy="317500"/>
          </a:xfrm>
          <a:prstGeom prst="rect">
            <a:avLst/>
          </a:prstGeom>
        </p:spPr>
        <p:txBody>
          <a:bodyPr>
            <a:normAutofit lnSpcReduction="10000"/>
          </a:bodyPr>
          <a:lstStyle/>
          <a:p>
            <a:pPr>
              <a:lnSpc>
                <a:spcPct val="90000"/>
              </a:lnSpc>
              <a:spcAft>
                <a:spcPts val="600"/>
              </a:spcAft>
            </a:pPr>
            <a:r>
              <a:rPr lang="en-US" sz="1700"/>
              <a:t>ThePhoto by PhotoAuthor is licensed under CCYYSA.</a:t>
            </a:r>
          </a:p>
        </p:txBody>
      </p:sp>
    </p:spTree>
    <p:extLst>
      <p:ext uri="{BB962C8B-B14F-4D97-AF65-F5344CB8AC3E}">
        <p14:creationId xmlns:p14="http://schemas.microsoft.com/office/powerpoint/2010/main" val="22291598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DDE53D9-F977-91F7-4D5F-144FA56347E3}"/>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794D1FE6-D9BA-DA35-F44D-230CE97332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Placeholder 8">
            <a:extLst>
              <a:ext uri="{FF2B5EF4-FFF2-40B4-BE49-F238E27FC236}">
                <a16:creationId xmlns:a16="http://schemas.microsoft.com/office/drawing/2014/main" id="{C2EC3357-31CA-C4B2-78D2-C9870ABEBAFF}"/>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l="2942" r="2941" b="-1"/>
          <a:stretch>
            <a:fillRect/>
          </a:stretch>
        </p:blipFill>
        <p:spPr>
          <a:xfrm>
            <a:off x="1" y="10"/>
            <a:ext cx="9669642" cy="6857990"/>
          </a:xfrm>
          <a:prstGeom prst="rect">
            <a:avLst/>
          </a:prstGeom>
        </p:spPr>
      </p:pic>
      <p:sp>
        <p:nvSpPr>
          <p:cNvPr id="24" name="Rectangle 23">
            <a:extLst>
              <a:ext uri="{FF2B5EF4-FFF2-40B4-BE49-F238E27FC236}">
                <a16:creationId xmlns:a16="http://schemas.microsoft.com/office/drawing/2014/main" id="{2CEC5020-ED1F-D2A9-C8A2-1F50D43057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itle 14">
            <a:extLst>
              <a:ext uri="{FF2B5EF4-FFF2-40B4-BE49-F238E27FC236}">
                <a16:creationId xmlns:a16="http://schemas.microsoft.com/office/drawing/2014/main" id="{B34F63A3-0313-BE8E-045F-5F11A1FE6871}"/>
              </a:ext>
            </a:extLst>
          </p:cNvPr>
          <p:cNvSpPr>
            <a:spLocks noGrp="1"/>
          </p:cNvSpPr>
          <p:nvPr>
            <p:ph type="title"/>
          </p:nvPr>
        </p:nvSpPr>
        <p:spPr>
          <a:xfrm>
            <a:off x="7599615" y="-493357"/>
            <a:ext cx="3822189" cy="1899912"/>
          </a:xfrm>
        </p:spPr>
        <p:txBody>
          <a:bodyPr vert="horz" lIns="91440" tIns="45720" rIns="91440" bIns="45720" rtlCol="0" anchor="ctr">
            <a:normAutofit/>
          </a:bodyPr>
          <a:lstStyle/>
          <a:p>
            <a:r>
              <a:rPr lang="en-US" sz="2800" dirty="0" err="1"/>
              <a:t>MainWindow.xaml.cs</a:t>
            </a:r>
            <a:endParaRPr lang="en-US" sz="2800" dirty="0"/>
          </a:p>
        </p:txBody>
      </p:sp>
      <p:sp>
        <p:nvSpPr>
          <p:cNvPr id="17" name="Text Placeholder 16">
            <a:extLst>
              <a:ext uri="{FF2B5EF4-FFF2-40B4-BE49-F238E27FC236}">
                <a16:creationId xmlns:a16="http://schemas.microsoft.com/office/drawing/2014/main" id="{FD2344EE-936C-66E1-B8DE-54B64C9EA05A}"/>
              </a:ext>
            </a:extLst>
          </p:cNvPr>
          <p:cNvSpPr>
            <a:spLocks noGrp="1"/>
          </p:cNvSpPr>
          <p:nvPr>
            <p:ph type="body" sz="quarter" idx="4294967295"/>
          </p:nvPr>
        </p:nvSpPr>
        <p:spPr>
          <a:xfrm>
            <a:off x="7467462" y="726831"/>
            <a:ext cx="4490076" cy="4191526"/>
          </a:xfrm>
        </p:spPr>
        <p:txBody>
          <a:bodyPr vert="horz" lIns="91440" tIns="45720" rIns="91440" bIns="45720" rtlCol="0">
            <a:noAutofit/>
          </a:bodyPr>
          <a:lstStyle/>
          <a:p>
            <a:r>
              <a:rPr lang="en-GB" dirty="0"/>
              <a:t>Both the knowledge base dictionary and the delegate are passed into the </a:t>
            </a:r>
            <a:r>
              <a:rPr lang="en-GB" dirty="0" err="1"/>
              <a:t>ChatService</a:t>
            </a:r>
            <a:r>
              <a:rPr lang="en-GB" dirty="0"/>
              <a:t> constructor together. </a:t>
            </a:r>
            <a:r>
              <a:rPr lang="en-GB" dirty="0" err="1"/>
              <a:t>ChatService</a:t>
            </a:r>
            <a:r>
              <a:rPr lang="en-GB" dirty="0"/>
              <a:t> stores both internally. From this point, _</a:t>
            </a:r>
            <a:r>
              <a:rPr lang="en-GB" dirty="0" err="1"/>
              <a:t>chatService.GetResponse</a:t>
            </a:r>
            <a:r>
              <a:rPr lang="en-GB" dirty="0"/>
              <a:t>() is the only external call the window ever needs to make to the chat logic. The entire 7-step pipeline, memory system, sentiment detection, and follow-up system all live inside </a:t>
            </a:r>
            <a:r>
              <a:rPr lang="en-GB" dirty="0" err="1"/>
              <a:t>ChatService</a:t>
            </a:r>
            <a:r>
              <a:rPr lang="en-GB" dirty="0"/>
              <a:t> and are triggered by that one call.</a:t>
            </a:r>
          </a:p>
          <a:p>
            <a:br>
              <a:rPr lang="en-GB" dirty="0"/>
            </a:br>
            <a:endParaRPr lang="en-GB" dirty="0"/>
          </a:p>
          <a:p>
            <a:r>
              <a:rPr lang="en-GB" b="1" dirty="0"/>
              <a:t>Step 6 — Play the Greeting Sound</a:t>
            </a:r>
            <a:endParaRPr lang="en-GB" dirty="0"/>
          </a:p>
          <a:p>
            <a:r>
              <a:rPr lang="en-GB" dirty="0" err="1"/>
              <a:t>csharp</a:t>
            </a:r>
            <a:endParaRPr lang="en-GB" dirty="0"/>
          </a:p>
          <a:p>
            <a:r>
              <a:rPr lang="en-GB" dirty="0"/>
              <a:t>_ = </a:t>
            </a:r>
            <a:r>
              <a:rPr lang="en-GB" dirty="0" err="1"/>
              <a:t>AudioPlayer.PlayGreetingAsync</a:t>
            </a:r>
            <a:r>
              <a:rPr lang="en-GB" dirty="0"/>
              <a:t>();</a:t>
            </a:r>
          </a:p>
          <a:p>
            <a:r>
              <a:rPr lang="en-GB" dirty="0" err="1"/>
              <a:t>PlayGreetingAsync</a:t>
            </a:r>
            <a:r>
              <a:rPr lang="en-GB" dirty="0"/>
              <a:t>() returns a Task. Normally you would await a Task, but here the underscore _ discards it. This is called fire-and-forget — the audio is kicked off in the background and the method moves on immediately without waiting for it. The UI continues loading. This is acceptable here because there are no consequences if the audio finishes a second later, and no cleanup is needed after it finishes. Assigning the Task to _ instead of void prevents the compiler from issuing a warning about an </a:t>
            </a:r>
            <a:r>
              <a:rPr lang="en-GB" dirty="0" err="1"/>
              <a:t>unawaited</a:t>
            </a:r>
            <a:r>
              <a:rPr lang="en-GB" dirty="0"/>
              <a:t> task.</a:t>
            </a:r>
          </a:p>
          <a:p>
            <a:br>
              <a:rPr lang="en-GB" dirty="0"/>
            </a:br>
            <a:endParaRPr lang="en-GB" dirty="0"/>
          </a:p>
          <a:p>
            <a:endParaRPr lang="en-GB" dirty="0"/>
          </a:p>
        </p:txBody>
      </p:sp>
      <p:sp>
        <p:nvSpPr>
          <p:cNvPr id="3" name="Footer Placeholder 2">
            <a:extLst>
              <a:ext uri="{FF2B5EF4-FFF2-40B4-BE49-F238E27FC236}">
                <a16:creationId xmlns:a16="http://schemas.microsoft.com/office/drawing/2014/main" id="{0467AD8D-364C-F7AA-7164-80AB6D6B4766}"/>
              </a:ext>
            </a:extLst>
          </p:cNvPr>
          <p:cNvSpPr>
            <a:spLocks noGrp="1"/>
          </p:cNvSpPr>
          <p:nvPr>
            <p:ph type="ftr" sz="quarter" idx="16"/>
          </p:nvPr>
        </p:nvSpPr>
        <p:spPr>
          <a:xfrm>
            <a:off x="4038600" y="6356350"/>
            <a:ext cx="4114800" cy="365125"/>
          </a:xfrm>
        </p:spPr>
        <p:txBody>
          <a:bodyPr vert="horz" lIns="91440" tIns="45720" rIns="91440" bIns="45720" rtlCol="0" anchor="ctr">
            <a:normAutofit/>
          </a:bodyPr>
          <a:lstStyle/>
          <a:p>
            <a:pPr algn="ctr">
              <a:spcAft>
                <a:spcPts val="600"/>
              </a:spcAft>
              <a:defRPr/>
            </a:pPr>
            <a:r>
              <a:rPr lang="en-US" sz="1200" kern="1200" spc="0" dirty="0">
                <a:solidFill>
                  <a:srgbClr val="FFFFFF"/>
                </a:solidFill>
                <a:latin typeface="Calibri" panose="020F0502020204030204"/>
                <a:ea typeface="+mn-ea"/>
                <a:cs typeface="+mn-cs"/>
              </a:rPr>
              <a:t>Moyagabo Raphasha</a:t>
            </a:r>
          </a:p>
        </p:txBody>
      </p:sp>
      <p:sp>
        <p:nvSpPr>
          <p:cNvPr id="5" name="Slide Number Placeholder 4">
            <a:extLst>
              <a:ext uri="{FF2B5EF4-FFF2-40B4-BE49-F238E27FC236}">
                <a16:creationId xmlns:a16="http://schemas.microsoft.com/office/drawing/2014/main" id="{1CF20088-FBA5-8C69-4E76-DA931314698E}"/>
              </a:ext>
            </a:extLst>
          </p:cNvPr>
          <p:cNvSpPr>
            <a:spLocks noGrp="1"/>
          </p:cNvSpPr>
          <p:nvPr>
            <p:ph type="sldNum" sz="quarter" idx="17"/>
          </p:nvPr>
        </p:nvSpPr>
        <p:spPr>
          <a:xfrm>
            <a:off x="8610600" y="6356350"/>
            <a:ext cx="2743200" cy="365125"/>
          </a:xfrm>
        </p:spPr>
        <p:txBody>
          <a:bodyPr vert="horz" lIns="91440" tIns="45720" rIns="91440" bIns="45720" rtlCol="0" anchor="ctr">
            <a:normAutofit/>
          </a:bodyPr>
          <a:lstStyle/>
          <a:p>
            <a:pPr>
              <a:spcAft>
                <a:spcPts val="600"/>
              </a:spcAft>
              <a:defRPr/>
            </a:pPr>
            <a:fld id="{24D65F33-A771-944D-9289-CA575F1D1B7F}" type="slidenum">
              <a:rPr lang="en-US" sz="1200" spc="0" smtClean="0">
                <a:solidFill>
                  <a:prstClr val="black">
                    <a:tint val="75000"/>
                  </a:prstClr>
                </a:solidFill>
                <a:latin typeface="Calibri" panose="020F0502020204030204"/>
              </a:rPr>
              <a:pPr>
                <a:spcAft>
                  <a:spcPts val="600"/>
                </a:spcAft>
                <a:defRPr/>
              </a:pPr>
              <a:t>25</a:t>
            </a:fld>
            <a:endParaRPr lang="en-US" sz="1200" spc="0" dirty="0">
              <a:solidFill>
                <a:prstClr val="black">
                  <a:tint val="75000"/>
                </a:prstClr>
              </a:solidFill>
              <a:latin typeface="Calibri" panose="020F0502020204030204"/>
            </a:endParaRPr>
          </a:p>
        </p:txBody>
      </p:sp>
      <p:sp>
        <p:nvSpPr>
          <p:cNvPr id="4" name="TextBox 3">
            <a:extLst>
              <a:ext uri="{FF2B5EF4-FFF2-40B4-BE49-F238E27FC236}">
                <a16:creationId xmlns:a16="http://schemas.microsoft.com/office/drawing/2014/main" id="{D9AD4B2B-FCC5-8EA8-5BF7-67126551E3D5}"/>
              </a:ext>
            </a:extLst>
          </p:cNvPr>
          <p:cNvSpPr txBox="1"/>
          <p:nvPr/>
        </p:nvSpPr>
        <p:spPr>
          <a:xfrm>
            <a:off x="1495245" y="12038043"/>
            <a:ext cx="9144000" cy="317500"/>
          </a:xfrm>
          <a:prstGeom prst="rect">
            <a:avLst/>
          </a:prstGeom>
        </p:spPr>
        <p:txBody>
          <a:bodyPr>
            <a:normAutofit lnSpcReduction="10000"/>
          </a:bodyPr>
          <a:lstStyle/>
          <a:p>
            <a:pPr>
              <a:lnSpc>
                <a:spcPct val="90000"/>
              </a:lnSpc>
              <a:spcAft>
                <a:spcPts val="600"/>
              </a:spcAft>
            </a:pPr>
            <a:r>
              <a:rPr lang="en-US" sz="1700"/>
              <a:t>ThePhoto by PhotoAuthor is licensed under CCYYSA.</a:t>
            </a:r>
          </a:p>
        </p:txBody>
      </p:sp>
    </p:spTree>
    <p:extLst>
      <p:ext uri="{BB962C8B-B14F-4D97-AF65-F5344CB8AC3E}">
        <p14:creationId xmlns:p14="http://schemas.microsoft.com/office/powerpoint/2010/main" val="41179341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98C7E20-CCE7-EF8C-950E-3675212FB1FD}"/>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4308CE7-D353-46EE-E4AF-5DEF2FBEAE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Placeholder 8">
            <a:extLst>
              <a:ext uri="{FF2B5EF4-FFF2-40B4-BE49-F238E27FC236}">
                <a16:creationId xmlns:a16="http://schemas.microsoft.com/office/drawing/2014/main" id="{3F6CC8CB-9A2A-2A80-F4AF-603390BB4092}"/>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l="2942" r="2941" b="-1"/>
          <a:stretch>
            <a:fillRect/>
          </a:stretch>
        </p:blipFill>
        <p:spPr>
          <a:xfrm>
            <a:off x="1" y="10"/>
            <a:ext cx="9669642" cy="6857990"/>
          </a:xfrm>
          <a:prstGeom prst="rect">
            <a:avLst/>
          </a:prstGeom>
        </p:spPr>
      </p:pic>
      <p:sp>
        <p:nvSpPr>
          <p:cNvPr id="24" name="Rectangle 23">
            <a:extLst>
              <a:ext uri="{FF2B5EF4-FFF2-40B4-BE49-F238E27FC236}">
                <a16:creationId xmlns:a16="http://schemas.microsoft.com/office/drawing/2014/main" id="{0DE541B6-9945-B074-F43F-FB8FA30F02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itle 14">
            <a:extLst>
              <a:ext uri="{FF2B5EF4-FFF2-40B4-BE49-F238E27FC236}">
                <a16:creationId xmlns:a16="http://schemas.microsoft.com/office/drawing/2014/main" id="{4A4372CD-FDD5-EDA0-CEEF-222754C57FDB}"/>
              </a:ext>
            </a:extLst>
          </p:cNvPr>
          <p:cNvSpPr>
            <a:spLocks noGrp="1"/>
          </p:cNvSpPr>
          <p:nvPr>
            <p:ph type="title"/>
          </p:nvPr>
        </p:nvSpPr>
        <p:spPr>
          <a:xfrm>
            <a:off x="7599615" y="-493357"/>
            <a:ext cx="3822189" cy="1899912"/>
          </a:xfrm>
        </p:spPr>
        <p:txBody>
          <a:bodyPr vert="horz" lIns="91440" tIns="45720" rIns="91440" bIns="45720" rtlCol="0" anchor="ctr">
            <a:normAutofit/>
          </a:bodyPr>
          <a:lstStyle/>
          <a:p>
            <a:r>
              <a:rPr lang="en-US" sz="2800" dirty="0" err="1"/>
              <a:t>MainWindow.xaml.cs</a:t>
            </a:r>
            <a:endParaRPr lang="en-US" sz="2800" dirty="0"/>
          </a:p>
        </p:txBody>
      </p:sp>
      <p:sp>
        <p:nvSpPr>
          <p:cNvPr id="17" name="Text Placeholder 16">
            <a:extLst>
              <a:ext uri="{FF2B5EF4-FFF2-40B4-BE49-F238E27FC236}">
                <a16:creationId xmlns:a16="http://schemas.microsoft.com/office/drawing/2014/main" id="{35CA9397-FB14-CF48-96F0-656A38DD69DD}"/>
              </a:ext>
            </a:extLst>
          </p:cNvPr>
          <p:cNvSpPr>
            <a:spLocks noGrp="1"/>
          </p:cNvSpPr>
          <p:nvPr>
            <p:ph type="body" sz="quarter" idx="4294967295"/>
          </p:nvPr>
        </p:nvSpPr>
        <p:spPr>
          <a:xfrm>
            <a:off x="7467462" y="726831"/>
            <a:ext cx="4490076" cy="4191526"/>
          </a:xfrm>
        </p:spPr>
        <p:txBody>
          <a:bodyPr vert="horz" lIns="91440" tIns="45720" rIns="91440" bIns="45720" rtlCol="0">
            <a:noAutofit/>
          </a:bodyPr>
          <a:lstStyle/>
          <a:p>
            <a:r>
              <a:rPr lang="en-GB" dirty="0"/>
              <a:t>second later, and no cleanup is needed after it finishes. Assigning the Task to _ instead of void prevents the compiler from issuing a warning about an </a:t>
            </a:r>
            <a:r>
              <a:rPr lang="en-GB" dirty="0" err="1"/>
              <a:t>unawaited</a:t>
            </a:r>
            <a:r>
              <a:rPr lang="en-GB" dirty="0"/>
              <a:t> task.</a:t>
            </a:r>
          </a:p>
          <a:p>
            <a:br>
              <a:rPr lang="en-GB" dirty="0"/>
            </a:br>
            <a:endParaRPr lang="en-GB" dirty="0"/>
          </a:p>
          <a:p>
            <a:r>
              <a:rPr lang="en-GB" b="1" dirty="0"/>
              <a:t>Step 7 — Show the Welcome Message and Focus the Input</a:t>
            </a:r>
            <a:endParaRPr lang="en-GB" dirty="0"/>
          </a:p>
          <a:p>
            <a:r>
              <a:rPr lang="en-GB" dirty="0" err="1"/>
              <a:t>csharp</a:t>
            </a:r>
            <a:endParaRPr lang="en-GB" dirty="0"/>
          </a:p>
          <a:p>
            <a:r>
              <a:rPr lang="en-GB" dirty="0" err="1"/>
              <a:t>AddBotMessage</a:t>
            </a:r>
            <a:r>
              <a:rPr lang="en-GB" dirty="0"/>
              <a:t>("I will be assisting you today. I'll give you tips to stay safe online.\n\</a:t>
            </a:r>
            <a:r>
              <a:rPr lang="en-GB" dirty="0" err="1"/>
              <a:t>nPlease</a:t>
            </a:r>
            <a:r>
              <a:rPr lang="en-GB" dirty="0"/>
              <a:t> enter your name to begin:");</a:t>
            </a:r>
          </a:p>
          <a:p>
            <a:r>
              <a:rPr lang="en-GB" dirty="0" err="1"/>
              <a:t>UserInput.Focus</a:t>
            </a:r>
            <a:r>
              <a:rPr lang="en-GB" dirty="0"/>
              <a:t>();</a:t>
            </a:r>
          </a:p>
          <a:p>
            <a:r>
              <a:rPr lang="en-GB" dirty="0" err="1"/>
              <a:t>AddBotMessage</a:t>
            </a:r>
            <a:r>
              <a:rPr lang="en-GB" dirty="0"/>
              <a:t>() is called with the opening message — the first thing the user reads when the window opens. The \n\n creates two line breaks in the message.</a:t>
            </a:r>
          </a:p>
          <a:p>
            <a:r>
              <a:rPr lang="en-GB" dirty="0" err="1"/>
              <a:t>UserInput.Focus</a:t>
            </a:r>
            <a:r>
              <a:rPr lang="en-GB" dirty="0"/>
              <a:t>() places the keyboard cursor inside the </a:t>
            </a:r>
            <a:r>
              <a:rPr lang="en-GB" dirty="0" err="1"/>
              <a:t>TextBox</a:t>
            </a:r>
            <a:r>
              <a:rPr lang="en-GB" dirty="0"/>
              <a:t> so the user can start typing immediately without having to click on it. This is a small UX detail that makes the app feel more polished and responsive.</a:t>
            </a:r>
          </a:p>
          <a:p>
            <a:br>
              <a:rPr lang="en-GB" dirty="0"/>
            </a:br>
            <a:endParaRPr lang="en-GB" dirty="0"/>
          </a:p>
          <a:p>
            <a:br>
              <a:rPr lang="en-GB" dirty="0"/>
            </a:br>
            <a:endParaRPr lang="en-GB" dirty="0"/>
          </a:p>
          <a:p>
            <a:endParaRPr lang="en-GB" dirty="0"/>
          </a:p>
        </p:txBody>
      </p:sp>
      <p:sp>
        <p:nvSpPr>
          <p:cNvPr id="3" name="Footer Placeholder 2">
            <a:extLst>
              <a:ext uri="{FF2B5EF4-FFF2-40B4-BE49-F238E27FC236}">
                <a16:creationId xmlns:a16="http://schemas.microsoft.com/office/drawing/2014/main" id="{70A0ACD6-7BD0-9419-451A-0369754AF763}"/>
              </a:ext>
            </a:extLst>
          </p:cNvPr>
          <p:cNvSpPr>
            <a:spLocks noGrp="1"/>
          </p:cNvSpPr>
          <p:nvPr>
            <p:ph type="ftr" sz="quarter" idx="16"/>
          </p:nvPr>
        </p:nvSpPr>
        <p:spPr>
          <a:xfrm>
            <a:off x="3067619" y="6356350"/>
            <a:ext cx="4114800" cy="365125"/>
          </a:xfrm>
        </p:spPr>
        <p:txBody>
          <a:bodyPr vert="horz" lIns="91440" tIns="45720" rIns="91440" bIns="45720" rtlCol="0" anchor="ctr">
            <a:normAutofit/>
          </a:bodyPr>
          <a:lstStyle/>
          <a:p>
            <a:pPr algn="ctr">
              <a:spcAft>
                <a:spcPts val="600"/>
              </a:spcAft>
              <a:defRPr/>
            </a:pPr>
            <a:r>
              <a:rPr lang="en-US" sz="1200" kern="1200" spc="0" dirty="0">
                <a:solidFill>
                  <a:srgbClr val="FFFFFF"/>
                </a:solidFill>
                <a:latin typeface="Calibri" panose="020F0502020204030204"/>
                <a:ea typeface="+mn-ea"/>
                <a:cs typeface="+mn-cs"/>
              </a:rPr>
              <a:t>Moyagabo Raphasha</a:t>
            </a:r>
          </a:p>
        </p:txBody>
      </p:sp>
      <p:sp>
        <p:nvSpPr>
          <p:cNvPr id="5" name="Slide Number Placeholder 4">
            <a:extLst>
              <a:ext uri="{FF2B5EF4-FFF2-40B4-BE49-F238E27FC236}">
                <a16:creationId xmlns:a16="http://schemas.microsoft.com/office/drawing/2014/main" id="{0EA97EA1-AAA4-3504-1921-2B6D79E3281B}"/>
              </a:ext>
            </a:extLst>
          </p:cNvPr>
          <p:cNvSpPr>
            <a:spLocks noGrp="1"/>
          </p:cNvSpPr>
          <p:nvPr>
            <p:ph type="sldNum" sz="quarter" idx="17"/>
          </p:nvPr>
        </p:nvSpPr>
        <p:spPr>
          <a:xfrm>
            <a:off x="8610600" y="6356350"/>
            <a:ext cx="2743200" cy="365125"/>
          </a:xfrm>
        </p:spPr>
        <p:txBody>
          <a:bodyPr vert="horz" lIns="91440" tIns="45720" rIns="91440" bIns="45720" rtlCol="0" anchor="ctr">
            <a:normAutofit/>
          </a:bodyPr>
          <a:lstStyle/>
          <a:p>
            <a:pPr>
              <a:spcAft>
                <a:spcPts val="600"/>
              </a:spcAft>
              <a:defRPr/>
            </a:pPr>
            <a:fld id="{24D65F33-A771-944D-9289-CA575F1D1B7F}" type="slidenum">
              <a:rPr lang="en-US" sz="1200" spc="0" smtClean="0">
                <a:solidFill>
                  <a:prstClr val="black">
                    <a:tint val="75000"/>
                  </a:prstClr>
                </a:solidFill>
                <a:latin typeface="Calibri" panose="020F0502020204030204"/>
              </a:rPr>
              <a:pPr>
                <a:spcAft>
                  <a:spcPts val="600"/>
                </a:spcAft>
                <a:defRPr/>
              </a:pPr>
              <a:t>26</a:t>
            </a:fld>
            <a:endParaRPr lang="en-US" sz="1200" spc="0" dirty="0">
              <a:solidFill>
                <a:prstClr val="black">
                  <a:tint val="75000"/>
                </a:prstClr>
              </a:solidFill>
              <a:latin typeface="Calibri" panose="020F0502020204030204"/>
            </a:endParaRPr>
          </a:p>
        </p:txBody>
      </p:sp>
      <p:sp>
        <p:nvSpPr>
          <p:cNvPr id="4" name="TextBox 3">
            <a:extLst>
              <a:ext uri="{FF2B5EF4-FFF2-40B4-BE49-F238E27FC236}">
                <a16:creationId xmlns:a16="http://schemas.microsoft.com/office/drawing/2014/main" id="{B49982A9-1A49-BFEA-D514-6F0619974461}"/>
              </a:ext>
            </a:extLst>
          </p:cNvPr>
          <p:cNvSpPr txBox="1"/>
          <p:nvPr/>
        </p:nvSpPr>
        <p:spPr>
          <a:xfrm>
            <a:off x="1495245" y="12038043"/>
            <a:ext cx="9144000" cy="317500"/>
          </a:xfrm>
          <a:prstGeom prst="rect">
            <a:avLst/>
          </a:prstGeom>
        </p:spPr>
        <p:txBody>
          <a:bodyPr>
            <a:normAutofit lnSpcReduction="10000"/>
          </a:bodyPr>
          <a:lstStyle/>
          <a:p>
            <a:pPr>
              <a:lnSpc>
                <a:spcPct val="90000"/>
              </a:lnSpc>
              <a:spcAft>
                <a:spcPts val="600"/>
              </a:spcAft>
            </a:pPr>
            <a:r>
              <a:rPr lang="en-US" sz="1700"/>
              <a:t>ThePhoto by PhotoAuthor is licensed under CCYYSA.</a:t>
            </a:r>
          </a:p>
        </p:txBody>
      </p:sp>
    </p:spTree>
    <p:extLst>
      <p:ext uri="{BB962C8B-B14F-4D97-AF65-F5344CB8AC3E}">
        <p14:creationId xmlns:p14="http://schemas.microsoft.com/office/powerpoint/2010/main" val="38426264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A6A9F7A-AA36-0033-8939-366A18E55B36}"/>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7785896-D00C-B271-528B-26F67EB150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Placeholder 8">
            <a:extLst>
              <a:ext uri="{FF2B5EF4-FFF2-40B4-BE49-F238E27FC236}">
                <a16:creationId xmlns:a16="http://schemas.microsoft.com/office/drawing/2014/main" id="{85387C9E-F493-7016-69A9-24A180AA0CC8}"/>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l="2942" r="2941" b="-1"/>
          <a:stretch>
            <a:fillRect/>
          </a:stretch>
        </p:blipFill>
        <p:spPr>
          <a:xfrm>
            <a:off x="1" y="10"/>
            <a:ext cx="9669642" cy="6857990"/>
          </a:xfrm>
          <a:prstGeom prst="rect">
            <a:avLst/>
          </a:prstGeom>
        </p:spPr>
      </p:pic>
      <p:sp>
        <p:nvSpPr>
          <p:cNvPr id="24" name="Rectangle 23">
            <a:extLst>
              <a:ext uri="{FF2B5EF4-FFF2-40B4-BE49-F238E27FC236}">
                <a16:creationId xmlns:a16="http://schemas.microsoft.com/office/drawing/2014/main" id="{C5046F18-D7AE-9C11-84C8-99B2DC1E01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itle 14">
            <a:extLst>
              <a:ext uri="{FF2B5EF4-FFF2-40B4-BE49-F238E27FC236}">
                <a16:creationId xmlns:a16="http://schemas.microsoft.com/office/drawing/2014/main" id="{0C8D8A55-C1B7-CBFB-D059-53D25AC3DA06}"/>
              </a:ext>
            </a:extLst>
          </p:cNvPr>
          <p:cNvSpPr>
            <a:spLocks noGrp="1"/>
          </p:cNvSpPr>
          <p:nvPr>
            <p:ph type="title"/>
          </p:nvPr>
        </p:nvSpPr>
        <p:spPr>
          <a:xfrm>
            <a:off x="7599615" y="-493357"/>
            <a:ext cx="3822189" cy="1899912"/>
          </a:xfrm>
        </p:spPr>
        <p:txBody>
          <a:bodyPr vert="horz" lIns="91440" tIns="45720" rIns="91440" bIns="45720" rtlCol="0" anchor="ctr">
            <a:normAutofit/>
          </a:bodyPr>
          <a:lstStyle/>
          <a:p>
            <a:r>
              <a:rPr lang="en-US" sz="2800" dirty="0" err="1"/>
              <a:t>MainWindow.xaml.cs</a:t>
            </a:r>
            <a:endParaRPr lang="en-US" sz="2800" dirty="0"/>
          </a:p>
        </p:txBody>
      </p:sp>
      <p:sp>
        <p:nvSpPr>
          <p:cNvPr id="17" name="Text Placeholder 16">
            <a:extLst>
              <a:ext uri="{FF2B5EF4-FFF2-40B4-BE49-F238E27FC236}">
                <a16:creationId xmlns:a16="http://schemas.microsoft.com/office/drawing/2014/main" id="{06A5338B-88C7-3F1D-D73F-8CBAC728D587}"/>
              </a:ext>
            </a:extLst>
          </p:cNvPr>
          <p:cNvSpPr>
            <a:spLocks noGrp="1"/>
          </p:cNvSpPr>
          <p:nvPr>
            <p:ph type="body" sz="quarter" idx="4294967295"/>
          </p:nvPr>
        </p:nvSpPr>
        <p:spPr>
          <a:xfrm>
            <a:off x="7467462" y="726831"/>
            <a:ext cx="4490076" cy="4191526"/>
          </a:xfrm>
        </p:spPr>
        <p:txBody>
          <a:bodyPr vert="horz" lIns="91440" tIns="45720" rIns="91440" bIns="45720" rtlCol="0">
            <a:noAutofit/>
          </a:bodyPr>
          <a:lstStyle/>
          <a:p>
            <a:r>
              <a:rPr lang="en-GB" b="1" dirty="0"/>
              <a:t>METHOD — </a:t>
            </a:r>
            <a:r>
              <a:rPr lang="en-GB" b="1" dirty="0" err="1"/>
              <a:t>CreateDefinitionsDictionary</a:t>
            </a:r>
            <a:r>
              <a:rPr lang="en-GB" b="1" dirty="0"/>
              <a:t>()</a:t>
            </a:r>
          </a:p>
          <a:p>
            <a:r>
              <a:rPr lang="en-GB" dirty="0" err="1"/>
              <a:t>csharp</a:t>
            </a:r>
            <a:endParaRPr lang="en-GB" dirty="0"/>
          </a:p>
          <a:p>
            <a:r>
              <a:rPr lang="en-GB" dirty="0"/>
              <a:t>private Dictionary&lt;string, string&gt; </a:t>
            </a:r>
            <a:r>
              <a:rPr lang="en-GB" dirty="0" err="1"/>
              <a:t>CreateDefinitionsDictionary</a:t>
            </a:r>
            <a:r>
              <a:rPr lang="en-GB" dirty="0"/>
              <a:t>()</a:t>
            </a:r>
          </a:p>
          <a:p>
            <a:r>
              <a:rPr lang="en-GB" dirty="0"/>
              <a:t>{</a:t>
            </a:r>
          </a:p>
          <a:p>
            <a:r>
              <a:rPr lang="en-GB" dirty="0"/>
              <a:t>    return new Dictionary&lt;string, string&gt;(</a:t>
            </a:r>
            <a:r>
              <a:rPr lang="en-GB" dirty="0" err="1"/>
              <a:t>StringComparer.OrdinalIgnoreCase</a:t>
            </a:r>
            <a:r>
              <a:rPr lang="en-GB" dirty="0"/>
              <a:t>)</a:t>
            </a:r>
          </a:p>
          <a:p>
            <a:r>
              <a:rPr lang="en-GB" dirty="0"/>
              <a:t>    {</a:t>
            </a:r>
          </a:p>
          <a:p>
            <a:r>
              <a:rPr lang="en-GB" dirty="0"/>
              <a:t>        { "password", "..." },</a:t>
            </a:r>
          </a:p>
          <a:p>
            <a:r>
              <a:rPr lang="en-GB" dirty="0"/>
              <a:t>        { "strong password", "..." },</a:t>
            </a:r>
          </a:p>
          <a:p>
            <a:r>
              <a:rPr lang="en-GB" dirty="0"/>
              <a:t>        ...</a:t>
            </a:r>
          </a:p>
          <a:p>
            <a:r>
              <a:rPr lang="en-GB" dirty="0"/>
              <a:t>    };</a:t>
            </a:r>
          </a:p>
          <a:p>
            <a:r>
              <a:rPr lang="en-GB" dirty="0"/>
              <a:t>}</a:t>
            </a:r>
          </a:p>
          <a:p>
            <a:r>
              <a:rPr lang="en-GB" b="1" dirty="0"/>
              <a:t>Return type:</a:t>
            </a:r>
            <a:r>
              <a:rPr lang="en-GB" dirty="0"/>
              <a:t> Dictionary&lt;string, string&gt; — a key-value store where both the key (the topic keyword) and the value (the response text) are strings.</a:t>
            </a:r>
          </a:p>
          <a:p>
            <a:r>
              <a:rPr lang="en-GB" b="1" dirty="0" err="1"/>
              <a:t>StringComparer.OrdinalIgnoreCase</a:t>
            </a:r>
            <a:r>
              <a:rPr lang="en-GB" b="1" dirty="0"/>
              <a:t>:</a:t>
            </a:r>
            <a:r>
              <a:rPr lang="en-GB" dirty="0"/>
              <a:t> This is the comparer passed to the Dictionary constructor. It changes how key</a:t>
            </a:r>
          </a:p>
        </p:txBody>
      </p:sp>
      <p:sp>
        <p:nvSpPr>
          <p:cNvPr id="3" name="Footer Placeholder 2">
            <a:extLst>
              <a:ext uri="{FF2B5EF4-FFF2-40B4-BE49-F238E27FC236}">
                <a16:creationId xmlns:a16="http://schemas.microsoft.com/office/drawing/2014/main" id="{E5A4071E-5CEC-42F0-C428-A1A9FDA657ED}"/>
              </a:ext>
            </a:extLst>
          </p:cNvPr>
          <p:cNvSpPr>
            <a:spLocks noGrp="1"/>
          </p:cNvSpPr>
          <p:nvPr>
            <p:ph type="ftr" sz="quarter" idx="16"/>
          </p:nvPr>
        </p:nvSpPr>
        <p:spPr>
          <a:xfrm>
            <a:off x="3067619" y="6356350"/>
            <a:ext cx="4114800" cy="365125"/>
          </a:xfrm>
        </p:spPr>
        <p:txBody>
          <a:bodyPr vert="horz" lIns="91440" tIns="45720" rIns="91440" bIns="45720" rtlCol="0" anchor="ctr">
            <a:normAutofit/>
          </a:bodyPr>
          <a:lstStyle/>
          <a:p>
            <a:pPr algn="ctr">
              <a:spcAft>
                <a:spcPts val="600"/>
              </a:spcAft>
              <a:defRPr/>
            </a:pPr>
            <a:r>
              <a:rPr lang="en-US" sz="1200" kern="1200" spc="0" dirty="0">
                <a:solidFill>
                  <a:srgbClr val="FFFFFF"/>
                </a:solidFill>
                <a:latin typeface="Calibri" panose="020F0502020204030204"/>
                <a:ea typeface="+mn-ea"/>
                <a:cs typeface="+mn-cs"/>
              </a:rPr>
              <a:t>Moyagabo Raphasha</a:t>
            </a:r>
          </a:p>
        </p:txBody>
      </p:sp>
      <p:sp>
        <p:nvSpPr>
          <p:cNvPr id="5" name="Slide Number Placeholder 4">
            <a:extLst>
              <a:ext uri="{FF2B5EF4-FFF2-40B4-BE49-F238E27FC236}">
                <a16:creationId xmlns:a16="http://schemas.microsoft.com/office/drawing/2014/main" id="{8D8C0480-B191-4D9B-46CC-0248DA96AA93}"/>
              </a:ext>
            </a:extLst>
          </p:cNvPr>
          <p:cNvSpPr>
            <a:spLocks noGrp="1"/>
          </p:cNvSpPr>
          <p:nvPr>
            <p:ph type="sldNum" sz="quarter" idx="17"/>
          </p:nvPr>
        </p:nvSpPr>
        <p:spPr>
          <a:xfrm>
            <a:off x="8610600" y="6356350"/>
            <a:ext cx="2743200" cy="365125"/>
          </a:xfrm>
        </p:spPr>
        <p:txBody>
          <a:bodyPr vert="horz" lIns="91440" tIns="45720" rIns="91440" bIns="45720" rtlCol="0" anchor="ctr">
            <a:normAutofit/>
          </a:bodyPr>
          <a:lstStyle/>
          <a:p>
            <a:pPr>
              <a:spcAft>
                <a:spcPts val="600"/>
              </a:spcAft>
              <a:defRPr/>
            </a:pPr>
            <a:fld id="{24D65F33-A771-944D-9289-CA575F1D1B7F}" type="slidenum">
              <a:rPr lang="en-US" sz="1200" spc="0" smtClean="0">
                <a:solidFill>
                  <a:prstClr val="black">
                    <a:tint val="75000"/>
                  </a:prstClr>
                </a:solidFill>
                <a:latin typeface="Calibri" panose="020F0502020204030204"/>
              </a:rPr>
              <a:pPr>
                <a:spcAft>
                  <a:spcPts val="600"/>
                </a:spcAft>
                <a:defRPr/>
              </a:pPr>
              <a:t>27</a:t>
            </a:fld>
            <a:endParaRPr lang="en-US" sz="1200" spc="0" dirty="0">
              <a:solidFill>
                <a:prstClr val="black">
                  <a:tint val="75000"/>
                </a:prstClr>
              </a:solidFill>
              <a:latin typeface="Calibri" panose="020F0502020204030204"/>
            </a:endParaRPr>
          </a:p>
        </p:txBody>
      </p:sp>
      <p:sp>
        <p:nvSpPr>
          <p:cNvPr id="4" name="TextBox 3">
            <a:extLst>
              <a:ext uri="{FF2B5EF4-FFF2-40B4-BE49-F238E27FC236}">
                <a16:creationId xmlns:a16="http://schemas.microsoft.com/office/drawing/2014/main" id="{CFB00A68-B946-3CF9-0B18-C2B82DC130E8}"/>
              </a:ext>
            </a:extLst>
          </p:cNvPr>
          <p:cNvSpPr txBox="1"/>
          <p:nvPr/>
        </p:nvSpPr>
        <p:spPr>
          <a:xfrm>
            <a:off x="1495245" y="12038043"/>
            <a:ext cx="9144000" cy="317500"/>
          </a:xfrm>
          <a:prstGeom prst="rect">
            <a:avLst/>
          </a:prstGeom>
        </p:spPr>
        <p:txBody>
          <a:bodyPr>
            <a:normAutofit lnSpcReduction="10000"/>
          </a:bodyPr>
          <a:lstStyle/>
          <a:p>
            <a:pPr>
              <a:lnSpc>
                <a:spcPct val="90000"/>
              </a:lnSpc>
              <a:spcAft>
                <a:spcPts val="600"/>
              </a:spcAft>
            </a:pPr>
            <a:r>
              <a:rPr lang="en-US" sz="1700"/>
              <a:t>ThePhoto by PhotoAuthor is licensed under CCYYSA.</a:t>
            </a:r>
          </a:p>
        </p:txBody>
      </p:sp>
    </p:spTree>
    <p:extLst>
      <p:ext uri="{BB962C8B-B14F-4D97-AF65-F5344CB8AC3E}">
        <p14:creationId xmlns:p14="http://schemas.microsoft.com/office/powerpoint/2010/main" val="21004989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BA431B-D7DE-3E0C-F721-4A06A75F1537}"/>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CEE3896B-10AF-5BF8-E5CF-47D64DE195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Placeholder 8">
            <a:extLst>
              <a:ext uri="{FF2B5EF4-FFF2-40B4-BE49-F238E27FC236}">
                <a16:creationId xmlns:a16="http://schemas.microsoft.com/office/drawing/2014/main" id="{0A5C1F35-3035-5D69-A757-59420D02C911}"/>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l="2942" r="2941" b="-1"/>
          <a:stretch>
            <a:fillRect/>
          </a:stretch>
        </p:blipFill>
        <p:spPr>
          <a:xfrm>
            <a:off x="1" y="10"/>
            <a:ext cx="9669642" cy="6857990"/>
          </a:xfrm>
          <a:prstGeom prst="rect">
            <a:avLst/>
          </a:prstGeom>
        </p:spPr>
      </p:pic>
      <p:sp>
        <p:nvSpPr>
          <p:cNvPr id="24" name="Rectangle 23">
            <a:extLst>
              <a:ext uri="{FF2B5EF4-FFF2-40B4-BE49-F238E27FC236}">
                <a16:creationId xmlns:a16="http://schemas.microsoft.com/office/drawing/2014/main" id="{193ADD85-6C95-CA8A-4C78-5FC50C6F8F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itle 14">
            <a:extLst>
              <a:ext uri="{FF2B5EF4-FFF2-40B4-BE49-F238E27FC236}">
                <a16:creationId xmlns:a16="http://schemas.microsoft.com/office/drawing/2014/main" id="{C9BA5258-A345-617C-F673-A8A6E0215D9B}"/>
              </a:ext>
            </a:extLst>
          </p:cNvPr>
          <p:cNvSpPr>
            <a:spLocks noGrp="1"/>
          </p:cNvSpPr>
          <p:nvPr>
            <p:ph type="title"/>
          </p:nvPr>
        </p:nvSpPr>
        <p:spPr>
          <a:xfrm>
            <a:off x="7599615" y="-493357"/>
            <a:ext cx="3822189" cy="1899912"/>
          </a:xfrm>
        </p:spPr>
        <p:txBody>
          <a:bodyPr vert="horz" lIns="91440" tIns="45720" rIns="91440" bIns="45720" rtlCol="0" anchor="ctr">
            <a:normAutofit/>
          </a:bodyPr>
          <a:lstStyle/>
          <a:p>
            <a:r>
              <a:rPr lang="en-US" sz="2800" dirty="0" err="1"/>
              <a:t>MainWindow.xaml.cs</a:t>
            </a:r>
            <a:endParaRPr lang="en-US" sz="2800" dirty="0"/>
          </a:p>
        </p:txBody>
      </p:sp>
      <p:sp>
        <p:nvSpPr>
          <p:cNvPr id="17" name="Text Placeholder 16">
            <a:extLst>
              <a:ext uri="{FF2B5EF4-FFF2-40B4-BE49-F238E27FC236}">
                <a16:creationId xmlns:a16="http://schemas.microsoft.com/office/drawing/2014/main" id="{37E48691-85EA-909E-A4BF-5686B99D68CB}"/>
              </a:ext>
            </a:extLst>
          </p:cNvPr>
          <p:cNvSpPr>
            <a:spLocks noGrp="1"/>
          </p:cNvSpPr>
          <p:nvPr>
            <p:ph type="body" sz="quarter" idx="4294967295"/>
          </p:nvPr>
        </p:nvSpPr>
        <p:spPr>
          <a:xfrm>
            <a:off x="7467462" y="726831"/>
            <a:ext cx="4490076" cy="4191526"/>
          </a:xfrm>
        </p:spPr>
        <p:txBody>
          <a:bodyPr vert="horz" lIns="91440" tIns="45720" rIns="91440" bIns="45720" rtlCol="0">
            <a:noAutofit/>
          </a:bodyPr>
          <a:lstStyle/>
          <a:p>
            <a:r>
              <a:rPr lang="en-GB" dirty="0"/>
              <a:t>lookups work — instead of exact character matching, keys are compared without regard to capitalisation. This means the keys "password", "Password", and "PASSWORD" all resolve to the same dictionary entry. Without this, a user typing "Phishing" would not match the key "phishing" and the bot would fall through to the fallback response.</a:t>
            </a:r>
          </a:p>
          <a:p>
            <a:r>
              <a:rPr lang="en-GB" b="1" dirty="0"/>
              <a:t>The 40 entries</a:t>
            </a:r>
            <a:r>
              <a:rPr lang="en-GB" dirty="0"/>
              <a:t> are organised into five categories of ten. Each key is a keyword the user might type. The value is one or more responses separated by the pipe character (|). When </a:t>
            </a:r>
            <a:r>
              <a:rPr lang="en-GB" dirty="0" err="1"/>
              <a:t>GetRandomResponse</a:t>
            </a:r>
            <a:r>
              <a:rPr lang="en-GB" dirty="0"/>
              <a:t>() processes a value that contains |, it splits on that character and randomly returns one of the segments. This gives the bot variety — the same keyword can produce different answers on different calls.</a:t>
            </a:r>
          </a:p>
          <a:p>
            <a:r>
              <a:rPr lang="en-GB" b="1" dirty="0"/>
              <a:t>The five categories:</a:t>
            </a:r>
            <a:endParaRPr lang="en-GB" dirty="0"/>
          </a:p>
          <a:p>
            <a:r>
              <a:rPr lang="en-GB" dirty="0"/>
              <a:t>Passwords and Authentication (10 entries): password, strong password, passphrase, pin, login safety, credentials, 2fa, enable 2fa, </a:t>
            </a:r>
            <a:r>
              <a:rPr lang="en-GB" dirty="0" err="1"/>
              <a:t>mfa</a:t>
            </a:r>
            <a:r>
              <a:rPr lang="en-GB" dirty="0"/>
              <a:t>, biometrics</a:t>
            </a:r>
          </a:p>
          <a:p>
            <a:r>
              <a:rPr lang="en-GB" dirty="0"/>
              <a:t>Phishing and Scams (10 entries): phishing, spot phishing, report phishing, scam, avoid scams, smishing, vishing, email security, fake website, spam</a:t>
            </a:r>
          </a:p>
          <a:p>
            <a:br>
              <a:rPr lang="en-GB" dirty="0"/>
            </a:br>
            <a:endParaRPr lang="en-GB" dirty="0"/>
          </a:p>
          <a:p>
            <a:br>
              <a:rPr lang="en-GB" dirty="0"/>
            </a:br>
            <a:endParaRPr lang="en-GB" dirty="0"/>
          </a:p>
          <a:p>
            <a:endParaRPr lang="en-GB" dirty="0"/>
          </a:p>
        </p:txBody>
      </p:sp>
      <p:sp>
        <p:nvSpPr>
          <p:cNvPr id="3" name="Footer Placeholder 2">
            <a:extLst>
              <a:ext uri="{FF2B5EF4-FFF2-40B4-BE49-F238E27FC236}">
                <a16:creationId xmlns:a16="http://schemas.microsoft.com/office/drawing/2014/main" id="{0EFA3D1F-A960-992C-585E-E4D39D11E487}"/>
              </a:ext>
            </a:extLst>
          </p:cNvPr>
          <p:cNvSpPr>
            <a:spLocks noGrp="1"/>
          </p:cNvSpPr>
          <p:nvPr>
            <p:ph type="ftr" sz="quarter" idx="16"/>
          </p:nvPr>
        </p:nvSpPr>
        <p:spPr>
          <a:xfrm>
            <a:off x="3067619" y="6356350"/>
            <a:ext cx="4114800" cy="365125"/>
          </a:xfrm>
        </p:spPr>
        <p:txBody>
          <a:bodyPr vert="horz" lIns="91440" tIns="45720" rIns="91440" bIns="45720" rtlCol="0" anchor="ctr">
            <a:normAutofit/>
          </a:bodyPr>
          <a:lstStyle/>
          <a:p>
            <a:pPr algn="ctr">
              <a:spcAft>
                <a:spcPts val="600"/>
              </a:spcAft>
              <a:defRPr/>
            </a:pPr>
            <a:r>
              <a:rPr lang="en-US" sz="1200" kern="1200" spc="0" dirty="0">
                <a:solidFill>
                  <a:srgbClr val="FFFFFF"/>
                </a:solidFill>
                <a:latin typeface="Calibri" panose="020F0502020204030204"/>
                <a:ea typeface="+mn-ea"/>
                <a:cs typeface="+mn-cs"/>
              </a:rPr>
              <a:t>Moyagabo Raphasha</a:t>
            </a:r>
          </a:p>
        </p:txBody>
      </p:sp>
      <p:sp>
        <p:nvSpPr>
          <p:cNvPr id="5" name="Slide Number Placeholder 4">
            <a:extLst>
              <a:ext uri="{FF2B5EF4-FFF2-40B4-BE49-F238E27FC236}">
                <a16:creationId xmlns:a16="http://schemas.microsoft.com/office/drawing/2014/main" id="{E8B3BFFA-411C-3BB6-482D-0A084403E728}"/>
              </a:ext>
            </a:extLst>
          </p:cNvPr>
          <p:cNvSpPr>
            <a:spLocks noGrp="1"/>
          </p:cNvSpPr>
          <p:nvPr>
            <p:ph type="sldNum" sz="quarter" idx="17"/>
          </p:nvPr>
        </p:nvSpPr>
        <p:spPr>
          <a:xfrm>
            <a:off x="8610600" y="6356350"/>
            <a:ext cx="2743200" cy="365125"/>
          </a:xfrm>
        </p:spPr>
        <p:txBody>
          <a:bodyPr vert="horz" lIns="91440" tIns="45720" rIns="91440" bIns="45720" rtlCol="0" anchor="ctr">
            <a:normAutofit/>
          </a:bodyPr>
          <a:lstStyle/>
          <a:p>
            <a:pPr>
              <a:spcAft>
                <a:spcPts val="600"/>
              </a:spcAft>
              <a:defRPr/>
            </a:pPr>
            <a:fld id="{24D65F33-A771-944D-9289-CA575F1D1B7F}" type="slidenum">
              <a:rPr lang="en-US" sz="1200" spc="0" smtClean="0">
                <a:solidFill>
                  <a:prstClr val="black">
                    <a:tint val="75000"/>
                  </a:prstClr>
                </a:solidFill>
                <a:latin typeface="Calibri" panose="020F0502020204030204"/>
              </a:rPr>
              <a:pPr>
                <a:spcAft>
                  <a:spcPts val="600"/>
                </a:spcAft>
                <a:defRPr/>
              </a:pPr>
              <a:t>28</a:t>
            </a:fld>
            <a:endParaRPr lang="en-US" sz="1200" spc="0" dirty="0">
              <a:solidFill>
                <a:prstClr val="black">
                  <a:tint val="75000"/>
                </a:prstClr>
              </a:solidFill>
              <a:latin typeface="Calibri" panose="020F0502020204030204"/>
            </a:endParaRPr>
          </a:p>
        </p:txBody>
      </p:sp>
      <p:sp>
        <p:nvSpPr>
          <p:cNvPr id="4" name="TextBox 3">
            <a:extLst>
              <a:ext uri="{FF2B5EF4-FFF2-40B4-BE49-F238E27FC236}">
                <a16:creationId xmlns:a16="http://schemas.microsoft.com/office/drawing/2014/main" id="{1AF7A4A5-E356-B506-39F5-905F75A92633}"/>
              </a:ext>
            </a:extLst>
          </p:cNvPr>
          <p:cNvSpPr txBox="1"/>
          <p:nvPr/>
        </p:nvSpPr>
        <p:spPr>
          <a:xfrm>
            <a:off x="1495245" y="12038043"/>
            <a:ext cx="9144000" cy="317500"/>
          </a:xfrm>
          <a:prstGeom prst="rect">
            <a:avLst/>
          </a:prstGeom>
        </p:spPr>
        <p:txBody>
          <a:bodyPr>
            <a:normAutofit lnSpcReduction="10000"/>
          </a:bodyPr>
          <a:lstStyle/>
          <a:p>
            <a:pPr>
              <a:lnSpc>
                <a:spcPct val="90000"/>
              </a:lnSpc>
              <a:spcAft>
                <a:spcPts val="600"/>
              </a:spcAft>
            </a:pPr>
            <a:r>
              <a:rPr lang="en-US" sz="1700"/>
              <a:t>ThePhoto by PhotoAuthor is licensed under CCYYSA.</a:t>
            </a:r>
          </a:p>
        </p:txBody>
      </p:sp>
    </p:spTree>
    <p:extLst>
      <p:ext uri="{BB962C8B-B14F-4D97-AF65-F5344CB8AC3E}">
        <p14:creationId xmlns:p14="http://schemas.microsoft.com/office/powerpoint/2010/main" val="702170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CF4692E-CEB6-B68B-1CD5-1C4F89551056}"/>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27CBDA11-8FD2-42C1-B9D6-9072D1918E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Placeholder 8">
            <a:extLst>
              <a:ext uri="{FF2B5EF4-FFF2-40B4-BE49-F238E27FC236}">
                <a16:creationId xmlns:a16="http://schemas.microsoft.com/office/drawing/2014/main" id="{4ABC7BD2-BA61-1821-708B-986E8D5EF7D4}"/>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l="2942" r="2941" b="-1"/>
          <a:stretch>
            <a:fillRect/>
          </a:stretch>
        </p:blipFill>
        <p:spPr>
          <a:xfrm>
            <a:off x="1" y="10"/>
            <a:ext cx="9669642" cy="6857990"/>
          </a:xfrm>
          <a:prstGeom prst="rect">
            <a:avLst/>
          </a:prstGeom>
        </p:spPr>
      </p:pic>
      <p:sp>
        <p:nvSpPr>
          <p:cNvPr id="24" name="Rectangle 23">
            <a:extLst>
              <a:ext uri="{FF2B5EF4-FFF2-40B4-BE49-F238E27FC236}">
                <a16:creationId xmlns:a16="http://schemas.microsoft.com/office/drawing/2014/main" id="{4A561974-879D-B765-A8D1-619E8289FE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itle 14">
            <a:extLst>
              <a:ext uri="{FF2B5EF4-FFF2-40B4-BE49-F238E27FC236}">
                <a16:creationId xmlns:a16="http://schemas.microsoft.com/office/drawing/2014/main" id="{3D1A9FD2-EE61-40CA-8138-E56959482740}"/>
              </a:ext>
            </a:extLst>
          </p:cNvPr>
          <p:cNvSpPr>
            <a:spLocks noGrp="1"/>
          </p:cNvSpPr>
          <p:nvPr>
            <p:ph type="title"/>
          </p:nvPr>
        </p:nvSpPr>
        <p:spPr>
          <a:xfrm>
            <a:off x="7599615" y="-493357"/>
            <a:ext cx="3822189" cy="1899912"/>
          </a:xfrm>
        </p:spPr>
        <p:txBody>
          <a:bodyPr vert="horz" lIns="91440" tIns="45720" rIns="91440" bIns="45720" rtlCol="0" anchor="ctr">
            <a:normAutofit/>
          </a:bodyPr>
          <a:lstStyle/>
          <a:p>
            <a:r>
              <a:rPr lang="en-US" sz="2800" dirty="0" err="1"/>
              <a:t>MainWindow.xaml.cs</a:t>
            </a:r>
            <a:endParaRPr lang="en-US" sz="2800" dirty="0"/>
          </a:p>
        </p:txBody>
      </p:sp>
      <p:sp>
        <p:nvSpPr>
          <p:cNvPr id="17" name="Text Placeholder 16">
            <a:extLst>
              <a:ext uri="{FF2B5EF4-FFF2-40B4-BE49-F238E27FC236}">
                <a16:creationId xmlns:a16="http://schemas.microsoft.com/office/drawing/2014/main" id="{BD278555-DF53-8794-93E5-A352943C9103}"/>
              </a:ext>
            </a:extLst>
          </p:cNvPr>
          <p:cNvSpPr>
            <a:spLocks noGrp="1"/>
          </p:cNvSpPr>
          <p:nvPr>
            <p:ph type="body" sz="quarter" idx="4294967295"/>
          </p:nvPr>
        </p:nvSpPr>
        <p:spPr>
          <a:xfrm>
            <a:off x="7467462" y="726831"/>
            <a:ext cx="4490076" cy="4191526"/>
          </a:xfrm>
        </p:spPr>
        <p:txBody>
          <a:bodyPr vert="horz" lIns="91440" tIns="45720" rIns="91440" bIns="45720" rtlCol="0">
            <a:noAutofit/>
          </a:bodyPr>
          <a:lstStyle/>
          <a:p>
            <a:r>
              <a:rPr lang="en-GB" dirty="0"/>
              <a:t>Malware and Threats (10 entries): malware, protect from malware, ransomware, virus, trojan, spyware, hacker, data breach, respond to breach, </a:t>
            </a:r>
            <a:r>
              <a:rPr lang="en-GB" dirty="0" err="1"/>
              <a:t>ddos</a:t>
            </a:r>
            <a:r>
              <a:rPr lang="en-GB" dirty="0"/>
              <a:t> attack</a:t>
            </a:r>
          </a:p>
          <a:p>
            <a:r>
              <a:rPr lang="en-GB" dirty="0"/>
              <a:t>Network and Device Security (10 entries): </a:t>
            </a:r>
            <a:r>
              <a:rPr lang="en-GB" dirty="0" err="1"/>
              <a:t>wifi</a:t>
            </a:r>
            <a:r>
              <a:rPr lang="en-GB" dirty="0"/>
              <a:t> security, </a:t>
            </a:r>
            <a:r>
              <a:rPr lang="en-GB" dirty="0" err="1"/>
              <a:t>vpn</a:t>
            </a:r>
            <a:r>
              <a:rPr lang="en-GB" dirty="0"/>
              <a:t>, firewall, update software, backup data, encryption, public </a:t>
            </a:r>
            <a:r>
              <a:rPr lang="en-GB" dirty="0" err="1"/>
              <a:t>wifi</a:t>
            </a:r>
            <a:r>
              <a:rPr lang="en-GB" dirty="0"/>
              <a:t>, router security, antivirus, patch management</a:t>
            </a:r>
          </a:p>
          <a:p>
            <a:r>
              <a:rPr lang="en-GB" dirty="0"/>
              <a:t>Privacy and Safe Browsing (10 entries): privacy, protect privacy, safe browsing, https, cookies, tracking, </a:t>
            </a:r>
            <a:r>
              <a:rPr lang="en-GB" dirty="0" err="1"/>
              <a:t>popia</a:t>
            </a:r>
            <a:r>
              <a:rPr lang="en-GB" dirty="0"/>
              <a:t>, </a:t>
            </a:r>
            <a:r>
              <a:rPr lang="en-GB" dirty="0" err="1"/>
              <a:t>gdpr</a:t>
            </a:r>
            <a:r>
              <a:rPr lang="en-GB" dirty="0"/>
              <a:t>, identity theft, secure download</a:t>
            </a:r>
          </a:p>
          <a:p>
            <a:r>
              <a:rPr lang="en-GB" b="1" dirty="0"/>
              <a:t>Why it is in its own method:</a:t>
            </a:r>
            <a:r>
              <a:rPr lang="en-GB" dirty="0"/>
              <a:t> If all 40 entries were written directly inside </a:t>
            </a:r>
            <a:r>
              <a:rPr lang="en-GB" dirty="0" err="1"/>
              <a:t>InitializeChat</a:t>
            </a:r>
            <a:r>
              <a:rPr lang="en-GB" dirty="0"/>
              <a:t>(), that method would be several hundred lines long and very hard to read. Separating it into </a:t>
            </a:r>
            <a:r>
              <a:rPr lang="en-GB" dirty="0" err="1"/>
              <a:t>CreateDefinitionsDictionary</a:t>
            </a:r>
            <a:r>
              <a:rPr lang="en-GB" dirty="0"/>
              <a:t>() keeps each method focused on one job — a principle called single responsibility</a:t>
            </a:r>
          </a:p>
          <a:p>
            <a:br>
              <a:rPr lang="en-GB" dirty="0"/>
            </a:br>
            <a:endParaRPr lang="en-GB" dirty="0"/>
          </a:p>
          <a:p>
            <a:br>
              <a:rPr lang="en-GB" dirty="0"/>
            </a:br>
            <a:endParaRPr lang="en-GB" dirty="0"/>
          </a:p>
          <a:p>
            <a:endParaRPr lang="en-GB" dirty="0"/>
          </a:p>
        </p:txBody>
      </p:sp>
      <p:sp>
        <p:nvSpPr>
          <p:cNvPr id="3" name="Footer Placeholder 2">
            <a:extLst>
              <a:ext uri="{FF2B5EF4-FFF2-40B4-BE49-F238E27FC236}">
                <a16:creationId xmlns:a16="http://schemas.microsoft.com/office/drawing/2014/main" id="{67B2B683-55C3-E144-EAA1-40239AC50C3A}"/>
              </a:ext>
            </a:extLst>
          </p:cNvPr>
          <p:cNvSpPr>
            <a:spLocks noGrp="1"/>
          </p:cNvSpPr>
          <p:nvPr>
            <p:ph type="ftr" sz="quarter" idx="16"/>
          </p:nvPr>
        </p:nvSpPr>
        <p:spPr>
          <a:xfrm>
            <a:off x="3067619" y="6356350"/>
            <a:ext cx="4114800" cy="365125"/>
          </a:xfrm>
        </p:spPr>
        <p:txBody>
          <a:bodyPr vert="horz" lIns="91440" tIns="45720" rIns="91440" bIns="45720" rtlCol="0" anchor="ctr">
            <a:normAutofit/>
          </a:bodyPr>
          <a:lstStyle/>
          <a:p>
            <a:pPr algn="ctr">
              <a:spcAft>
                <a:spcPts val="600"/>
              </a:spcAft>
              <a:defRPr/>
            </a:pPr>
            <a:r>
              <a:rPr lang="en-US" sz="1200" kern="1200" spc="0" dirty="0">
                <a:solidFill>
                  <a:srgbClr val="FFFFFF"/>
                </a:solidFill>
                <a:latin typeface="Calibri" panose="020F0502020204030204"/>
                <a:ea typeface="+mn-ea"/>
                <a:cs typeface="+mn-cs"/>
              </a:rPr>
              <a:t>Moyagabo Raphasha</a:t>
            </a:r>
          </a:p>
        </p:txBody>
      </p:sp>
      <p:sp>
        <p:nvSpPr>
          <p:cNvPr id="5" name="Slide Number Placeholder 4">
            <a:extLst>
              <a:ext uri="{FF2B5EF4-FFF2-40B4-BE49-F238E27FC236}">
                <a16:creationId xmlns:a16="http://schemas.microsoft.com/office/drawing/2014/main" id="{1CEDE09F-9DDF-30DE-AC4D-5D529A590685}"/>
              </a:ext>
            </a:extLst>
          </p:cNvPr>
          <p:cNvSpPr>
            <a:spLocks noGrp="1"/>
          </p:cNvSpPr>
          <p:nvPr>
            <p:ph type="sldNum" sz="quarter" idx="17"/>
          </p:nvPr>
        </p:nvSpPr>
        <p:spPr>
          <a:xfrm>
            <a:off x="8610600" y="6356350"/>
            <a:ext cx="2743200" cy="365125"/>
          </a:xfrm>
        </p:spPr>
        <p:txBody>
          <a:bodyPr vert="horz" lIns="91440" tIns="45720" rIns="91440" bIns="45720" rtlCol="0" anchor="ctr">
            <a:normAutofit/>
          </a:bodyPr>
          <a:lstStyle/>
          <a:p>
            <a:pPr>
              <a:spcAft>
                <a:spcPts val="600"/>
              </a:spcAft>
              <a:defRPr/>
            </a:pPr>
            <a:fld id="{24D65F33-A771-944D-9289-CA575F1D1B7F}" type="slidenum">
              <a:rPr lang="en-US" sz="1200" spc="0" smtClean="0">
                <a:solidFill>
                  <a:prstClr val="black">
                    <a:tint val="75000"/>
                  </a:prstClr>
                </a:solidFill>
                <a:latin typeface="Calibri" panose="020F0502020204030204"/>
              </a:rPr>
              <a:pPr>
                <a:spcAft>
                  <a:spcPts val="600"/>
                </a:spcAft>
                <a:defRPr/>
              </a:pPr>
              <a:t>29</a:t>
            </a:fld>
            <a:endParaRPr lang="en-US" sz="1200" spc="0" dirty="0">
              <a:solidFill>
                <a:prstClr val="black">
                  <a:tint val="75000"/>
                </a:prstClr>
              </a:solidFill>
              <a:latin typeface="Calibri" panose="020F0502020204030204"/>
            </a:endParaRPr>
          </a:p>
        </p:txBody>
      </p:sp>
      <p:sp>
        <p:nvSpPr>
          <p:cNvPr id="4" name="TextBox 3">
            <a:extLst>
              <a:ext uri="{FF2B5EF4-FFF2-40B4-BE49-F238E27FC236}">
                <a16:creationId xmlns:a16="http://schemas.microsoft.com/office/drawing/2014/main" id="{7603C993-69BC-5D06-2B7B-0075E7B5C224}"/>
              </a:ext>
            </a:extLst>
          </p:cNvPr>
          <p:cNvSpPr txBox="1"/>
          <p:nvPr/>
        </p:nvSpPr>
        <p:spPr>
          <a:xfrm>
            <a:off x="1495245" y="12038043"/>
            <a:ext cx="9144000" cy="317500"/>
          </a:xfrm>
          <a:prstGeom prst="rect">
            <a:avLst/>
          </a:prstGeom>
        </p:spPr>
        <p:txBody>
          <a:bodyPr>
            <a:normAutofit lnSpcReduction="10000"/>
          </a:bodyPr>
          <a:lstStyle/>
          <a:p>
            <a:pPr>
              <a:lnSpc>
                <a:spcPct val="90000"/>
              </a:lnSpc>
              <a:spcAft>
                <a:spcPts val="600"/>
              </a:spcAft>
            </a:pPr>
            <a:r>
              <a:rPr lang="en-US" sz="1700"/>
              <a:t>ThePhoto by PhotoAuthor is licensed under CCYYSA.</a:t>
            </a:r>
          </a:p>
        </p:txBody>
      </p:sp>
    </p:spTree>
    <p:extLst>
      <p:ext uri="{BB962C8B-B14F-4D97-AF65-F5344CB8AC3E}">
        <p14:creationId xmlns:p14="http://schemas.microsoft.com/office/powerpoint/2010/main" val="4554124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94ECF5C-CD59-390F-E5E9-D5B735E483C1}"/>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95E2D4C2-930A-5D79-7D0C-39389FD28A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Placeholder 8">
            <a:extLst>
              <a:ext uri="{FF2B5EF4-FFF2-40B4-BE49-F238E27FC236}">
                <a16:creationId xmlns:a16="http://schemas.microsoft.com/office/drawing/2014/main" id="{31CD05BA-2314-F21D-E1CF-14C217B82724}"/>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l="2942" r="2941" b="-1"/>
          <a:stretch>
            <a:fillRect/>
          </a:stretch>
        </p:blipFill>
        <p:spPr>
          <a:xfrm>
            <a:off x="1" y="10"/>
            <a:ext cx="9669642" cy="6857990"/>
          </a:xfrm>
          <a:prstGeom prst="rect">
            <a:avLst/>
          </a:prstGeom>
        </p:spPr>
      </p:pic>
      <p:sp>
        <p:nvSpPr>
          <p:cNvPr id="24" name="Rectangle 23">
            <a:extLst>
              <a:ext uri="{FF2B5EF4-FFF2-40B4-BE49-F238E27FC236}">
                <a16:creationId xmlns:a16="http://schemas.microsoft.com/office/drawing/2014/main" id="{2D8A880C-A5E1-B8C3-5944-3C04A325F8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itle 14">
            <a:extLst>
              <a:ext uri="{FF2B5EF4-FFF2-40B4-BE49-F238E27FC236}">
                <a16:creationId xmlns:a16="http://schemas.microsoft.com/office/drawing/2014/main" id="{22B22413-DA65-1A29-8A90-726EAE8300C1}"/>
              </a:ext>
            </a:extLst>
          </p:cNvPr>
          <p:cNvSpPr>
            <a:spLocks noGrp="1"/>
          </p:cNvSpPr>
          <p:nvPr>
            <p:ph type="title"/>
          </p:nvPr>
        </p:nvSpPr>
        <p:spPr>
          <a:xfrm>
            <a:off x="7599615" y="-493357"/>
            <a:ext cx="3822189" cy="1899912"/>
          </a:xfrm>
        </p:spPr>
        <p:txBody>
          <a:bodyPr vert="horz" lIns="91440" tIns="45720" rIns="91440" bIns="45720" rtlCol="0" anchor="ctr">
            <a:normAutofit/>
          </a:bodyPr>
          <a:lstStyle/>
          <a:p>
            <a:r>
              <a:rPr lang="en-US" sz="2800" dirty="0" err="1"/>
              <a:t>MainWindow.xaml.cs</a:t>
            </a:r>
            <a:endParaRPr lang="en-US" sz="2800" dirty="0"/>
          </a:p>
        </p:txBody>
      </p:sp>
      <p:sp>
        <p:nvSpPr>
          <p:cNvPr id="17" name="Text Placeholder 16">
            <a:extLst>
              <a:ext uri="{FF2B5EF4-FFF2-40B4-BE49-F238E27FC236}">
                <a16:creationId xmlns:a16="http://schemas.microsoft.com/office/drawing/2014/main" id="{98CBB259-49CF-A20F-D7E5-7840EC79492E}"/>
              </a:ext>
            </a:extLst>
          </p:cNvPr>
          <p:cNvSpPr>
            <a:spLocks noGrp="1"/>
          </p:cNvSpPr>
          <p:nvPr>
            <p:ph type="body" sz="quarter" idx="4294967295"/>
          </p:nvPr>
        </p:nvSpPr>
        <p:spPr>
          <a:xfrm>
            <a:off x="7467462" y="726831"/>
            <a:ext cx="4490076" cy="4191526"/>
          </a:xfrm>
        </p:spPr>
        <p:txBody>
          <a:bodyPr vert="horz" lIns="91440" tIns="45720" rIns="91440" bIns="45720" rtlCol="0">
            <a:noAutofit/>
          </a:bodyPr>
          <a:lstStyle/>
          <a:p>
            <a:r>
              <a:rPr lang="en-GB" b="1" dirty="0"/>
              <a:t>METHOD — </a:t>
            </a:r>
            <a:r>
              <a:rPr lang="en-GB" b="1" dirty="0" err="1"/>
              <a:t>AddUserMessage</a:t>
            </a:r>
            <a:r>
              <a:rPr lang="en-GB" b="1" dirty="0"/>
              <a:t>(string text)</a:t>
            </a:r>
          </a:p>
          <a:p>
            <a:r>
              <a:rPr lang="en-GB" dirty="0" err="1"/>
              <a:t>csharp</a:t>
            </a:r>
            <a:endParaRPr lang="en-GB" dirty="0"/>
          </a:p>
          <a:p>
            <a:r>
              <a:rPr lang="en-GB" dirty="0"/>
              <a:t>private void </a:t>
            </a:r>
            <a:r>
              <a:rPr lang="en-GB" dirty="0" err="1"/>
              <a:t>AddUserMessage</a:t>
            </a:r>
            <a:r>
              <a:rPr lang="en-GB" dirty="0"/>
              <a:t>(string text)</a:t>
            </a:r>
          </a:p>
          <a:p>
            <a:r>
              <a:rPr lang="en-GB" dirty="0"/>
              <a:t>{</a:t>
            </a:r>
          </a:p>
          <a:p>
            <a:r>
              <a:rPr lang="en-GB" dirty="0"/>
              <a:t>    _</a:t>
            </a:r>
            <a:r>
              <a:rPr lang="en-GB" dirty="0" err="1"/>
              <a:t>messages.Add</a:t>
            </a:r>
            <a:r>
              <a:rPr lang="en-GB" dirty="0"/>
              <a:t>(new </a:t>
            </a:r>
            <a:r>
              <a:rPr lang="en-GB" dirty="0" err="1"/>
              <a:t>ChatMessage</a:t>
            </a:r>
            <a:r>
              <a:rPr lang="en-GB" dirty="0"/>
              <a:t> { Text = text, Background = "#00d4ff", Foreground = "#1a1a2e", Alignment = </a:t>
            </a:r>
            <a:r>
              <a:rPr lang="en-GB" dirty="0" err="1"/>
              <a:t>HorizontalAlignment.Right</a:t>
            </a:r>
            <a:r>
              <a:rPr lang="en-GB" dirty="0"/>
              <a:t> });</a:t>
            </a:r>
          </a:p>
          <a:p>
            <a:r>
              <a:rPr lang="en-GB" dirty="0"/>
              <a:t>    </a:t>
            </a:r>
            <a:r>
              <a:rPr lang="en-GB" dirty="0" err="1"/>
              <a:t>ChatScroll.ScrollToEnd</a:t>
            </a:r>
            <a:r>
              <a:rPr lang="en-GB" dirty="0"/>
              <a:t>();</a:t>
            </a:r>
          </a:p>
          <a:p>
            <a:r>
              <a:rPr lang="en-GB" dirty="0"/>
              <a:t>}</a:t>
            </a:r>
          </a:p>
          <a:p>
            <a:r>
              <a:rPr lang="en-GB" dirty="0"/>
              <a:t>Identical structure to </a:t>
            </a:r>
            <a:r>
              <a:rPr lang="en-GB" dirty="0" err="1"/>
              <a:t>AddBotMessage</a:t>
            </a:r>
            <a:r>
              <a:rPr lang="en-GB" dirty="0"/>
              <a:t> but with different styling to visually distinguish the user's messages from the bot's messages.</a:t>
            </a:r>
          </a:p>
          <a:p>
            <a:r>
              <a:rPr lang="en-GB" b="1" dirty="0"/>
              <a:t>Property values set:</a:t>
            </a:r>
            <a:endParaRPr lang="en-GB" dirty="0"/>
          </a:p>
          <a:p>
            <a:r>
              <a:rPr lang="en-GB" dirty="0"/>
              <a:t>Background = "#00d4ff" — bright cyan, distinct from the bot's dark navy</a:t>
            </a:r>
          </a:p>
          <a:p>
            <a:r>
              <a:rPr lang="en-GB" dirty="0"/>
              <a:t>Foreground = "#1a1a2e" — very dark (near black), because dark text on a bright cyan background gives better contrast and readability than white text would</a:t>
            </a:r>
          </a:p>
          <a:p>
            <a:endParaRPr lang="en-GB" dirty="0"/>
          </a:p>
        </p:txBody>
      </p:sp>
      <p:sp>
        <p:nvSpPr>
          <p:cNvPr id="3" name="Footer Placeholder 2">
            <a:extLst>
              <a:ext uri="{FF2B5EF4-FFF2-40B4-BE49-F238E27FC236}">
                <a16:creationId xmlns:a16="http://schemas.microsoft.com/office/drawing/2014/main" id="{71F92A8C-3F5C-A2F6-2E05-759C5DCEFF42}"/>
              </a:ext>
            </a:extLst>
          </p:cNvPr>
          <p:cNvSpPr>
            <a:spLocks noGrp="1"/>
          </p:cNvSpPr>
          <p:nvPr>
            <p:ph type="ftr" sz="quarter" idx="16"/>
          </p:nvPr>
        </p:nvSpPr>
        <p:spPr>
          <a:xfrm>
            <a:off x="3067619" y="6356350"/>
            <a:ext cx="4114800" cy="365125"/>
          </a:xfrm>
        </p:spPr>
        <p:txBody>
          <a:bodyPr vert="horz" lIns="91440" tIns="45720" rIns="91440" bIns="45720" rtlCol="0" anchor="ctr">
            <a:normAutofit/>
          </a:bodyPr>
          <a:lstStyle/>
          <a:p>
            <a:pPr algn="ctr">
              <a:spcAft>
                <a:spcPts val="600"/>
              </a:spcAft>
              <a:defRPr/>
            </a:pPr>
            <a:r>
              <a:rPr lang="en-US" sz="1200" kern="1200" spc="0" dirty="0">
                <a:solidFill>
                  <a:srgbClr val="FFFFFF"/>
                </a:solidFill>
                <a:latin typeface="Calibri" panose="020F0502020204030204"/>
                <a:ea typeface="+mn-ea"/>
                <a:cs typeface="+mn-cs"/>
              </a:rPr>
              <a:t>Moyagabo Raphasha</a:t>
            </a:r>
          </a:p>
        </p:txBody>
      </p:sp>
      <p:sp>
        <p:nvSpPr>
          <p:cNvPr id="5" name="Slide Number Placeholder 4">
            <a:extLst>
              <a:ext uri="{FF2B5EF4-FFF2-40B4-BE49-F238E27FC236}">
                <a16:creationId xmlns:a16="http://schemas.microsoft.com/office/drawing/2014/main" id="{21775590-97F3-BC58-C384-0E0C6E59B15B}"/>
              </a:ext>
            </a:extLst>
          </p:cNvPr>
          <p:cNvSpPr>
            <a:spLocks noGrp="1"/>
          </p:cNvSpPr>
          <p:nvPr>
            <p:ph type="sldNum" sz="quarter" idx="17"/>
          </p:nvPr>
        </p:nvSpPr>
        <p:spPr>
          <a:xfrm>
            <a:off x="8610600" y="6356350"/>
            <a:ext cx="2743200" cy="365125"/>
          </a:xfrm>
        </p:spPr>
        <p:txBody>
          <a:bodyPr vert="horz" lIns="91440" tIns="45720" rIns="91440" bIns="45720" rtlCol="0" anchor="ctr">
            <a:normAutofit/>
          </a:bodyPr>
          <a:lstStyle/>
          <a:p>
            <a:pPr>
              <a:spcAft>
                <a:spcPts val="600"/>
              </a:spcAft>
              <a:defRPr/>
            </a:pPr>
            <a:fld id="{24D65F33-A771-944D-9289-CA575F1D1B7F}" type="slidenum">
              <a:rPr lang="en-US" sz="1200" spc="0" smtClean="0">
                <a:solidFill>
                  <a:prstClr val="black">
                    <a:tint val="75000"/>
                  </a:prstClr>
                </a:solidFill>
                <a:latin typeface="Calibri" panose="020F0502020204030204"/>
              </a:rPr>
              <a:pPr>
                <a:spcAft>
                  <a:spcPts val="600"/>
                </a:spcAft>
                <a:defRPr/>
              </a:pPr>
              <a:t>30</a:t>
            </a:fld>
            <a:endParaRPr lang="en-US" sz="1200" spc="0" dirty="0">
              <a:solidFill>
                <a:prstClr val="black">
                  <a:tint val="75000"/>
                </a:prstClr>
              </a:solidFill>
              <a:latin typeface="Calibri" panose="020F0502020204030204"/>
            </a:endParaRPr>
          </a:p>
        </p:txBody>
      </p:sp>
      <p:sp>
        <p:nvSpPr>
          <p:cNvPr id="4" name="TextBox 3">
            <a:extLst>
              <a:ext uri="{FF2B5EF4-FFF2-40B4-BE49-F238E27FC236}">
                <a16:creationId xmlns:a16="http://schemas.microsoft.com/office/drawing/2014/main" id="{0453780F-650D-941A-1EF7-428A265996CF}"/>
              </a:ext>
            </a:extLst>
          </p:cNvPr>
          <p:cNvSpPr txBox="1"/>
          <p:nvPr/>
        </p:nvSpPr>
        <p:spPr>
          <a:xfrm>
            <a:off x="1495245" y="12038043"/>
            <a:ext cx="9144000" cy="317500"/>
          </a:xfrm>
          <a:prstGeom prst="rect">
            <a:avLst/>
          </a:prstGeom>
        </p:spPr>
        <p:txBody>
          <a:bodyPr>
            <a:normAutofit lnSpcReduction="10000"/>
          </a:bodyPr>
          <a:lstStyle/>
          <a:p>
            <a:pPr>
              <a:lnSpc>
                <a:spcPct val="90000"/>
              </a:lnSpc>
              <a:spcAft>
                <a:spcPts val="600"/>
              </a:spcAft>
            </a:pPr>
            <a:r>
              <a:rPr lang="en-US" sz="1700"/>
              <a:t>ThePhoto by PhotoAuthor is licensed under CCYYSA.</a:t>
            </a:r>
          </a:p>
        </p:txBody>
      </p:sp>
    </p:spTree>
    <p:extLst>
      <p:ext uri="{BB962C8B-B14F-4D97-AF65-F5344CB8AC3E}">
        <p14:creationId xmlns:p14="http://schemas.microsoft.com/office/powerpoint/2010/main" val="19694127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C2872FD-5333-2C80-DA1E-C4070D543351}"/>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86E1687-A1E8-5FF4-9818-D3582A44FA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Placeholder 8">
            <a:extLst>
              <a:ext uri="{FF2B5EF4-FFF2-40B4-BE49-F238E27FC236}">
                <a16:creationId xmlns:a16="http://schemas.microsoft.com/office/drawing/2014/main" id="{C2B1996D-4BA9-EEF9-2F75-60BDD5799910}"/>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l="2942" r="2941" b="-1"/>
          <a:stretch>
            <a:fillRect/>
          </a:stretch>
        </p:blipFill>
        <p:spPr>
          <a:xfrm>
            <a:off x="1" y="10"/>
            <a:ext cx="9669642" cy="6857990"/>
          </a:xfrm>
          <a:prstGeom prst="rect">
            <a:avLst/>
          </a:prstGeom>
        </p:spPr>
      </p:pic>
      <p:sp>
        <p:nvSpPr>
          <p:cNvPr id="24" name="Rectangle 23">
            <a:extLst>
              <a:ext uri="{FF2B5EF4-FFF2-40B4-BE49-F238E27FC236}">
                <a16:creationId xmlns:a16="http://schemas.microsoft.com/office/drawing/2014/main" id="{FC403BA6-E8F6-82A0-8E7C-5BC2C73515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itle 14">
            <a:extLst>
              <a:ext uri="{FF2B5EF4-FFF2-40B4-BE49-F238E27FC236}">
                <a16:creationId xmlns:a16="http://schemas.microsoft.com/office/drawing/2014/main" id="{18DD2513-18D5-5194-0A04-BD0E92AD14FA}"/>
              </a:ext>
            </a:extLst>
          </p:cNvPr>
          <p:cNvSpPr>
            <a:spLocks noGrp="1"/>
          </p:cNvSpPr>
          <p:nvPr>
            <p:ph type="title"/>
          </p:nvPr>
        </p:nvSpPr>
        <p:spPr>
          <a:xfrm>
            <a:off x="7599615" y="-493357"/>
            <a:ext cx="3822189" cy="1899912"/>
          </a:xfrm>
        </p:spPr>
        <p:txBody>
          <a:bodyPr vert="horz" lIns="91440" tIns="45720" rIns="91440" bIns="45720" rtlCol="0" anchor="ctr">
            <a:normAutofit/>
          </a:bodyPr>
          <a:lstStyle/>
          <a:p>
            <a:r>
              <a:rPr lang="en-US" sz="2800" dirty="0" err="1"/>
              <a:t>MainWindow.xaml.cs</a:t>
            </a:r>
            <a:endParaRPr lang="en-US" sz="2800" dirty="0"/>
          </a:p>
        </p:txBody>
      </p:sp>
      <p:sp>
        <p:nvSpPr>
          <p:cNvPr id="17" name="Text Placeholder 16">
            <a:extLst>
              <a:ext uri="{FF2B5EF4-FFF2-40B4-BE49-F238E27FC236}">
                <a16:creationId xmlns:a16="http://schemas.microsoft.com/office/drawing/2014/main" id="{E2F0DB24-4568-03EC-9A8A-48CAB58BF499}"/>
              </a:ext>
            </a:extLst>
          </p:cNvPr>
          <p:cNvSpPr>
            <a:spLocks noGrp="1"/>
          </p:cNvSpPr>
          <p:nvPr>
            <p:ph type="body" sz="quarter" idx="4294967295"/>
          </p:nvPr>
        </p:nvSpPr>
        <p:spPr>
          <a:xfrm>
            <a:off x="7467462" y="726831"/>
            <a:ext cx="4490076" cy="4191526"/>
          </a:xfrm>
        </p:spPr>
        <p:txBody>
          <a:bodyPr vert="horz" lIns="91440" tIns="45720" rIns="91440" bIns="45720" rtlCol="0">
            <a:noAutofit/>
          </a:bodyPr>
          <a:lstStyle/>
          <a:p>
            <a:r>
              <a:rPr lang="en-GB" dirty="0"/>
              <a:t>Alignment = </a:t>
            </a:r>
            <a:r>
              <a:rPr lang="en-GB" dirty="0" err="1"/>
              <a:t>HorizontalAlignment.Right</a:t>
            </a:r>
            <a:r>
              <a:rPr lang="en-GB" dirty="0"/>
              <a:t> — positions the bubble on the right side, the conventional position for the user's own messages in a chat interface</a:t>
            </a:r>
          </a:p>
          <a:p>
            <a:r>
              <a:rPr lang="en-GB" dirty="0"/>
              <a:t>Note that Foreground must be explicitly set here. The default in </a:t>
            </a:r>
            <a:r>
              <a:rPr lang="en-GB" dirty="0" err="1"/>
              <a:t>ChatMessage</a:t>
            </a:r>
            <a:r>
              <a:rPr lang="en-GB" dirty="0"/>
              <a:t> is "White", which would be nearly invisible on the cyan background. This override ensures readability.</a:t>
            </a:r>
          </a:p>
          <a:p>
            <a:br>
              <a:rPr lang="en-GB" dirty="0"/>
            </a:br>
            <a:endParaRPr lang="en-GB" dirty="0"/>
          </a:p>
          <a:p>
            <a:r>
              <a:rPr lang="en-GB" b="1" dirty="0"/>
              <a:t>EVENT HANDLERS</a:t>
            </a:r>
          </a:p>
          <a:p>
            <a:r>
              <a:rPr lang="en-GB" b="1" dirty="0"/>
              <a:t>private void </a:t>
            </a:r>
            <a:r>
              <a:rPr lang="en-GB" b="1" dirty="0" err="1"/>
              <a:t>SendButton_Click</a:t>
            </a:r>
            <a:r>
              <a:rPr lang="en-GB" b="1" dirty="0"/>
              <a:t>(object sender, </a:t>
            </a:r>
            <a:r>
              <a:rPr lang="en-GB" b="1" dirty="0" err="1"/>
              <a:t>RoutedEventArgs</a:t>
            </a:r>
            <a:r>
              <a:rPr lang="en-GB" b="1" dirty="0"/>
              <a:t> e) =&gt; </a:t>
            </a:r>
            <a:r>
              <a:rPr lang="en-GB" b="1" dirty="0" err="1"/>
              <a:t>ProcessInput</a:t>
            </a:r>
            <a:r>
              <a:rPr lang="en-GB" b="1" dirty="0"/>
              <a:t>();</a:t>
            </a:r>
            <a:endParaRPr lang="en-GB" dirty="0"/>
          </a:p>
          <a:p>
            <a:r>
              <a:rPr lang="en-GB" dirty="0"/>
              <a:t>This is an expression-bodied method — the =&gt; makes the entire method body a single expression, </a:t>
            </a:r>
            <a:r>
              <a:rPr lang="en-GB" dirty="0" err="1"/>
              <a:t>ProcessInput</a:t>
            </a:r>
            <a:r>
              <a:rPr lang="en-GB" dirty="0"/>
              <a:t>(). It is wired to the Send button in XAML via Click="</a:t>
            </a:r>
            <a:r>
              <a:rPr lang="en-GB" dirty="0" err="1"/>
              <a:t>SendButton_Click</a:t>
            </a:r>
            <a:r>
              <a:rPr lang="en-GB" dirty="0"/>
              <a:t>". When the button is clicked, WPF calls this handler, which immediately delegates to </a:t>
            </a:r>
            <a:r>
              <a:rPr lang="en-GB" dirty="0" err="1"/>
              <a:t>ProcessInput</a:t>
            </a:r>
            <a:r>
              <a:rPr lang="en-GB" dirty="0"/>
              <a:t>(). The two parameters (sender and e) are required by the WPF event system but are not used here.</a:t>
            </a:r>
          </a:p>
          <a:p>
            <a:r>
              <a:rPr lang="en-GB" b="1" dirty="0"/>
              <a:t>private void </a:t>
            </a:r>
            <a:r>
              <a:rPr lang="en-GB" b="1" dirty="0" err="1"/>
              <a:t>UserInput_KeyDown</a:t>
            </a:r>
            <a:r>
              <a:rPr lang="en-GB" b="1" dirty="0"/>
              <a:t>(object sender, </a:t>
            </a:r>
            <a:r>
              <a:rPr lang="en-GB" b="1" dirty="0" err="1"/>
              <a:t>KeyEventArgs</a:t>
            </a:r>
            <a:r>
              <a:rPr lang="en-GB" b="1" dirty="0"/>
              <a:t> e) { if (</a:t>
            </a:r>
            <a:r>
              <a:rPr lang="en-GB" b="1" dirty="0" err="1"/>
              <a:t>e.Key</a:t>
            </a:r>
            <a:r>
              <a:rPr lang="en-GB" b="1" dirty="0"/>
              <a:t> == </a:t>
            </a:r>
            <a:r>
              <a:rPr lang="en-GB" b="1" dirty="0" err="1"/>
              <a:t>Key.Enter</a:t>
            </a:r>
            <a:r>
              <a:rPr lang="en-GB" b="1" dirty="0"/>
              <a:t>) </a:t>
            </a:r>
            <a:r>
              <a:rPr lang="en-GB" b="1" dirty="0" err="1"/>
              <a:t>ProcessInput</a:t>
            </a:r>
            <a:r>
              <a:rPr lang="en-GB" b="1" dirty="0"/>
              <a:t>(); }</a:t>
            </a:r>
            <a:endParaRPr lang="en-GB" dirty="0"/>
          </a:p>
          <a:p>
            <a:br>
              <a:rPr lang="en-GB" dirty="0"/>
            </a:br>
            <a:endParaRPr lang="en-GB" dirty="0"/>
          </a:p>
          <a:p>
            <a:br>
              <a:rPr lang="en-GB" dirty="0"/>
            </a:br>
            <a:endParaRPr lang="en-GB" dirty="0"/>
          </a:p>
          <a:p>
            <a:endParaRPr lang="en-GB" dirty="0"/>
          </a:p>
        </p:txBody>
      </p:sp>
      <p:sp>
        <p:nvSpPr>
          <p:cNvPr id="3" name="Footer Placeholder 2">
            <a:extLst>
              <a:ext uri="{FF2B5EF4-FFF2-40B4-BE49-F238E27FC236}">
                <a16:creationId xmlns:a16="http://schemas.microsoft.com/office/drawing/2014/main" id="{801C2887-D5C6-7770-9C92-292D9989356F}"/>
              </a:ext>
            </a:extLst>
          </p:cNvPr>
          <p:cNvSpPr>
            <a:spLocks noGrp="1"/>
          </p:cNvSpPr>
          <p:nvPr>
            <p:ph type="ftr" sz="quarter" idx="16"/>
          </p:nvPr>
        </p:nvSpPr>
        <p:spPr>
          <a:xfrm>
            <a:off x="3067619" y="6356350"/>
            <a:ext cx="4114800" cy="365125"/>
          </a:xfrm>
        </p:spPr>
        <p:txBody>
          <a:bodyPr vert="horz" lIns="91440" tIns="45720" rIns="91440" bIns="45720" rtlCol="0" anchor="ctr">
            <a:normAutofit/>
          </a:bodyPr>
          <a:lstStyle/>
          <a:p>
            <a:pPr algn="ctr">
              <a:spcAft>
                <a:spcPts val="600"/>
              </a:spcAft>
              <a:defRPr/>
            </a:pPr>
            <a:r>
              <a:rPr lang="en-US" sz="1200" kern="1200" spc="0" dirty="0">
                <a:solidFill>
                  <a:srgbClr val="FFFFFF"/>
                </a:solidFill>
                <a:latin typeface="Calibri" panose="020F0502020204030204"/>
                <a:ea typeface="+mn-ea"/>
                <a:cs typeface="+mn-cs"/>
              </a:rPr>
              <a:t>Moyagabo Raphasha</a:t>
            </a:r>
          </a:p>
        </p:txBody>
      </p:sp>
      <p:sp>
        <p:nvSpPr>
          <p:cNvPr id="5" name="Slide Number Placeholder 4">
            <a:extLst>
              <a:ext uri="{FF2B5EF4-FFF2-40B4-BE49-F238E27FC236}">
                <a16:creationId xmlns:a16="http://schemas.microsoft.com/office/drawing/2014/main" id="{4550553D-5956-58F0-545E-6A28162C9D3D}"/>
              </a:ext>
            </a:extLst>
          </p:cNvPr>
          <p:cNvSpPr>
            <a:spLocks noGrp="1"/>
          </p:cNvSpPr>
          <p:nvPr>
            <p:ph type="sldNum" sz="quarter" idx="17"/>
          </p:nvPr>
        </p:nvSpPr>
        <p:spPr>
          <a:xfrm>
            <a:off x="8610600" y="6356350"/>
            <a:ext cx="2743200" cy="365125"/>
          </a:xfrm>
        </p:spPr>
        <p:txBody>
          <a:bodyPr vert="horz" lIns="91440" tIns="45720" rIns="91440" bIns="45720" rtlCol="0" anchor="ctr">
            <a:normAutofit/>
          </a:bodyPr>
          <a:lstStyle/>
          <a:p>
            <a:pPr>
              <a:spcAft>
                <a:spcPts val="600"/>
              </a:spcAft>
              <a:defRPr/>
            </a:pPr>
            <a:fld id="{24D65F33-A771-944D-9289-CA575F1D1B7F}" type="slidenum">
              <a:rPr lang="en-US" sz="1200" spc="0" smtClean="0">
                <a:solidFill>
                  <a:prstClr val="black">
                    <a:tint val="75000"/>
                  </a:prstClr>
                </a:solidFill>
                <a:latin typeface="Calibri" panose="020F0502020204030204"/>
              </a:rPr>
              <a:pPr>
                <a:spcAft>
                  <a:spcPts val="600"/>
                </a:spcAft>
                <a:defRPr/>
              </a:pPr>
              <a:t>31</a:t>
            </a:fld>
            <a:endParaRPr lang="en-US" sz="1200" spc="0" dirty="0">
              <a:solidFill>
                <a:prstClr val="black">
                  <a:tint val="75000"/>
                </a:prstClr>
              </a:solidFill>
              <a:latin typeface="Calibri" panose="020F0502020204030204"/>
            </a:endParaRPr>
          </a:p>
        </p:txBody>
      </p:sp>
      <p:sp>
        <p:nvSpPr>
          <p:cNvPr id="4" name="TextBox 3">
            <a:extLst>
              <a:ext uri="{FF2B5EF4-FFF2-40B4-BE49-F238E27FC236}">
                <a16:creationId xmlns:a16="http://schemas.microsoft.com/office/drawing/2014/main" id="{915A8744-ACD1-04DE-DCE5-AEB7E40EFEF9}"/>
              </a:ext>
            </a:extLst>
          </p:cNvPr>
          <p:cNvSpPr txBox="1"/>
          <p:nvPr/>
        </p:nvSpPr>
        <p:spPr>
          <a:xfrm>
            <a:off x="1495245" y="12038043"/>
            <a:ext cx="9144000" cy="317500"/>
          </a:xfrm>
          <a:prstGeom prst="rect">
            <a:avLst/>
          </a:prstGeom>
        </p:spPr>
        <p:txBody>
          <a:bodyPr>
            <a:normAutofit lnSpcReduction="10000"/>
          </a:bodyPr>
          <a:lstStyle/>
          <a:p>
            <a:pPr>
              <a:lnSpc>
                <a:spcPct val="90000"/>
              </a:lnSpc>
              <a:spcAft>
                <a:spcPts val="600"/>
              </a:spcAft>
            </a:pPr>
            <a:r>
              <a:rPr lang="en-US" sz="1700"/>
              <a:t>ThePhoto by PhotoAuthor is licensed under CCYYSA.</a:t>
            </a:r>
          </a:p>
        </p:txBody>
      </p:sp>
    </p:spTree>
    <p:extLst>
      <p:ext uri="{BB962C8B-B14F-4D97-AF65-F5344CB8AC3E}">
        <p14:creationId xmlns:p14="http://schemas.microsoft.com/office/powerpoint/2010/main" val="18241705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EEC31BD-FBA7-BEA3-8B56-2CD52E40CCC0}"/>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49E913EC-1B15-69A5-311B-625B8D17EA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Placeholder 8">
            <a:extLst>
              <a:ext uri="{FF2B5EF4-FFF2-40B4-BE49-F238E27FC236}">
                <a16:creationId xmlns:a16="http://schemas.microsoft.com/office/drawing/2014/main" id="{5BE19A43-E32E-ACF7-0AB6-FFC9EF2934A1}"/>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l="2942" r="2941" b="-1"/>
          <a:stretch>
            <a:fillRect/>
          </a:stretch>
        </p:blipFill>
        <p:spPr>
          <a:xfrm>
            <a:off x="1" y="10"/>
            <a:ext cx="9669642" cy="6857990"/>
          </a:xfrm>
          <a:prstGeom prst="rect">
            <a:avLst/>
          </a:prstGeom>
        </p:spPr>
      </p:pic>
      <p:sp>
        <p:nvSpPr>
          <p:cNvPr id="24" name="Rectangle 23">
            <a:extLst>
              <a:ext uri="{FF2B5EF4-FFF2-40B4-BE49-F238E27FC236}">
                <a16:creationId xmlns:a16="http://schemas.microsoft.com/office/drawing/2014/main" id="{DD7AF9DC-B247-878D-0093-53549E23E7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itle 14">
            <a:extLst>
              <a:ext uri="{FF2B5EF4-FFF2-40B4-BE49-F238E27FC236}">
                <a16:creationId xmlns:a16="http://schemas.microsoft.com/office/drawing/2014/main" id="{43F0B268-677A-A8F2-8B9B-BD480E222A06}"/>
              </a:ext>
            </a:extLst>
          </p:cNvPr>
          <p:cNvSpPr>
            <a:spLocks noGrp="1"/>
          </p:cNvSpPr>
          <p:nvPr>
            <p:ph type="title"/>
          </p:nvPr>
        </p:nvSpPr>
        <p:spPr>
          <a:xfrm>
            <a:off x="7599615" y="-493357"/>
            <a:ext cx="3822189" cy="1899912"/>
          </a:xfrm>
        </p:spPr>
        <p:txBody>
          <a:bodyPr vert="horz" lIns="91440" tIns="45720" rIns="91440" bIns="45720" rtlCol="0" anchor="ctr">
            <a:normAutofit/>
          </a:bodyPr>
          <a:lstStyle/>
          <a:p>
            <a:r>
              <a:rPr lang="en-US" sz="2800" dirty="0" err="1"/>
              <a:t>MainWindow.xaml.cs</a:t>
            </a:r>
            <a:endParaRPr lang="en-US" sz="2800" dirty="0"/>
          </a:p>
        </p:txBody>
      </p:sp>
      <p:sp>
        <p:nvSpPr>
          <p:cNvPr id="17" name="Text Placeholder 16">
            <a:extLst>
              <a:ext uri="{FF2B5EF4-FFF2-40B4-BE49-F238E27FC236}">
                <a16:creationId xmlns:a16="http://schemas.microsoft.com/office/drawing/2014/main" id="{FA482987-7F61-404C-BA05-0D55906F3EA2}"/>
              </a:ext>
            </a:extLst>
          </p:cNvPr>
          <p:cNvSpPr>
            <a:spLocks noGrp="1"/>
          </p:cNvSpPr>
          <p:nvPr>
            <p:ph type="body" sz="quarter" idx="4294967295"/>
          </p:nvPr>
        </p:nvSpPr>
        <p:spPr>
          <a:xfrm>
            <a:off x="7467462" y="726831"/>
            <a:ext cx="4490076" cy="4191526"/>
          </a:xfrm>
        </p:spPr>
        <p:txBody>
          <a:bodyPr vert="horz" lIns="91440" tIns="45720" rIns="91440" bIns="45720" rtlCol="0">
            <a:noAutofit/>
          </a:bodyPr>
          <a:lstStyle/>
          <a:p>
            <a:r>
              <a:rPr lang="en-GB" dirty="0"/>
              <a:t>Wired to the </a:t>
            </a:r>
            <a:r>
              <a:rPr lang="en-GB" dirty="0" err="1"/>
              <a:t>TextBox</a:t>
            </a:r>
            <a:r>
              <a:rPr lang="en-GB" dirty="0"/>
              <a:t> via </a:t>
            </a:r>
            <a:r>
              <a:rPr lang="en-GB" dirty="0" err="1"/>
              <a:t>KeyDown</a:t>
            </a:r>
            <a:r>
              <a:rPr lang="en-GB" dirty="0"/>
              <a:t>="</a:t>
            </a:r>
            <a:r>
              <a:rPr lang="en-GB" dirty="0" err="1"/>
              <a:t>UserInput_KeyDown</a:t>
            </a:r>
            <a:r>
              <a:rPr lang="en-GB" dirty="0"/>
              <a:t>". This event fires every time the user presses any key while the </a:t>
            </a:r>
            <a:r>
              <a:rPr lang="en-GB" dirty="0" err="1"/>
              <a:t>TextBox</a:t>
            </a:r>
            <a:r>
              <a:rPr lang="en-GB" dirty="0"/>
              <a:t> has focus. The handler checks whether the key that was pressed is the Enter key by comparing </a:t>
            </a:r>
            <a:r>
              <a:rPr lang="en-GB" dirty="0" err="1"/>
              <a:t>e.Key</a:t>
            </a:r>
            <a:r>
              <a:rPr lang="en-GB" dirty="0"/>
              <a:t> (a </a:t>
            </a:r>
            <a:r>
              <a:rPr lang="en-GB" dirty="0" err="1"/>
              <a:t>KeyEventArgs</a:t>
            </a:r>
            <a:r>
              <a:rPr lang="en-GB" dirty="0"/>
              <a:t> property) to the </a:t>
            </a:r>
            <a:r>
              <a:rPr lang="en-GB" dirty="0" err="1"/>
              <a:t>Key.Enter</a:t>
            </a:r>
            <a:r>
              <a:rPr lang="en-GB" dirty="0"/>
              <a:t> </a:t>
            </a:r>
            <a:r>
              <a:rPr lang="en-GB" dirty="0" err="1"/>
              <a:t>enum</a:t>
            </a:r>
            <a:r>
              <a:rPr lang="en-GB" dirty="0"/>
              <a:t> value. If true, </a:t>
            </a:r>
            <a:r>
              <a:rPr lang="en-GB" dirty="0" err="1"/>
              <a:t>ProcessInput</a:t>
            </a:r>
            <a:r>
              <a:rPr lang="en-GB" dirty="0"/>
              <a:t>() is called. If false (any other key), the method does nothing and the keypress is handled normally by the </a:t>
            </a:r>
            <a:r>
              <a:rPr lang="en-GB" dirty="0" err="1"/>
              <a:t>TextBox</a:t>
            </a:r>
            <a:r>
              <a:rPr lang="en-GB" dirty="0"/>
              <a:t>. This lets users submit messages by pressing Enter instead of clicking the button, which is standard chat application behaviour.</a:t>
            </a:r>
          </a:p>
          <a:p>
            <a:br>
              <a:rPr lang="en-GB" dirty="0"/>
            </a:br>
            <a:endParaRPr lang="en-GB" dirty="0"/>
          </a:p>
          <a:p>
            <a:r>
              <a:rPr lang="en-GB" b="1" dirty="0"/>
              <a:t>METHOD — </a:t>
            </a:r>
            <a:r>
              <a:rPr lang="en-GB" b="1" dirty="0" err="1"/>
              <a:t>ProcessInput</a:t>
            </a:r>
            <a:r>
              <a:rPr lang="en-GB" b="1" dirty="0"/>
              <a:t>()</a:t>
            </a:r>
          </a:p>
          <a:p>
            <a:r>
              <a:rPr lang="en-GB" dirty="0"/>
              <a:t>This is the central method that coordinates the entire send-and-receive cycle.</a:t>
            </a:r>
          </a:p>
          <a:p>
            <a:r>
              <a:rPr lang="en-GB" b="1" dirty="0"/>
              <a:t>Step 1 — Read and clean the input</a:t>
            </a:r>
            <a:endParaRPr lang="en-GB" dirty="0"/>
          </a:p>
          <a:p>
            <a:r>
              <a:rPr lang="en-GB" dirty="0" err="1"/>
              <a:t>csharp</a:t>
            </a:r>
            <a:endParaRPr lang="en-GB" dirty="0"/>
          </a:p>
          <a:p>
            <a:r>
              <a:rPr lang="en-GB" dirty="0"/>
              <a:t>string </a:t>
            </a:r>
            <a:r>
              <a:rPr lang="en-GB" dirty="0" err="1"/>
              <a:t>userInput</a:t>
            </a:r>
            <a:r>
              <a:rPr lang="en-GB" dirty="0"/>
              <a:t> = </a:t>
            </a:r>
            <a:r>
              <a:rPr lang="en-GB" dirty="0" err="1"/>
              <a:t>UserInput.Text.Trim</a:t>
            </a:r>
            <a:r>
              <a:rPr lang="en-GB" dirty="0"/>
              <a:t>();</a:t>
            </a:r>
          </a:p>
          <a:p>
            <a:endParaRPr lang="en-GB" dirty="0"/>
          </a:p>
        </p:txBody>
      </p:sp>
      <p:sp>
        <p:nvSpPr>
          <p:cNvPr id="3" name="Footer Placeholder 2">
            <a:extLst>
              <a:ext uri="{FF2B5EF4-FFF2-40B4-BE49-F238E27FC236}">
                <a16:creationId xmlns:a16="http://schemas.microsoft.com/office/drawing/2014/main" id="{5DED93BF-14B4-DAA6-9631-2FA835C0D912}"/>
              </a:ext>
            </a:extLst>
          </p:cNvPr>
          <p:cNvSpPr>
            <a:spLocks noGrp="1"/>
          </p:cNvSpPr>
          <p:nvPr>
            <p:ph type="ftr" sz="quarter" idx="16"/>
          </p:nvPr>
        </p:nvSpPr>
        <p:spPr>
          <a:xfrm>
            <a:off x="3067619" y="6356350"/>
            <a:ext cx="4114800" cy="365125"/>
          </a:xfrm>
        </p:spPr>
        <p:txBody>
          <a:bodyPr vert="horz" lIns="91440" tIns="45720" rIns="91440" bIns="45720" rtlCol="0" anchor="ctr">
            <a:normAutofit/>
          </a:bodyPr>
          <a:lstStyle/>
          <a:p>
            <a:pPr algn="ctr">
              <a:spcAft>
                <a:spcPts val="600"/>
              </a:spcAft>
              <a:defRPr/>
            </a:pPr>
            <a:r>
              <a:rPr lang="en-US" sz="1200" kern="1200" spc="0" dirty="0">
                <a:solidFill>
                  <a:srgbClr val="FFFFFF"/>
                </a:solidFill>
                <a:latin typeface="Calibri" panose="020F0502020204030204"/>
                <a:ea typeface="+mn-ea"/>
                <a:cs typeface="+mn-cs"/>
              </a:rPr>
              <a:t>Moyagabo Raphasha</a:t>
            </a:r>
          </a:p>
        </p:txBody>
      </p:sp>
      <p:sp>
        <p:nvSpPr>
          <p:cNvPr id="5" name="Slide Number Placeholder 4">
            <a:extLst>
              <a:ext uri="{FF2B5EF4-FFF2-40B4-BE49-F238E27FC236}">
                <a16:creationId xmlns:a16="http://schemas.microsoft.com/office/drawing/2014/main" id="{8BA5DD3D-A20C-97C5-FB10-83908437BE64}"/>
              </a:ext>
            </a:extLst>
          </p:cNvPr>
          <p:cNvSpPr>
            <a:spLocks noGrp="1"/>
          </p:cNvSpPr>
          <p:nvPr>
            <p:ph type="sldNum" sz="quarter" idx="17"/>
          </p:nvPr>
        </p:nvSpPr>
        <p:spPr>
          <a:xfrm>
            <a:off x="8610600" y="6356350"/>
            <a:ext cx="2743200" cy="365125"/>
          </a:xfrm>
        </p:spPr>
        <p:txBody>
          <a:bodyPr vert="horz" lIns="91440" tIns="45720" rIns="91440" bIns="45720" rtlCol="0" anchor="ctr">
            <a:normAutofit/>
          </a:bodyPr>
          <a:lstStyle/>
          <a:p>
            <a:pPr>
              <a:spcAft>
                <a:spcPts val="600"/>
              </a:spcAft>
              <a:defRPr/>
            </a:pPr>
            <a:fld id="{24D65F33-A771-944D-9289-CA575F1D1B7F}" type="slidenum">
              <a:rPr lang="en-US" sz="1200" spc="0" smtClean="0">
                <a:solidFill>
                  <a:prstClr val="black">
                    <a:tint val="75000"/>
                  </a:prstClr>
                </a:solidFill>
                <a:latin typeface="Calibri" panose="020F0502020204030204"/>
              </a:rPr>
              <a:pPr>
                <a:spcAft>
                  <a:spcPts val="600"/>
                </a:spcAft>
                <a:defRPr/>
              </a:pPr>
              <a:t>32</a:t>
            </a:fld>
            <a:endParaRPr lang="en-US" sz="1200" spc="0" dirty="0">
              <a:solidFill>
                <a:prstClr val="black">
                  <a:tint val="75000"/>
                </a:prstClr>
              </a:solidFill>
              <a:latin typeface="Calibri" panose="020F0502020204030204"/>
            </a:endParaRPr>
          </a:p>
        </p:txBody>
      </p:sp>
      <p:sp>
        <p:nvSpPr>
          <p:cNvPr id="4" name="TextBox 3">
            <a:extLst>
              <a:ext uri="{FF2B5EF4-FFF2-40B4-BE49-F238E27FC236}">
                <a16:creationId xmlns:a16="http://schemas.microsoft.com/office/drawing/2014/main" id="{B274ABC7-CF10-9001-BD8A-D41156A5F7FC}"/>
              </a:ext>
            </a:extLst>
          </p:cNvPr>
          <p:cNvSpPr txBox="1"/>
          <p:nvPr/>
        </p:nvSpPr>
        <p:spPr>
          <a:xfrm>
            <a:off x="1495245" y="12038043"/>
            <a:ext cx="9144000" cy="317500"/>
          </a:xfrm>
          <a:prstGeom prst="rect">
            <a:avLst/>
          </a:prstGeom>
        </p:spPr>
        <p:txBody>
          <a:bodyPr>
            <a:normAutofit lnSpcReduction="10000"/>
          </a:bodyPr>
          <a:lstStyle/>
          <a:p>
            <a:pPr>
              <a:lnSpc>
                <a:spcPct val="90000"/>
              </a:lnSpc>
              <a:spcAft>
                <a:spcPts val="600"/>
              </a:spcAft>
            </a:pPr>
            <a:r>
              <a:rPr lang="en-US" sz="1700"/>
              <a:t>ThePhoto by PhotoAuthor is licensed under CCYYSA.</a:t>
            </a:r>
          </a:p>
        </p:txBody>
      </p:sp>
    </p:spTree>
    <p:extLst>
      <p:ext uri="{BB962C8B-B14F-4D97-AF65-F5344CB8AC3E}">
        <p14:creationId xmlns:p14="http://schemas.microsoft.com/office/powerpoint/2010/main" val="40391746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2E474FA-9272-A0C2-3677-5F55B1E21AE0}"/>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409A7EB6-3F01-C06F-637E-8B7574FEC2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Placeholder 8">
            <a:extLst>
              <a:ext uri="{FF2B5EF4-FFF2-40B4-BE49-F238E27FC236}">
                <a16:creationId xmlns:a16="http://schemas.microsoft.com/office/drawing/2014/main" id="{5C069F46-241C-245D-5857-34EB83CE7639}"/>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l="2942" r="2941" b="-1"/>
          <a:stretch>
            <a:fillRect/>
          </a:stretch>
        </p:blipFill>
        <p:spPr>
          <a:xfrm>
            <a:off x="1" y="10"/>
            <a:ext cx="9669642" cy="6857990"/>
          </a:xfrm>
          <a:prstGeom prst="rect">
            <a:avLst/>
          </a:prstGeom>
        </p:spPr>
      </p:pic>
      <p:sp>
        <p:nvSpPr>
          <p:cNvPr id="24" name="Rectangle 23">
            <a:extLst>
              <a:ext uri="{FF2B5EF4-FFF2-40B4-BE49-F238E27FC236}">
                <a16:creationId xmlns:a16="http://schemas.microsoft.com/office/drawing/2014/main" id="{895309DA-7665-45E1-1B6D-8A02AE8FBF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itle 14">
            <a:extLst>
              <a:ext uri="{FF2B5EF4-FFF2-40B4-BE49-F238E27FC236}">
                <a16:creationId xmlns:a16="http://schemas.microsoft.com/office/drawing/2014/main" id="{31BFA35B-AC48-FDF7-C8A9-91F7B5668A81}"/>
              </a:ext>
            </a:extLst>
          </p:cNvPr>
          <p:cNvSpPr>
            <a:spLocks noGrp="1"/>
          </p:cNvSpPr>
          <p:nvPr>
            <p:ph type="title"/>
          </p:nvPr>
        </p:nvSpPr>
        <p:spPr>
          <a:xfrm>
            <a:off x="7599615" y="-493357"/>
            <a:ext cx="3822189" cy="1899912"/>
          </a:xfrm>
        </p:spPr>
        <p:txBody>
          <a:bodyPr vert="horz" lIns="91440" tIns="45720" rIns="91440" bIns="45720" rtlCol="0" anchor="ctr">
            <a:normAutofit/>
          </a:bodyPr>
          <a:lstStyle/>
          <a:p>
            <a:r>
              <a:rPr lang="en-US" sz="2800" dirty="0" err="1"/>
              <a:t>MainWindow.xaml.cs</a:t>
            </a:r>
            <a:endParaRPr lang="en-US" sz="2800" dirty="0"/>
          </a:p>
        </p:txBody>
      </p:sp>
      <p:sp>
        <p:nvSpPr>
          <p:cNvPr id="17" name="Text Placeholder 16">
            <a:extLst>
              <a:ext uri="{FF2B5EF4-FFF2-40B4-BE49-F238E27FC236}">
                <a16:creationId xmlns:a16="http://schemas.microsoft.com/office/drawing/2014/main" id="{B90192C2-DB85-BC99-FB13-10BB1811EBDC}"/>
              </a:ext>
            </a:extLst>
          </p:cNvPr>
          <p:cNvSpPr>
            <a:spLocks noGrp="1"/>
          </p:cNvSpPr>
          <p:nvPr>
            <p:ph type="body" sz="quarter" idx="4294967295"/>
          </p:nvPr>
        </p:nvSpPr>
        <p:spPr>
          <a:xfrm>
            <a:off x="7467462" y="726831"/>
            <a:ext cx="4490076" cy="4191526"/>
          </a:xfrm>
        </p:spPr>
        <p:txBody>
          <a:bodyPr vert="horz" lIns="91440" tIns="45720" rIns="91440" bIns="45720" rtlCol="0">
            <a:noAutofit/>
          </a:bodyPr>
          <a:lstStyle/>
          <a:p>
            <a:r>
              <a:rPr lang="en-GB" dirty="0" err="1"/>
              <a:t>UserInput.Text</a:t>
            </a:r>
            <a:r>
              <a:rPr lang="en-GB" dirty="0"/>
              <a:t> reads the current contents of the </a:t>
            </a:r>
            <a:r>
              <a:rPr lang="en-GB" dirty="0" err="1"/>
              <a:t>TextBox</a:t>
            </a:r>
            <a:r>
              <a:rPr lang="en-GB" dirty="0"/>
              <a:t>. Trim() removes any whitespace from the start and end of the string. This handles the case where a user presses the spacebar or Enter on what appears to be an empty field — the resulting string of spaces becomes empty after Trim().</a:t>
            </a:r>
          </a:p>
          <a:p>
            <a:br>
              <a:rPr lang="en-GB" dirty="0"/>
            </a:br>
            <a:endParaRPr lang="en-GB" dirty="0"/>
          </a:p>
          <a:p>
            <a:r>
              <a:rPr lang="en-GB" b="1" dirty="0"/>
              <a:t>Step 2 — Guard against empty input</a:t>
            </a:r>
            <a:endParaRPr lang="en-GB" dirty="0"/>
          </a:p>
          <a:p>
            <a:r>
              <a:rPr lang="en-GB" dirty="0" err="1"/>
              <a:t>csharp</a:t>
            </a:r>
            <a:endParaRPr lang="en-GB" dirty="0"/>
          </a:p>
          <a:p>
            <a:r>
              <a:rPr lang="en-GB" dirty="0"/>
              <a:t>if (</a:t>
            </a:r>
            <a:r>
              <a:rPr lang="en-GB" dirty="0" err="1"/>
              <a:t>string.IsNullOrWhiteSpace</a:t>
            </a:r>
            <a:r>
              <a:rPr lang="en-GB" dirty="0"/>
              <a:t>(</a:t>
            </a:r>
            <a:r>
              <a:rPr lang="en-GB" dirty="0" err="1"/>
              <a:t>userInput</a:t>
            </a:r>
            <a:r>
              <a:rPr lang="en-GB" dirty="0"/>
              <a:t>))</a:t>
            </a:r>
          </a:p>
          <a:p>
            <a:r>
              <a:rPr lang="en-GB" dirty="0"/>
              <a:t>{</a:t>
            </a:r>
          </a:p>
          <a:p>
            <a:r>
              <a:rPr lang="en-GB" dirty="0"/>
              <a:t>    </a:t>
            </a:r>
            <a:r>
              <a:rPr lang="en-GB" dirty="0" err="1"/>
              <a:t>AddBotMessage</a:t>
            </a:r>
            <a:r>
              <a:rPr lang="en-GB" dirty="0"/>
              <a:t>("⚠️ Please enter a message.");</a:t>
            </a:r>
          </a:p>
          <a:p>
            <a:r>
              <a:rPr lang="en-GB" dirty="0"/>
              <a:t>    return;</a:t>
            </a:r>
          </a:p>
          <a:p>
            <a:r>
              <a:rPr lang="en-GB" dirty="0"/>
              <a:t>}</a:t>
            </a:r>
          </a:p>
          <a:p>
            <a:r>
              <a:rPr lang="en-GB" dirty="0" err="1"/>
              <a:t>string.IsNullOrWhiteSpace</a:t>
            </a:r>
            <a:r>
              <a:rPr lang="en-GB" dirty="0"/>
              <a:t>() returns true if the string is null, empty, or contains only whitespace characters. This is safer than checking </a:t>
            </a:r>
            <a:r>
              <a:rPr lang="en-GB" dirty="0" err="1"/>
              <a:t>userInput</a:t>
            </a:r>
            <a:r>
              <a:rPr lang="en-GB" dirty="0"/>
              <a:t> == "" because it also catches strings of spaces, tabs, and newlines.</a:t>
            </a:r>
          </a:p>
          <a:p>
            <a:endParaRPr lang="en-GB" dirty="0"/>
          </a:p>
        </p:txBody>
      </p:sp>
      <p:sp>
        <p:nvSpPr>
          <p:cNvPr id="3" name="Footer Placeholder 2">
            <a:extLst>
              <a:ext uri="{FF2B5EF4-FFF2-40B4-BE49-F238E27FC236}">
                <a16:creationId xmlns:a16="http://schemas.microsoft.com/office/drawing/2014/main" id="{21A9AB9E-BEC7-02C3-FC27-D23B43AE1E74}"/>
              </a:ext>
            </a:extLst>
          </p:cNvPr>
          <p:cNvSpPr>
            <a:spLocks noGrp="1"/>
          </p:cNvSpPr>
          <p:nvPr>
            <p:ph type="ftr" sz="quarter" idx="16"/>
          </p:nvPr>
        </p:nvSpPr>
        <p:spPr>
          <a:xfrm>
            <a:off x="3067619" y="6356350"/>
            <a:ext cx="4114800" cy="365125"/>
          </a:xfrm>
        </p:spPr>
        <p:txBody>
          <a:bodyPr vert="horz" lIns="91440" tIns="45720" rIns="91440" bIns="45720" rtlCol="0" anchor="ctr">
            <a:normAutofit/>
          </a:bodyPr>
          <a:lstStyle/>
          <a:p>
            <a:pPr algn="ctr">
              <a:spcAft>
                <a:spcPts val="600"/>
              </a:spcAft>
              <a:defRPr/>
            </a:pPr>
            <a:r>
              <a:rPr lang="en-US" sz="1200" kern="1200" spc="0" dirty="0">
                <a:solidFill>
                  <a:srgbClr val="FFFFFF"/>
                </a:solidFill>
                <a:latin typeface="Calibri" panose="020F0502020204030204"/>
                <a:ea typeface="+mn-ea"/>
                <a:cs typeface="+mn-cs"/>
              </a:rPr>
              <a:t>Moyagabo Raphasha</a:t>
            </a:r>
          </a:p>
        </p:txBody>
      </p:sp>
      <p:sp>
        <p:nvSpPr>
          <p:cNvPr id="5" name="Slide Number Placeholder 4">
            <a:extLst>
              <a:ext uri="{FF2B5EF4-FFF2-40B4-BE49-F238E27FC236}">
                <a16:creationId xmlns:a16="http://schemas.microsoft.com/office/drawing/2014/main" id="{6802512C-65F6-66D0-DD88-36E888F39EC6}"/>
              </a:ext>
            </a:extLst>
          </p:cNvPr>
          <p:cNvSpPr>
            <a:spLocks noGrp="1"/>
          </p:cNvSpPr>
          <p:nvPr>
            <p:ph type="sldNum" sz="quarter" idx="17"/>
          </p:nvPr>
        </p:nvSpPr>
        <p:spPr>
          <a:xfrm>
            <a:off x="8610600" y="6356350"/>
            <a:ext cx="2743200" cy="365125"/>
          </a:xfrm>
        </p:spPr>
        <p:txBody>
          <a:bodyPr vert="horz" lIns="91440" tIns="45720" rIns="91440" bIns="45720" rtlCol="0" anchor="ctr">
            <a:normAutofit/>
          </a:bodyPr>
          <a:lstStyle/>
          <a:p>
            <a:pPr>
              <a:spcAft>
                <a:spcPts val="600"/>
              </a:spcAft>
              <a:defRPr/>
            </a:pPr>
            <a:fld id="{24D65F33-A771-944D-9289-CA575F1D1B7F}" type="slidenum">
              <a:rPr lang="en-US" sz="1200" spc="0" smtClean="0">
                <a:solidFill>
                  <a:prstClr val="black">
                    <a:tint val="75000"/>
                  </a:prstClr>
                </a:solidFill>
                <a:latin typeface="Calibri" panose="020F0502020204030204"/>
              </a:rPr>
              <a:pPr>
                <a:spcAft>
                  <a:spcPts val="600"/>
                </a:spcAft>
                <a:defRPr/>
              </a:pPr>
              <a:t>33</a:t>
            </a:fld>
            <a:endParaRPr lang="en-US" sz="1200" spc="0" dirty="0">
              <a:solidFill>
                <a:prstClr val="black">
                  <a:tint val="75000"/>
                </a:prstClr>
              </a:solidFill>
              <a:latin typeface="Calibri" panose="020F0502020204030204"/>
            </a:endParaRPr>
          </a:p>
        </p:txBody>
      </p:sp>
      <p:sp>
        <p:nvSpPr>
          <p:cNvPr id="4" name="TextBox 3">
            <a:extLst>
              <a:ext uri="{FF2B5EF4-FFF2-40B4-BE49-F238E27FC236}">
                <a16:creationId xmlns:a16="http://schemas.microsoft.com/office/drawing/2014/main" id="{12C0A842-7F66-ABE7-5747-B99CA8B76DC6}"/>
              </a:ext>
            </a:extLst>
          </p:cNvPr>
          <p:cNvSpPr txBox="1"/>
          <p:nvPr/>
        </p:nvSpPr>
        <p:spPr>
          <a:xfrm>
            <a:off x="1495245" y="12038043"/>
            <a:ext cx="9144000" cy="317500"/>
          </a:xfrm>
          <a:prstGeom prst="rect">
            <a:avLst/>
          </a:prstGeom>
        </p:spPr>
        <p:txBody>
          <a:bodyPr>
            <a:normAutofit lnSpcReduction="10000"/>
          </a:bodyPr>
          <a:lstStyle/>
          <a:p>
            <a:pPr>
              <a:lnSpc>
                <a:spcPct val="90000"/>
              </a:lnSpc>
              <a:spcAft>
                <a:spcPts val="600"/>
              </a:spcAft>
            </a:pPr>
            <a:r>
              <a:rPr lang="en-US" sz="1700"/>
              <a:t>ThePhoto by PhotoAuthor is licensed under CCYYSA.</a:t>
            </a:r>
          </a:p>
        </p:txBody>
      </p:sp>
    </p:spTree>
    <p:extLst>
      <p:ext uri="{BB962C8B-B14F-4D97-AF65-F5344CB8AC3E}">
        <p14:creationId xmlns:p14="http://schemas.microsoft.com/office/powerpoint/2010/main" val="37088994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8BC608-D90B-E01B-5276-205180B55E3B}"/>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D5BA6BF5-9D78-30E6-C22E-440C313114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Placeholder 8">
            <a:extLst>
              <a:ext uri="{FF2B5EF4-FFF2-40B4-BE49-F238E27FC236}">
                <a16:creationId xmlns:a16="http://schemas.microsoft.com/office/drawing/2014/main" id="{0FB533B9-F08C-74A4-62AC-102DC4CA4604}"/>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l="2942" r="2941" b="-1"/>
          <a:stretch>
            <a:fillRect/>
          </a:stretch>
        </p:blipFill>
        <p:spPr>
          <a:xfrm>
            <a:off x="1" y="10"/>
            <a:ext cx="9669642" cy="6857990"/>
          </a:xfrm>
          <a:prstGeom prst="rect">
            <a:avLst/>
          </a:prstGeom>
        </p:spPr>
      </p:pic>
      <p:sp>
        <p:nvSpPr>
          <p:cNvPr id="24" name="Rectangle 23">
            <a:extLst>
              <a:ext uri="{FF2B5EF4-FFF2-40B4-BE49-F238E27FC236}">
                <a16:creationId xmlns:a16="http://schemas.microsoft.com/office/drawing/2014/main" id="{F97D5D51-7A66-99D2-F7F4-44B16D148F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itle 14">
            <a:extLst>
              <a:ext uri="{FF2B5EF4-FFF2-40B4-BE49-F238E27FC236}">
                <a16:creationId xmlns:a16="http://schemas.microsoft.com/office/drawing/2014/main" id="{B163339C-F4F1-99F0-57D6-155E411C2609}"/>
              </a:ext>
            </a:extLst>
          </p:cNvPr>
          <p:cNvSpPr>
            <a:spLocks noGrp="1"/>
          </p:cNvSpPr>
          <p:nvPr>
            <p:ph type="title"/>
          </p:nvPr>
        </p:nvSpPr>
        <p:spPr>
          <a:xfrm>
            <a:off x="7599615" y="-493357"/>
            <a:ext cx="3822189" cy="1899912"/>
          </a:xfrm>
        </p:spPr>
        <p:txBody>
          <a:bodyPr vert="horz" lIns="91440" tIns="45720" rIns="91440" bIns="45720" rtlCol="0" anchor="ctr">
            <a:normAutofit/>
          </a:bodyPr>
          <a:lstStyle/>
          <a:p>
            <a:r>
              <a:rPr lang="en-US" sz="2800" dirty="0" err="1"/>
              <a:t>MainWindow.xaml.cs</a:t>
            </a:r>
            <a:endParaRPr lang="en-US" sz="2800" dirty="0"/>
          </a:p>
        </p:txBody>
      </p:sp>
      <p:sp>
        <p:nvSpPr>
          <p:cNvPr id="17" name="Text Placeholder 16">
            <a:extLst>
              <a:ext uri="{FF2B5EF4-FFF2-40B4-BE49-F238E27FC236}">
                <a16:creationId xmlns:a16="http://schemas.microsoft.com/office/drawing/2014/main" id="{F1E2FEC0-85FD-F98D-3B2C-2D518CE2F7C9}"/>
              </a:ext>
            </a:extLst>
          </p:cNvPr>
          <p:cNvSpPr>
            <a:spLocks noGrp="1"/>
          </p:cNvSpPr>
          <p:nvPr>
            <p:ph type="body" sz="quarter" idx="4294967295"/>
          </p:nvPr>
        </p:nvSpPr>
        <p:spPr>
          <a:xfrm>
            <a:off x="7467462" y="726831"/>
            <a:ext cx="4490076" cy="4191526"/>
          </a:xfrm>
        </p:spPr>
        <p:txBody>
          <a:bodyPr vert="horz" lIns="91440" tIns="45720" rIns="91440" bIns="45720" rtlCol="0">
            <a:noAutofit/>
          </a:bodyPr>
          <a:lstStyle/>
          <a:p>
            <a:r>
              <a:rPr lang="en-GB" dirty="0"/>
              <a:t>If the input is blank, a warning message is shown in the chat and return exits the method immediately. This is a guard clause — it protects the rest of the method from running with invalid input. By returning early, all the remaining code in the method is guaranteed to have a non-empty </a:t>
            </a:r>
            <a:r>
              <a:rPr lang="en-GB" dirty="0" err="1"/>
              <a:t>userInput</a:t>
            </a:r>
            <a:r>
              <a:rPr lang="en-GB" dirty="0"/>
              <a:t> string to work with.</a:t>
            </a:r>
          </a:p>
          <a:p>
            <a:br>
              <a:rPr lang="en-GB" dirty="0"/>
            </a:br>
            <a:endParaRPr lang="en-GB" dirty="0"/>
          </a:p>
          <a:p>
            <a:r>
              <a:rPr lang="en-GB" b="1" dirty="0"/>
              <a:t>Step 3 — Display the user's message, clear the field, update status</a:t>
            </a:r>
            <a:endParaRPr lang="en-GB" dirty="0"/>
          </a:p>
          <a:p>
            <a:r>
              <a:rPr lang="en-GB" dirty="0" err="1"/>
              <a:t>csharp</a:t>
            </a:r>
            <a:endParaRPr lang="en-GB" dirty="0"/>
          </a:p>
          <a:p>
            <a:r>
              <a:rPr lang="en-GB" dirty="0" err="1"/>
              <a:t>AddUserMessage</a:t>
            </a:r>
            <a:r>
              <a:rPr lang="en-GB" dirty="0"/>
              <a:t>(</a:t>
            </a:r>
            <a:r>
              <a:rPr lang="en-GB" dirty="0" err="1"/>
              <a:t>userInput</a:t>
            </a:r>
            <a:r>
              <a:rPr lang="en-GB" dirty="0"/>
              <a:t>);</a:t>
            </a:r>
          </a:p>
          <a:p>
            <a:r>
              <a:rPr lang="en-GB" dirty="0" err="1"/>
              <a:t>UserInput.Clear</a:t>
            </a:r>
            <a:r>
              <a:rPr lang="en-GB" dirty="0"/>
              <a:t>();</a:t>
            </a:r>
          </a:p>
          <a:p>
            <a:r>
              <a:rPr lang="en-GB" dirty="0" err="1"/>
              <a:t>StatusText.Text</a:t>
            </a:r>
            <a:r>
              <a:rPr lang="en-GB" dirty="0"/>
              <a:t> = "Processing...";</a:t>
            </a:r>
          </a:p>
          <a:p>
            <a:r>
              <a:rPr lang="en-GB" dirty="0"/>
              <a:t>These three lines happen in sequence and together give immediate visual feedback:</a:t>
            </a:r>
          </a:p>
          <a:p>
            <a:r>
              <a:rPr lang="en-GB" dirty="0" err="1"/>
              <a:t>AddUserMessage</a:t>
            </a:r>
            <a:r>
              <a:rPr lang="en-GB" dirty="0"/>
              <a:t>(</a:t>
            </a:r>
            <a:r>
              <a:rPr lang="en-GB" dirty="0" err="1"/>
              <a:t>userInput</a:t>
            </a:r>
            <a:r>
              <a:rPr lang="en-GB" dirty="0"/>
              <a:t>) renders the user's message as a cyan right-aligned bubble in the chat. The user sees their own message appear before the bot has even started processing — this makes the interface feel instant.</a:t>
            </a:r>
          </a:p>
          <a:p>
            <a:br>
              <a:rPr lang="en-GB" dirty="0"/>
            </a:br>
            <a:endParaRPr lang="en-GB" dirty="0"/>
          </a:p>
          <a:p>
            <a:br>
              <a:rPr lang="en-GB" dirty="0"/>
            </a:br>
            <a:endParaRPr lang="en-GB" dirty="0"/>
          </a:p>
          <a:p>
            <a:endParaRPr lang="en-GB" dirty="0"/>
          </a:p>
        </p:txBody>
      </p:sp>
      <p:sp>
        <p:nvSpPr>
          <p:cNvPr id="3" name="Footer Placeholder 2">
            <a:extLst>
              <a:ext uri="{FF2B5EF4-FFF2-40B4-BE49-F238E27FC236}">
                <a16:creationId xmlns:a16="http://schemas.microsoft.com/office/drawing/2014/main" id="{A74456AA-29A4-D7CF-C083-AD68E003CBEF}"/>
              </a:ext>
            </a:extLst>
          </p:cNvPr>
          <p:cNvSpPr>
            <a:spLocks noGrp="1"/>
          </p:cNvSpPr>
          <p:nvPr>
            <p:ph type="ftr" sz="quarter" idx="16"/>
          </p:nvPr>
        </p:nvSpPr>
        <p:spPr>
          <a:xfrm>
            <a:off x="3067619" y="6356350"/>
            <a:ext cx="4114800" cy="365125"/>
          </a:xfrm>
        </p:spPr>
        <p:txBody>
          <a:bodyPr vert="horz" lIns="91440" tIns="45720" rIns="91440" bIns="45720" rtlCol="0" anchor="ctr">
            <a:normAutofit/>
          </a:bodyPr>
          <a:lstStyle/>
          <a:p>
            <a:pPr algn="ctr">
              <a:spcAft>
                <a:spcPts val="600"/>
              </a:spcAft>
              <a:defRPr/>
            </a:pPr>
            <a:r>
              <a:rPr lang="en-US" sz="1200" kern="1200" spc="0" dirty="0">
                <a:solidFill>
                  <a:srgbClr val="FFFFFF"/>
                </a:solidFill>
                <a:latin typeface="Calibri" panose="020F0502020204030204"/>
                <a:ea typeface="+mn-ea"/>
                <a:cs typeface="+mn-cs"/>
              </a:rPr>
              <a:t>Moyagabo Raphasha</a:t>
            </a:r>
          </a:p>
        </p:txBody>
      </p:sp>
      <p:sp>
        <p:nvSpPr>
          <p:cNvPr id="5" name="Slide Number Placeholder 4">
            <a:extLst>
              <a:ext uri="{FF2B5EF4-FFF2-40B4-BE49-F238E27FC236}">
                <a16:creationId xmlns:a16="http://schemas.microsoft.com/office/drawing/2014/main" id="{F1AE3267-730C-1F3B-8331-2DDB0FB67ADE}"/>
              </a:ext>
            </a:extLst>
          </p:cNvPr>
          <p:cNvSpPr>
            <a:spLocks noGrp="1"/>
          </p:cNvSpPr>
          <p:nvPr>
            <p:ph type="sldNum" sz="quarter" idx="17"/>
          </p:nvPr>
        </p:nvSpPr>
        <p:spPr>
          <a:xfrm>
            <a:off x="8610600" y="6356350"/>
            <a:ext cx="2743200" cy="365125"/>
          </a:xfrm>
        </p:spPr>
        <p:txBody>
          <a:bodyPr vert="horz" lIns="91440" tIns="45720" rIns="91440" bIns="45720" rtlCol="0" anchor="ctr">
            <a:normAutofit/>
          </a:bodyPr>
          <a:lstStyle/>
          <a:p>
            <a:pPr>
              <a:spcAft>
                <a:spcPts val="600"/>
              </a:spcAft>
              <a:defRPr/>
            </a:pPr>
            <a:fld id="{24D65F33-A771-944D-9289-CA575F1D1B7F}" type="slidenum">
              <a:rPr lang="en-US" sz="1200" spc="0" smtClean="0">
                <a:solidFill>
                  <a:prstClr val="black">
                    <a:tint val="75000"/>
                  </a:prstClr>
                </a:solidFill>
                <a:latin typeface="Calibri" panose="020F0502020204030204"/>
              </a:rPr>
              <a:pPr>
                <a:spcAft>
                  <a:spcPts val="600"/>
                </a:spcAft>
                <a:defRPr/>
              </a:pPr>
              <a:t>34</a:t>
            </a:fld>
            <a:endParaRPr lang="en-US" sz="1200" spc="0" dirty="0">
              <a:solidFill>
                <a:prstClr val="black">
                  <a:tint val="75000"/>
                </a:prstClr>
              </a:solidFill>
              <a:latin typeface="Calibri" panose="020F0502020204030204"/>
            </a:endParaRPr>
          </a:p>
        </p:txBody>
      </p:sp>
      <p:sp>
        <p:nvSpPr>
          <p:cNvPr id="4" name="TextBox 3">
            <a:extLst>
              <a:ext uri="{FF2B5EF4-FFF2-40B4-BE49-F238E27FC236}">
                <a16:creationId xmlns:a16="http://schemas.microsoft.com/office/drawing/2014/main" id="{E6B4BFDB-AF66-E3B5-5E14-1E427DDAA1A0}"/>
              </a:ext>
            </a:extLst>
          </p:cNvPr>
          <p:cNvSpPr txBox="1"/>
          <p:nvPr/>
        </p:nvSpPr>
        <p:spPr>
          <a:xfrm>
            <a:off x="1495245" y="12038043"/>
            <a:ext cx="9144000" cy="317500"/>
          </a:xfrm>
          <a:prstGeom prst="rect">
            <a:avLst/>
          </a:prstGeom>
        </p:spPr>
        <p:txBody>
          <a:bodyPr>
            <a:normAutofit lnSpcReduction="10000"/>
          </a:bodyPr>
          <a:lstStyle/>
          <a:p>
            <a:pPr>
              <a:lnSpc>
                <a:spcPct val="90000"/>
              </a:lnSpc>
              <a:spcAft>
                <a:spcPts val="600"/>
              </a:spcAft>
            </a:pPr>
            <a:r>
              <a:rPr lang="en-US" sz="1700"/>
              <a:t>ThePhoto by PhotoAuthor is licensed under CCYYSA.</a:t>
            </a:r>
          </a:p>
        </p:txBody>
      </p:sp>
    </p:spTree>
    <p:extLst>
      <p:ext uri="{BB962C8B-B14F-4D97-AF65-F5344CB8AC3E}">
        <p14:creationId xmlns:p14="http://schemas.microsoft.com/office/powerpoint/2010/main" val="23357302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5FFE7AF-1A20-6F5D-96BE-A3AD28F764B8}"/>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8AB823F5-68F2-60FF-4720-ACDD22EC3A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Placeholder 8">
            <a:extLst>
              <a:ext uri="{FF2B5EF4-FFF2-40B4-BE49-F238E27FC236}">
                <a16:creationId xmlns:a16="http://schemas.microsoft.com/office/drawing/2014/main" id="{87D73934-337C-9573-8255-2E269C7FE97A}"/>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l="2942" r="2941" b="-1"/>
          <a:stretch>
            <a:fillRect/>
          </a:stretch>
        </p:blipFill>
        <p:spPr>
          <a:xfrm>
            <a:off x="1" y="10"/>
            <a:ext cx="9669642" cy="6857990"/>
          </a:xfrm>
          <a:prstGeom prst="rect">
            <a:avLst/>
          </a:prstGeom>
        </p:spPr>
      </p:pic>
      <p:sp>
        <p:nvSpPr>
          <p:cNvPr id="24" name="Rectangle 23">
            <a:extLst>
              <a:ext uri="{FF2B5EF4-FFF2-40B4-BE49-F238E27FC236}">
                <a16:creationId xmlns:a16="http://schemas.microsoft.com/office/drawing/2014/main" id="{765F2FAB-90D6-2405-5155-50D7148705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itle 14">
            <a:extLst>
              <a:ext uri="{FF2B5EF4-FFF2-40B4-BE49-F238E27FC236}">
                <a16:creationId xmlns:a16="http://schemas.microsoft.com/office/drawing/2014/main" id="{0C366209-CB3E-E690-BD89-586E48C378B9}"/>
              </a:ext>
            </a:extLst>
          </p:cNvPr>
          <p:cNvSpPr>
            <a:spLocks noGrp="1"/>
          </p:cNvSpPr>
          <p:nvPr>
            <p:ph type="title"/>
          </p:nvPr>
        </p:nvSpPr>
        <p:spPr>
          <a:xfrm>
            <a:off x="7599615" y="-493357"/>
            <a:ext cx="3822189" cy="1899912"/>
          </a:xfrm>
        </p:spPr>
        <p:txBody>
          <a:bodyPr vert="horz" lIns="91440" tIns="45720" rIns="91440" bIns="45720" rtlCol="0" anchor="ctr">
            <a:normAutofit/>
          </a:bodyPr>
          <a:lstStyle/>
          <a:p>
            <a:r>
              <a:rPr lang="en-US" sz="2800" dirty="0" err="1"/>
              <a:t>MainWindow.xaml.cs</a:t>
            </a:r>
            <a:endParaRPr lang="en-US" sz="2800" dirty="0"/>
          </a:p>
        </p:txBody>
      </p:sp>
      <p:sp>
        <p:nvSpPr>
          <p:cNvPr id="17" name="Text Placeholder 16">
            <a:extLst>
              <a:ext uri="{FF2B5EF4-FFF2-40B4-BE49-F238E27FC236}">
                <a16:creationId xmlns:a16="http://schemas.microsoft.com/office/drawing/2014/main" id="{E0DFBF79-BAAA-38C1-D2B4-7734D3D53EB2}"/>
              </a:ext>
            </a:extLst>
          </p:cNvPr>
          <p:cNvSpPr>
            <a:spLocks noGrp="1"/>
          </p:cNvSpPr>
          <p:nvPr>
            <p:ph type="body" sz="quarter" idx="4294967295"/>
          </p:nvPr>
        </p:nvSpPr>
        <p:spPr>
          <a:xfrm>
            <a:off x="7467462" y="726831"/>
            <a:ext cx="4490076" cy="4191526"/>
          </a:xfrm>
        </p:spPr>
        <p:txBody>
          <a:bodyPr vert="horz" lIns="91440" tIns="45720" rIns="91440" bIns="45720" rtlCol="0">
            <a:noAutofit/>
          </a:bodyPr>
          <a:lstStyle/>
          <a:p>
            <a:r>
              <a:rPr lang="en-GB" dirty="0"/>
              <a:t>If the input is blank, a warning message is shown in the chat and return exits the method immediately. This is a guard clause — it protects the rest of the method from running with invalid input. By returning early, all the remaining code in the method is guaranteed to have a non-empty </a:t>
            </a:r>
            <a:r>
              <a:rPr lang="en-GB" dirty="0" err="1"/>
              <a:t>userInput</a:t>
            </a:r>
            <a:r>
              <a:rPr lang="en-GB" dirty="0"/>
              <a:t> string to work with.</a:t>
            </a:r>
          </a:p>
          <a:p>
            <a:br>
              <a:rPr lang="en-GB" dirty="0"/>
            </a:br>
            <a:endParaRPr lang="en-GB" dirty="0"/>
          </a:p>
          <a:p>
            <a:r>
              <a:rPr lang="en-GB" b="1" dirty="0"/>
              <a:t>Step 3 — Display the user's message, clear the field, update status</a:t>
            </a:r>
            <a:endParaRPr lang="en-GB" dirty="0"/>
          </a:p>
          <a:p>
            <a:r>
              <a:rPr lang="en-GB" dirty="0" err="1"/>
              <a:t>csharp</a:t>
            </a:r>
            <a:endParaRPr lang="en-GB" dirty="0"/>
          </a:p>
          <a:p>
            <a:r>
              <a:rPr lang="en-GB" dirty="0" err="1"/>
              <a:t>AddUserMessage</a:t>
            </a:r>
            <a:r>
              <a:rPr lang="en-GB" dirty="0"/>
              <a:t>(</a:t>
            </a:r>
            <a:r>
              <a:rPr lang="en-GB" dirty="0" err="1"/>
              <a:t>userInput</a:t>
            </a:r>
            <a:r>
              <a:rPr lang="en-GB" dirty="0"/>
              <a:t>);</a:t>
            </a:r>
          </a:p>
          <a:p>
            <a:r>
              <a:rPr lang="en-GB" dirty="0" err="1"/>
              <a:t>UserInput.Clear</a:t>
            </a:r>
            <a:r>
              <a:rPr lang="en-GB" dirty="0"/>
              <a:t>();</a:t>
            </a:r>
          </a:p>
          <a:p>
            <a:r>
              <a:rPr lang="en-GB" dirty="0" err="1"/>
              <a:t>StatusText.Text</a:t>
            </a:r>
            <a:r>
              <a:rPr lang="en-GB" dirty="0"/>
              <a:t> = "Processing...";</a:t>
            </a:r>
          </a:p>
          <a:p>
            <a:r>
              <a:rPr lang="en-GB" dirty="0"/>
              <a:t>These three lines happen in sequence and together give immediate visual feedback:</a:t>
            </a:r>
          </a:p>
          <a:p>
            <a:r>
              <a:rPr lang="en-GB" dirty="0" err="1"/>
              <a:t>AddUserMessage</a:t>
            </a:r>
            <a:r>
              <a:rPr lang="en-GB" dirty="0"/>
              <a:t>(</a:t>
            </a:r>
            <a:r>
              <a:rPr lang="en-GB" dirty="0" err="1"/>
              <a:t>userInput</a:t>
            </a:r>
            <a:r>
              <a:rPr lang="en-GB" dirty="0"/>
              <a:t>) renders the user's message as a cyan right-aligned bubble in the chat. The user sees their own message appear before the bot has even started processing — this makes the interface feel instant.</a:t>
            </a:r>
          </a:p>
          <a:p>
            <a:br>
              <a:rPr lang="en-GB" dirty="0"/>
            </a:br>
            <a:endParaRPr lang="en-GB" dirty="0"/>
          </a:p>
          <a:p>
            <a:br>
              <a:rPr lang="en-GB" dirty="0"/>
            </a:br>
            <a:endParaRPr lang="en-GB" dirty="0"/>
          </a:p>
          <a:p>
            <a:endParaRPr lang="en-GB" dirty="0"/>
          </a:p>
        </p:txBody>
      </p:sp>
      <p:sp>
        <p:nvSpPr>
          <p:cNvPr id="3" name="Footer Placeholder 2">
            <a:extLst>
              <a:ext uri="{FF2B5EF4-FFF2-40B4-BE49-F238E27FC236}">
                <a16:creationId xmlns:a16="http://schemas.microsoft.com/office/drawing/2014/main" id="{E8460166-20CA-DA97-984F-8BAAD1E904EB}"/>
              </a:ext>
            </a:extLst>
          </p:cNvPr>
          <p:cNvSpPr>
            <a:spLocks noGrp="1"/>
          </p:cNvSpPr>
          <p:nvPr>
            <p:ph type="ftr" sz="quarter" idx="16"/>
          </p:nvPr>
        </p:nvSpPr>
        <p:spPr>
          <a:xfrm>
            <a:off x="3067619" y="6356350"/>
            <a:ext cx="4114800" cy="365125"/>
          </a:xfrm>
        </p:spPr>
        <p:txBody>
          <a:bodyPr vert="horz" lIns="91440" tIns="45720" rIns="91440" bIns="45720" rtlCol="0" anchor="ctr">
            <a:normAutofit/>
          </a:bodyPr>
          <a:lstStyle/>
          <a:p>
            <a:pPr algn="ctr">
              <a:spcAft>
                <a:spcPts val="600"/>
              </a:spcAft>
              <a:defRPr/>
            </a:pPr>
            <a:r>
              <a:rPr lang="en-US" sz="1200" kern="1200" spc="0" dirty="0">
                <a:solidFill>
                  <a:srgbClr val="FFFFFF"/>
                </a:solidFill>
                <a:latin typeface="Calibri" panose="020F0502020204030204"/>
                <a:ea typeface="+mn-ea"/>
                <a:cs typeface="+mn-cs"/>
              </a:rPr>
              <a:t>Moyagabo Raphasha</a:t>
            </a:r>
          </a:p>
        </p:txBody>
      </p:sp>
      <p:sp>
        <p:nvSpPr>
          <p:cNvPr id="5" name="Slide Number Placeholder 4">
            <a:extLst>
              <a:ext uri="{FF2B5EF4-FFF2-40B4-BE49-F238E27FC236}">
                <a16:creationId xmlns:a16="http://schemas.microsoft.com/office/drawing/2014/main" id="{75BC9E08-DC9A-9778-8547-19EAAE730A6F}"/>
              </a:ext>
            </a:extLst>
          </p:cNvPr>
          <p:cNvSpPr>
            <a:spLocks noGrp="1"/>
          </p:cNvSpPr>
          <p:nvPr>
            <p:ph type="sldNum" sz="quarter" idx="17"/>
          </p:nvPr>
        </p:nvSpPr>
        <p:spPr>
          <a:xfrm>
            <a:off x="8610600" y="6356350"/>
            <a:ext cx="2743200" cy="365125"/>
          </a:xfrm>
        </p:spPr>
        <p:txBody>
          <a:bodyPr vert="horz" lIns="91440" tIns="45720" rIns="91440" bIns="45720" rtlCol="0" anchor="ctr">
            <a:normAutofit/>
          </a:bodyPr>
          <a:lstStyle/>
          <a:p>
            <a:pPr>
              <a:spcAft>
                <a:spcPts val="600"/>
              </a:spcAft>
              <a:defRPr/>
            </a:pPr>
            <a:fld id="{24D65F33-A771-944D-9289-CA575F1D1B7F}" type="slidenum">
              <a:rPr lang="en-US" sz="1200" spc="0" smtClean="0">
                <a:solidFill>
                  <a:prstClr val="black">
                    <a:tint val="75000"/>
                  </a:prstClr>
                </a:solidFill>
                <a:latin typeface="Calibri" panose="020F0502020204030204"/>
              </a:rPr>
              <a:pPr>
                <a:spcAft>
                  <a:spcPts val="600"/>
                </a:spcAft>
                <a:defRPr/>
              </a:pPr>
              <a:t>35</a:t>
            </a:fld>
            <a:endParaRPr lang="en-US" sz="1200" spc="0" dirty="0">
              <a:solidFill>
                <a:prstClr val="black">
                  <a:tint val="75000"/>
                </a:prstClr>
              </a:solidFill>
              <a:latin typeface="Calibri" panose="020F0502020204030204"/>
            </a:endParaRPr>
          </a:p>
        </p:txBody>
      </p:sp>
      <p:sp>
        <p:nvSpPr>
          <p:cNvPr id="4" name="TextBox 3">
            <a:extLst>
              <a:ext uri="{FF2B5EF4-FFF2-40B4-BE49-F238E27FC236}">
                <a16:creationId xmlns:a16="http://schemas.microsoft.com/office/drawing/2014/main" id="{C7DA73FB-509E-AC0D-C719-F50EC94B90A4}"/>
              </a:ext>
            </a:extLst>
          </p:cNvPr>
          <p:cNvSpPr txBox="1"/>
          <p:nvPr/>
        </p:nvSpPr>
        <p:spPr>
          <a:xfrm>
            <a:off x="1495245" y="12038043"/>
            <a:ext cx="9144000" cy="317500"/>
          </a:xfrm>
          <a:prstGeom prst="rect">
            <a:avLst/>
          </a:prstGeom>
        </p:spPr>
        <p:txBody>
          <a:bodyPr>
            <a:normAutofit lnSpcReduction="10000"/>
          </a:bodyPr>
          <a:lstStyle/>
          <a:p>
            <a:pPr>
              <a:lnSpc>
                <a:spcPct val="90000"/>
              </a:lnSpc>
              <a:spcAft>
                <a:spcPts val="600"/>
              </a:spcAft>
            </a:pPr>
            <a:r>
              <a:rPr lang="en-US" sz="1700"/>
              <a:t>ThePhoto by PhotoAuthor is licensed under CCYYSA.</a:t>
            </a:r>
          </a:p>
        </p:txBody>
      </p:sp>
    </p:spTree>
    <p:extLst>
      <p:ext uri="{BB962C8B-B14F-4D97-AF65-F5344CB8AC3E}">
        <p14:creationId xmlns:p14="http://schemas.microsoft.com/office/powerpoint/2010/main" val="32238971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E0BD5AB-E40F-D560-19C6-960F5D323A72}"/>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918181DD-07D1-AE3C-3745-0E96A6978D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Placeholder 8">
            <a:extLst>
              <a:ext uri="{FF2B5EF4-FFF2-40B4-BE49-F238E27FC236}">
                <a16:creationId xmlns:a16="http://schemas.microsoft.com/office/drawing/2014/main" id="{A1D8B031-CD96-2BEE-4C92-5D6038E1AA31}"/>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l="2942" r="2941" b="-1"/>
          <a:stretch>
            <a:fillRect/>
          </a:stretch>
        </p:blipFill>
        <p:spPr>
          <a:xfrm>
            <a:off x="1" y="10"/>
            <a:ext cx="9669642" cy="6857990"/>
          </a:xfrm>
          <a:prstGeom prst="rect">
            <a:avLst/>
          </a:prstGeom>
        </p:spPr>
      </p:pic>
      <p:sp>
        <p:nvSpPr>
          <p:cNvPr id="24" name="Rectangle 23">
            <a:extLst>
              <a:ext uri="{FF2B5EF4-FFF2-40B4-BE49-F238E27FC236}">
                <a16:creationId xmlns:a16="http://schemas.microsoft.com/office/drawing/2014/main" id="{312C337A-6C88-79D3-D644-FF3766E3F3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itle 14">
            <a:extLst>
              <a:ext uri="{FF2B5EF4-FFF2-40B4-BE49-F238E27FC236}">
                <a16:creationId xmlns:a16="http://schemas.microsoft.com/office/drawing/2014/main" id="{371429DF-2CAC-B634-4152-F58A3D5AC3FF}"/>
              </a:ext>
            </a:extLst>
          </p:cNvPr>
          <p:cNvSpPr>
            <a:spLocks noGrp="1"/>
          </p:cNvSpPr>
          <p:nvPr>
            <p:ph type="title"/>
          </p:nvPr>
        </p:nvSpPr>
        <p:spPr>
          <a:xfrm>
            <a:off x="7599615" y="-493357"/>
            <a:ext cx="3822189" cy="1899912"/>
          </a:xfrm>
        </p:spPr>
        <p:txBody>
          <a:bodyPr vert="horz" lIns="91440" tIns="45720" rIns="91440" bIns="45720" rtlCol="0" anchor="ctr">
            <a:normAutofit/>
          </a:bodyPr>
          <a:lstStyle/>
          <a:p>
            <a:r>
              <a:rPr lang="en-US" sz="2800" dirty="0" err="1"/>
              <a:t>MainWindow.xaml.cs</a:t>
            </a:r>
            <a:endParaRPr lang="en-US" sz="2800" dirty="0"/>
          </a:p>
        </p:txBody>
      </p:sp>
      <p:sp>
        <p:nvSpPr>
          <p:cNvPr id="17" name="Text Placeholder 16">
            <a:extLst>
              <a:ext uri="{FF2B5EF4-FFF2-40B4-BE49-F238E27FC236}">
                <a16:creationId xmlns:a16="http://schemas.microsoft.com/office/drawing/2014/main" id="{023837CD-A4A6-6D1F-9B07-F46E9B6F8375}"/>
              </a:ext>
            </a:extLst>
          </p:cNvPr>
          <p:cNvSpPr>
            <a:spLocks noGrp="1"/>
          </p:cNvSpPr>
          <p:nvPr>
            <p:ph type="body" sz="quarter" idx="4294967295"/>
          </p:nvPr>
        </p:nvSpPr>
        <p:spPr>
          <a:xfrm>
            <a:off x="7467462" y="726831"/>
            <a:ext cx="4490076" cy="4191526"/>
          </a:xfrm>
        </p:spPr>
        <p:txBody>
          <a:bodyPr vert="horz" lIns="91440" tIns="45720" rIns="91440" bIns="45720" rtlCol="0">
            <a:noAutofit/>
          </a:bodyPr>
          <a:lstStyle/>
          <a:p>
            <a:r>
              <a:rPr lang="en-GB" dirty="0" err="1"/>
              <a:t>UserInput.Clear</a:t>
            </a:r>
            <a:r>
              <a:rPr lang="en-GB" dirty="0"/>
              <a:t>() empties the </a:t>
            </a:r>
            <a:r>
              <a:rPr lang="en-GB" dirty="0" err="1"/>
              <a:t>TextBox</a:t>
            </a:r>
            <a:r>
              <a:rPr lang="en-GB" dirty="0"/>
              <a:t> so it is ready for the next message. If this were not called, the user's previous message would remain in the input field.</a:t>
            </a:r>
          </a:p>
          <a:p>
            <a:r>
              <a:rPr lang="en-GB" dirty="0" err="1"/>
              <a:t>StatusText.Text</a:t>
            </a:r>
            <a:r>
              <a:rPr lang="en-GB" dirty="0"/>
              <a:t> = "Processing..." updates the status bar at the bottom of the window. This text change tells the user that the bot is working on a response. Even though </a:t>
            </a:r>
            <a:r>
              <a:rPr lang="en-GB" dirty="0" err="1"/>
              <a:t>GetResponse</a:t>
            </a:r>
            <a:r>
              <a:rPr lang="en-GB" dirty="0"/>
              <a:t>() typically runs in milliseconds, having a status update is good practice and important if processing ever takes longer.</a:t>
            </a:r>
          </a:p>
          <a:p>
            <a:br>
              <a:rPr lang="en-GB" dirty="0"/>
            </a:br>
            <a:endParaRPr lang="en-GB" dirty="0"/>
          </a:p>
          <a:p>
            <a:r>
              <a:rPr lang="en-GB" b="1" dirty="0"/>
              <a:t>Step 4 — Get the bot's response</a:t>
            </a:r>
            <a:endParaRPr lang="en-GB" dirty="0"/>
          </a:p>
          <a:p>
            <a:r>
              <a:rPr lang="en-GB" dirty="0" err="1"/>
              <a:t>csharp</a:t>
            </a:r>
            <a:endParaRPr lang="en-GB" dirty="0"/>
          </a:p>
          <a:p>
            <a:r>
              <a:rPr lang="en-GB" dirty="0"/>
              <a:t>string response = _</a:t>
            </a:r>
            <a:r>
              <a:rPr lang="en-GB" dirty="0" err="1"/>
              <a:t>chatService.GetResponse</a:t>
            </a:r>
            <a:r>
              <a:rPr lang="en-GB" dirty="0"/>
              <a:t>(</a:t>
            </a:r>
            <a:r>
              <a:rPr lang="en-GB" dirty="0" err="1"/>
              <a:t>userInput</a:t>
            </a:r>
            <a:r>
              <a:rPr lang="en-GB" dirty="0"/>
              <a:t>);</a:t>
            </a:r>
          </a:p>
          <a:p>
            <a:r>
              <a:rPr lang="en-GB" dirty="0"/>
              <a:t>This is the single call into the entire </a:t>
            </a:r>
            <a:r>
              <a:rPr lang="en-GB" dirty="0" err="1"/>
              <a:t>ChatService</a:t>
            </a:r>
            <a:r>
              <a:rPr lang="en-GB" dirty="0"/>
              <a:t> engine. The original user input (not the lowercased version — that normalisation happens inside </a:t>
            </a:r>
            <a:r>
              <a:rPr lang="en-GB" dirty="0" err="1"/>
              <a:t>GetResponse</a:t>
            </a:r>
            <a:r>
              <a:rPr lang="en-GB" dirty="0"/>
              <a:t>() itself) is passed in. The entire 7-step pipeline runs: memory checks, sentiment detection, follow-up check, keyword matching, small talk handling, fallback, and delegate formatting. Whatever string comes back is stored in response.</a:t>
            </a:r>
          </a:p>
          <a:p>
            <a:endParaRPr lang="en-GB" dirty="0"/>
          </a:p>
        </p:txBody>
      </p:sp>
      <p:sp>
        <p:nvSpPr>
          <p:cNvPr id="3" name="Footer Placeholder 2">
            <a:extLst>
              <a:ext uri="{FF2B5EF4-FFF2-40B4-BE49-F238E27FC236}">
                <a16:creationId xmlns:a16="http://schemas.microsoft.com/office/drawing/2014/main" id="{AF9D6399-3303-71D1-FC8F-5482BA60A5D1}"/>
              </a:ext>
            </a:extLst>
          </p:cNvPr>
          <p:cNvSpPr>
            <a:spLocks noGrp="1"/>
          </p:cNvSpPr>
          <p:nvPr>
            <p:ph type="ftr" sz="quarter" idx="16"/>
          </p:nvPr>
        </p:nvSpPr>
        <p:spPr>
          <a:xfrm>
            <a:off x="3067619" y="6356350"/>
            <a:ext cx="4114800" cy="365125"/>
          </a:xfrm>
        </p:spPr>
        <p:txBody>
          <a:bodyPr vert="horz" lIns="91440" tIns="45720" rIns="91440" bIns="45720" rtlCol="0" anchor="ctr">
            <a:normAutofit/>
          </a:bodyPr>
          <a:lstStyle/>
          <a:p>
            <a:pPr algn="ctr">
              <a:spcAft>
                <a:spcPts val="600"/>
              </a:spcAft>
              <a:defRPr/>
            </a:pPr>
            <a:r>
              <a:rPr lang="en-US" sz="1200" kern="1200" spc="0" dirty="0">
                <a:solidFill>
                  <a:srgbClr val="FFFFFF"/>
                </a:solidFill>
                <a:latin typeface="Calibri" panose="020F0502020204030204"/>
                <a:ea typeface="+mn-ea"/>
                <a:cs typeface="+mn-cs"/>
              </a:rPr>
              <a:t>Moyagabo Raphasha</a:t>
            </a:r>
          </a:p>
        </p:txBody>
      </p:sp>
      <p:sp>
        <p:nvSpPr>
          <p:cNvPr id="5" name="Slide Number Placeholder 4">
            <a:extLst>
              <a:ext uri="{FF2B5EF4-FFF2-40B4-BE49-F238E27FC236}">
                <a16:creationId xmlns:a16="http://schemas.microsoft.com/office/drawing/2014/main" id="{372B349C-52C8-862B-6FEC-B0CA481C3588}"/>
              </a:ext>
            </a:extLst>
          </p:cNvPr>
          <p:cNvSpPr>
            <a:spLocks noGrp="1"/>
          </p:cNvSpPr>
          <p:nvPr>
            <p:ph type="sldNum" sz="quarter" idx="17"/>
          </p:nvPr>
        </p:nvSpPr>
        <p:spPr>
          <a:xfrm>
            <a:off x="8610600" y="6356350"/>
            <a:ext cx="2743200" cy="365125"/>
          </a:xfrm>
        </p:spPr>
        <p:txBody>
          <a:bodyPr vert="horz" lIns="91440" tIns="45720" rIns="91440" bIns="45720" rtlCol="0" anchor="ctr">
            <a:normAutofit/>
          </a:bodyPr>
          <a:lstStyle/>
          <a:p>
            <a:pPr>
              <a:spcAft>
                <a:spcPts val="600"/>
              </a:spcAft>
              <a:defRPr/>
            </a:pPr>
            <a:fld id="{24D65F33-A771-944D-9289-CA575F1D1B7F}" type="slidenum">
              <a:rPr lang="en-US" sz="1200" spc="0" smtClean="0">
                <a:solidFill>
                  <a:prstClr val="black">
                    <a:tint val="75000"/>
                  </a:prstClr>
                </a:solidFill>
                <a:latin typeface="Calibri" panose="020F0502020204030204"/>
              </a:rPr>
              <a:pPr>
                <a:spcAft>
                  <a:spcPts val="600"/>
                </a:spcAft>
                <a:defRPr/>
              </a:pPr>
              <a:t>36</a:t>
            </a:fld>
            <a:endParaRPr lang="en-US" sz="1200" spc="0" dirty="0">
              <a:solidFill>
                <a:prstClr val="black">
                  <a:tint val="75000"/>
                </a:prstClr>
              </a:solidFill>
              <a:latin typeface="Calibri" panose="020F0502020204030204"/>
            </a:endParaRPr>
          </a:p>
        </p:txBody>
      </p:sp>
      <p:sp>
        <p:nvSpPr>
          <p:cNvPr id="4" name="TextBox 3">
            <a:extLst>
              <a:ext uri="{FF2B5EF4-FFF2-40B4-BE49-F238E27FC236}">
                <a16:creationId xmlns:a16="http://schemas.microsoft.com/office/drawing/2014/main" id="{00F63F26-8034-B877-8F05-509E247169AF}"/>
              </a:ext>
            </a:extLst>
          </p:cNvPr>
          <p:cNvSpPr txBox="1"/>
          <p:nvPr/>
        </p:nvSpPr>
        <p:spPr>
          <a:xfrm>
            <a:off x="1495245" y="12038043"/>
            <a:ext cx="9144000" cy="317500"/>
          </a:xfrm>
          <a:prstGeom prst="rect">
            <a:avLst/>
          </a:prstGeom>
        </p:spPr>
        <p:txBody>
          <a:bodyPr>
            <a:normAutofit lnSpcReduction="10000"/>
          </a:bodyPr>
          <a:lstStyle/>
          <a:p>
            <a:pPr>
              <a:lnSpc>
                <a:spcPct val="90000"/>
              </a:lnSpc>
              <a:spcAft>
                <a:spcPts val="600"/>
              </a:spcAft>
            </a:pPr>
            <a:r>
              <a:rPr lang="en-US" sz="1700"/>
              <a:t>ThePhoto by PhotoAuthor is licensed under CCYYSA.</a:t>
            </a:r>
          </a:p>
        </p:txBody>
      </p:sp>
    </p:spTree>
    <p:extLst>
      <p:ext uri="{BB962C8B-B14F-4D97-AF65-F5344CB8AC3E}">
        <p14:creationId xmlns:p14="http://schemas.microsoft.com/office/powerpoint/2010/main" val="20447727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D79EBC3-4521-EDD0-0BCB-8D71559616EC}"/>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EC8E1514-65A1-A4D5-4A4E-B84A10D9B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Placeholder 8">
            <a:extLst>
              <a:ext uri="{FF2B5EF4-FFF2-40B4-BE49-F238E27FC236}">
                <a16:creationId xmlns:a16="http://schemas.microsoft.com/office/drawing/2014/main" id="{19309F9B-A7A6-1756-BA6B-4E32E41822B8}"/>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l="2942" r="2941" b="-1"/>
          <a:stretch>
            <a:fillRect/>
          </a:stretch>
        </p:blipFill>
        <p:spPr>
          <a:xfrm>
            <a:off x="1" y="10"/>
            <a:ext cx="9669642" cy="6857990"/>
          </a:xfrm>
          <a:prstGeom prst="rect">
            <a:avLst/>
          </a:prstGeom>
        </p:spPr>
      </p:pic>
      <p:sp>
        <p:nvSpPr>
          <p:cNvPr id="24" name="Rectangle 23">
            <a:extLst>
              <a:ext uri="{FF2B5EF4-FFF2-40B4-BE49-F238E27FC236}">
                <a16:creationId xmlns:a16="http://schemas.microsoft.com/office/drawing/2014/main" id="{11B29FFC-7C80-2AB3-EFFF-C21C0427A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itle 14">
            <a:extLst>
              <a:ext uri="{FF2B5EF4-FFF2-40B4-BE49-F238E27FC236}">
                <a16:creationId xmlns:a16="http://schemas.microsoft.com/office/drawing/2014/main" id="{8C994E0D-EC8B-0E27-B3CB-3505D92CAA37}"/>
              </a:ext>
            </a:extLst>
          </p:cNvPr>
          <p:cNvSpPr>
            <a:spLocks noGrp="1"/>
          </p:cNvSpPr>
          <p:nvPr>
            <p:ph type="title"/>
          </p:nvPr>
        </p:nvSpPr>
        <p:spPr>
          <a:xfrm>
            <a:off x="7599615" y="-493357"/>
            <a:ext cx="3822189" cy="1899912"/>
          </a:xfrm>
        </p:spPr>
        <p:txBody>
          <a:bodyPr vert="horz" lIns="91440" tIns="45720" rIns="91440" bIns="45720" rtlCol="0" anchor="ctr">
            <a:normAutofit/>
          </a:bodyPr>
          <a:lstStyle/>
          <a:p>
            <a:r>
              <a:rPr lang="en-US" sz="2800" dirty="0" err="1"/>
              <a:t>MainWindow.xaml.cs</a:t>
            </a:r>
            <a:endParaRPr lang="en-US" sz="2800" dirty="0"/>
          </a:p>
        </p:txBody>
      </p:sp>
      <p:sp>
        <p:nvSpPr>
          <p:cNvPr id="17" name="Text Placeholder 16">
            <a:extLst>
              <a:ext uri="{FF2B5EF4-FFF2-40B4-BE49-F238E27FC236}">
                <a16:creationId xmlns:a16="http://schemas.microsoft.com/office/drawing/2014/main" id="{7096DCC4-5689-6E42-FE74-2E05BDA5E05B}"/>
              </a:ext>
            </a:extLst>
          </p:cNvPr>
          <p:cNvSpPr>
            <a:spLocks noGrp="1"/>
          </p:cNvSpPr>
          <p:nvPr>
            <p:ph type="body" sz="quarter" idx="4294967295"/>
          </p:nvPr>
        </p:nvSpPr>
        <p:spPr>
          <a:xfrm>
            <a:off x="7467462" y="726831"/>
            <a:ext cx="4490076" cy="4191526"/>
          </a:xfrm>
        </p:spPr>
        <p:txBody>
          <a:bodyPr vert="horz" lIns="91440" tIns="45720" rIns="91440" bIns="45720" rtlCol="0">
            <a:noAutofit/>
          </a:bodyPr>
          <a:lstStyle/>
          <a:p>
            <a:r>
              <a:rPr lang="en-GB" dirty="0" err="1"/>
              <a:t>UserInput.Clear</a:t>
            </a:r>
            <a:r>
              <a:rPr lang="en-GB" dirty="0"/>
              <a:t>() empties the </a:t>
            </a:r>
            <a:r>
              <a:rPr lang="en-GB" dirty="0" err="1"/>
              <a:t>TextBox</a:t>
            </a:r>
            <a:r>
              <a:rPr lang="en-GB" dirty="0"/>
              <a:t> so it is ready for the next message. If this were not called, the user's previous message would remain in the input field.</a:t>
            </a:r>
          </a:p>
          <a:p>
            <a:r>
              <a:rPr lang="en-GB" dirty="0" err="1"/>
              <a:t>StatusText.Text</a:t>
            </a:r>
            <a:r>
              <a:rPr lang="en-GB" dirty="0"/>
              <a:t> = "Processing..." updates the status bar at the bottom of the window. This text change tells the user that the bot is working on a response. Even though </a:t>
            </a:r>
            <a:r>
              <a:rPr lang="en-GB" dirty="0" err="1"/>
              <a:t>GetResponse</a:t>
            </a:r>
            <a:r>
              <a:rPr lang="en-GB" dirty="0"/>
              <a:t>() typically runs in milliseconds, having a status update is good practice and important if processing ever takes longer.</a:t>
            </a:r>
          </a:p>
          <a:p>
            <a:br>
              <a:rPr lang="en-GB" dirty="0"/>
            </a:br>
            <a:endParaRPr lang="en-GB" dirty="0"/>
          </a:p>
          <a:p>
            <a:r>
              <a:rPr lang="en-GB" b="1" dirty="0"/>
              <a:t>Step 4 — Get the bot's response</a:t>
            </a:r>
            <a:endParaRPr lang="en-GB" dirty="0"/>
          </a:p>
          <a:p>
            <a:r>
              <a:rPr lang="en-GB" dirty="0" err="1"/>
              <a:t>csharp</a:t>
            </a:r>
            <a:endParaRPr lang="en-GB" dirty="0"/>
          </a:p>
          <a:p>
            <a:r>
              <a:rPr lang="en-GB" dirty="0"/>
              <a:t>string response = _</a:t>
            </a:r>
            <a:r>
              <a:rPr lang="en-GB" dirty="0" err="1"/>
              <a:t>chatService.GetResponse</a:t>
            </a:r>
            <a:r>
              <a:rPr lang="en-GB" dirty="0"/>
              <a:t>(</a:t>
            </a:r>
            <a:r>
              <a:rPr lang="en-GB" dirty="0" err="1"/>
              <a:t>userInput</a:t>
            </a:r>
            <a:r>
              <a:rPr lang="en-GB" dirty="0"/>
              <a:t>);</a:t>
            </a:r>
          </a:p>
          <a:p>
            <a:r>
              <a:rPr lang="en-GB" dirty="0"/>
              <a:t>This is the single call into the entire </a:t>
            </a:r>
            <a:r>
              <a:rPr lang="en-GB" dirty="0" err="1"/>
              <a:t>ChatService</a:t>
            </a:r>
            <a:r>
              <a:rPr lang="en-GB" dirty="0"/>
              <a:t> engine. The original user input (not the lowercased version — that normalisation happens inside </a:t>
            </a:r>
            <a:r>
              <a:rPr lang="en-GB" dirty="0" err="1"/>
              <a:t>GetResponse</a:t>
            </a:r>
            <a:r>
              <a:rPr lang="en-GB" dirty="0"/>
              <a:t>() itself) is passed in. The entire 7-step pipeline runs: memory checks, sentiment detection, follow-up check, keyword matching, small talk handling, fallback, and delegate formatting. Whatever string comes back is stored in response.</a:t>
            </a:r>
          </a:p>
          <a:p>
            <a:endParaRPr lang="en-GB" dirty="0"/>
          </a:p>
        </p:txBody>
      </p:sp>
      <p:sp>
        <p:nvSpPr>
          <p:cNvPr id="3" name="Footer Placeholder 2">
            <a:extLst>
              <a:ext uri="{FF2B5EF4-FFF2-40B4-BE49-F238E27FC236}">
                <a16:creationId xmlns:a16="http://schemas.microsoft.com/office/drawing/2014/main" id="{253189A8-9D56-47D2-F465-98E5833E1068}"/>
              </a:ext>
            </a:extLst>
          </p:cNvPr>
          <p:cNvSpPr>
            <a:spLocks noGrp="1"/>
          </p:cNvSpPr>
          <p:nvPr>
            <p:ph type="ftr" sz="quarter" idx="16"/>
          </p:nvPr>
        </p:nvSpPr>
        <p:spPr>
          <a:xfrm>
            <a:off x="3067619" y="6356350"/>
            <a:ext cx="4114800" cy="365125"/>
          </a:xfrm>
        </p:spPr>
        <p:txBody>
          <a:bodyPr vert="horz" lIns="91440" tIns="45720" rIns="91440" bIns="45720" rtlCol="0" anchor="ctr">
            <a:normAutofit/>
          </a:bodyPr>
          <a:lstStyle/>
          <a:p>
            <a:pPr algn="ctr">
              <a:spcAft>
                <a:spcPts val="600"/>
              </a:spcAft>
              <a:defRPr/>
            </a:pPr>
            <a:r>
              <a:rPr lang="en-US" sz="1200" kern="1200" spc="0" dirty="0">
                <a:solidFill>
                  <a:srgbClr val="FFFFFF"/>
                </a:solidFill>
                <a:latin typeface="Calibri" panose="020F0502020204030204"/>
                <a:ea typeface="+mn-ea"/>
                <a:cs typeface="+mn-cs"/>
              </a:rPr>
              <a:t>Moyagabo Raphasha</a:t>
            </a:r>
          </a:p>
        </p:txBody>
      </p:sp>
      <p:sp>
        <p:nvSpPr>
          <p:cNvPr id="5" name="Slide Number Placeholder 4">
            <a:extLst>
              <a:ext uri="{FF2B5EF4-FFF2-40B4-BE49-F238E27FC236}">
                <a16:creationId xmlns:a16="http://schemas.microsoft.com/office/drawing/2014/main" id="{3857A444-87CE-07C2-2D07-6676A21D7886}"/>
              </a:ext>
            </a:extLst>
          </p:cNvPr>
          <p:cNvSpPr>
            <a:spLocks noGrp="1"/>
          </p:cNvSpPr>
          <p:nvPr>
            <p:ph type="sldNum" sz="quarter" idx="17"/>
          </p:nvPr>
        </p:nvSpPr>
        <p:spPr>
          <a:xfrm>
            <a:off x="8610600" y="6356350"/>
            <a:ext cx="2743200" cy="365125"/>
          </a:xfrm>
        </p:spPr>
        <p:txBody>
          <a:bodyPr vert="horz" lIns="91440" tIns="45720" rIns="91440" bIns="45720" rtlCol="0" anchor="ctr">
            <a:normAutofit/>
          </a:bodyPr>
          <a:lstStyle/>
          <a:p>
            <a:pPr>
              <a:spcAft>
                <a:spcPts val="600"/>
              </a:spcAft>
              <a:defRPr/>
            </a:pPr>
            <a:fld id="{24D65F33-A771-944D-9289-CA575F1D1B7F}" type="slidenum">
              <a:rPr lang="en-US" sz="1200" spc="0" smtClean="0">
                <a:solidFill>
                  <a:prstClr val="black">
                    <a:tint val="75000"/>
                  </a:prstClr>
                </a:solidFill>
                <a:latin typeface="Calibri" panose="020F0502020204030204"/>
              </a:rPr>
              <a:pPr>
                <a:spcAft>
                  <a:spcPts val="600"/>
                </a:spcAft>
                <a:defRPr/>
              </a:pPr>
              <a:t>37</a:t>
            </a:fld>
            <a:endParaRPr lang="en-US" sz="1200" spc="0" dirty="0">
              <a:solidFill>
                <a:prstClr val="black">
                  <a:tint val="75000"/>
                </a:prstClr>
              </a:solidFill>
              <a:latin typeface="Calibri" panose="020F0502020204030204"/>
            </a:endParaRPr>
          </a:p>
        </p:txBody>
      </p:sp>
      <p:sp>
        <p:nvSpPr>
          <p:cNvPr id="4" name="TextBox 3">
            <a:extLst>
              <a:ext uri="{FF2B5EF4-FFF2-40B4-BE49-F238E27FC236}">
                <a16:creationId xmlns:a16="http://schemas.microsoft.com/office/drawing/2014/main" id="{2AF003AB-B1F2-B9BF-83FC-2F6585B90338}"/>
              </a:ext>
            </a:extLst>
          </p:cNvPr>
          <p:cNvSpPr txBox="1"/>
          <p:nvPr/>
        </p:nvSpPr>
        <p:spPr>
          <a:xfrm>
            <a:off x="1495245" y="12038043"/>
            <a:ext cx="9144000" cy="317500"/>
          </a:xfrm>
          <a:prstGeom prst="rect">
            <a:avLst/>
          </a:prstGeom>
        </p:spPr>
        <p:txBody>
          <a:bodyPr>
            <a:normAutofit lnSpcReduction="10000"/>
          </a:bodyPr>
          <a:lstStyle/>
          <a:p>
            <a:pPr>
              <a:lnSpc>
                <a:spcPct val="90000"/>
              </a:lnSpc>
              <a:spcAft>
                <a:spcPts val="600"/>
              </a:spcAft>
            </a:pPr>
            <a:r>
              <a:rPr lang="en-US" sz="1700"/>
              <a:t>ThePhoto by PhotoAuthor is licensed under CCYYSA.</a:t>
            </a:r>
          </a:p>
        </p:txBody>
      </p:sp>
    </p:spTree>
    <p:extLst>
      <p:ext uri="{BB962C8B-B14F-4D97-AF65-F5344CB8AC3E}">
        <p14:creationId xmlns:p14="http://schemas.microsoft.com/office/powerpoint/2010/main" val="13371055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18E3892-2C56-442F-A431-B0FB7C5A9CF3}"/>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EFADD626-D727-CEF9-3836-14D941A20E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Placeholder 8">
            <a:extLst>
              <a:ext uri="{FF2B5EF4-FFF2-40B4-BE49-F238E27FC236}">
                <a16:creationId xmlns:a16="http://schemas.microsoft.com/office/drawing/2014/main" id="{9141AAD4-4F24-7E48-9792-5A62ED9C0D62}"/>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l="2942" r="2941" b="-1"/>
          <a:stretch>
            <a:fillRect/>
          </a:stretch>
        </p:blipFill>
        <p:spPr>
          <a:xfrm>
            <a:off x="1" y="10"/>
            <a:ext cx="9669642" cy="6857990"/>
          </a:xfrm>
          <a:prstGeom prst="rect">
            <a:avLst/>
          </a:prstGeom>
        </p:spPr>
      </p:pic>
      <p:sp>
        <p:nvSpPr>
          <p:cNvPr id="24" name="Rectangle 23">
            <a:extLst>
              <a:ext uri="{FF2B5EF4-FFF2-40B4-BE49-F238E27FC236}">
                <a16:creationId xmlns:a16="http://schemas.microsoft.com/office/drawing/2014/main" id="{F9223BB7-0B68-5D3E-3A0A-F2F3F20C4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itle 14">
            <a:extLst>
              <a:ext uri="{FF2B5EF4-FFF2-40B4-BE49-F238E27FC236}">
                <a16:creationId xmlns:a16="http://schemas.microsoft.com/office/drawing/2014/main" id="{AD9DE301-1932-79C4-9E8B-65C6F60C7053}"/>
              </a:ext>
            </a:extLst>
          </p:cNvPr>
          <p:cNvSpPr>
            <a:spLocks noGrp="1"/>
          </p:cNvSpPr>
          <p:nvPr>
            <p:ph type="title"/>
          </p:nvPr>
        </p:nvSpPr>
        <p:spPr>
          <a:xfrm>
            <a:off x="7599615" y="-493357"/>
            <a:ext cx="3822189" cy="1899912"/>
          </a:xfrm>
        </p:spPr>
        <p:txBody>
          <a:bodyPr vert="horz" lIns="91440" tIns="45720" rIns="91440" bIns="45720" rtlCol="0" anchor="ctr">
            <a:normAutofit/>
          </a:bodyPr>
          <a:lstStyle/>
          <a:p>
            <a:r>
              <a:rPr lang="en-US" sz="2800" dirty="0" err="1"/>
              <a:t>MainWindow.xaml.cs</a:t>
            </a:r>
            <a:endParaRPr lang="en-US" sz="2800" dirty="0"/>
          </a:p>
        </p:txBody>
      </p:sp>
      <p:sp>
        <p:nvSpPr>
          <p:cNvPr id="17" name="Text Placeholder 16">
            <a:extLst>
              <a:ext uri="{FF2B5EF4-FFF2-40B4-BE49-F238E27FC236}">
                <a16:creationId xmlns:a16="http://schemas.microsoft.com/office/drawing/2014/main" id="{8C7C4391-FFC8-DE68-CA7F-6FDFFC3EFCC5}"/>
              </a:ext>
            </a:extLst>
          </p:cNvPr>
          <p:cNvSpPr>
            <a:spLocks noGrp="1"/>
          </p:cNvSpPr>
          <p:nvPr>
            <p:ph type="body" sz="quarter" idx="4294967295"/>
          </p:nvPr>
        </p:nvSpPr>
        <p:spPr>
          <a:xfrm>
            <a:off x="7467462" y="726831"/>
            <a:ext cx="4490076" cy="4191526"/>
          </a:xfrm>
        </p:spPr>
        <p:txBody>
          <a:bodyPr vert="horz" lIns="91440" tIns="45720" rIns="91440" bIns="45720" rtlCol="0">
            <a:noAutofit/>
          </a:bodyPr>
          <a:lstStyle/>
          <a:p>
            <a:r>
              <a:rPr lang="en-GB" dirty="0"/>
              <a:t>This call is synchronous — the UI thread waits here while </a:t>
            </a:r>
            <a:r>
              <a:rPr lang="en-GB" dirty="0" err="1"/>
              <a:t>GetResponse</a:t>
            </a:r>
            <a:r>
              <a:rPr lang="en-GB" dirty="0"/>
              <a:t>() runs. This is acceptable because all </a:t>
            </a:r>
            <a:r>
              <a:rPr lang="en-GB" dirty="0" err="1"/>
              <a:t>GetResponse</a:t>
            </a:r>
            <a:r>
              <a:rPr lang="en-GB" dirty="0"/>
              <a:t>() does is dictionary lookups and string operations, which complete in under a millisecond. Using async here would add complexity without any real benefit. If the response generation ever involved a network call or heavy computation, this is where async/await would be introduced.</a:t>
            </a:r>
          </a:p>
          <a:p>
            <a:br>
              <a:rPr lang="en-GB" dirty="0"/>
            </a:br>
            <a:endParaRPr lang="en-GB" dirty="0"/>
          </a:p>
          <a:p>
            <a:r>
              <a:rPr lang="en-GB" b="1" dirty="0"/>
              <a:t>Step 5 — Display the response and reset the status bar</a:t>
            </a:r>
            <a:endParaRPr lang="en-GB" dirty="0"/>
          </a:p>
          <a:p>
            <a:r>
              <a:rPr lang="en-GB" dirty="0" err="1"/>
              <a:t>csharp</a:t>
            </a:r>
            <a:endParaRPr lang="en-GB" dirty="0"/>
          </a:p>
          <a:p>
            <a:r>
              <a:rPr lang="en-GB" dirty="0" err="1"/>
              <a:t>AddBotMessage</a:t>
            </a:r>
            <a:r>
              <a:rPr lang="en-GB" dirty="0"/>
              <a:t>(response);</a:t>
            </a:r>
          </a:p>
          <a:p>
            <a:r>
              <a:rPr lang="en-GB" dirty="0" err="1"/>
              <a:t>StatusText.Text</a:t>
            </a:r>
            <a:r>
              <a:rPr lang="en-GB" dirty="0"/>
              <a:t> = "Ready | Type 'help' for topics";</a:t>
            </a:r>
          </a:p>
          <a:p>
            <a:r>
              <a:rPr lang="en-GB" dirty="0" err="1"/>
              <a:t>AddBotMessage</a:t>
            </a:r>
            <a:r>
              <a:rPr lang="en-GB" dirty="0"/>
              <a:t>(response) renders the bot's reply as a dark navy left-aligned bubble and scrolls the chat to show it.</a:t>
            </a:r>
          </a:p>
          <a:p>
            <a:r>
              <a:rPr lang="en-GB" dirty="0" err="1"/>
              <a:t>StatusText.Text</a:t>
            </a:r>
            <a:r>
              <a:rPr lang="en-GB" dirty="0"/>
              <a:t> = "Ready | Type 'help' for topics" resets the status bar back to its idle message. The status bar has now completed a full cycle: idle → processing → idle. This cycle provides feedback for every interaction.</a:t>
            </a:r>
          </a:p>
          <a:p>
            <a:br>
              <a:rPr lang="en-GB" dirty="0"/>
            </a:br>
            <a:endParaRPr lang="en-GB" dirty="0"/>
          </a:p>
          <a:p>
            <a:br>
              <a:rPr lang="en-GB" dirty="0"/>
            </a:br>
            <a:endParaRPr lang="en-GB" dirty="0"/>
          </a:p>
          <a:p>
            <a:endParaRPr lang="en-GB" dirty="0"/>
          </a:p>
        </p:txBody>
      </p:sp>
      <p:sp>
        <p:nvSpPr>
          <p:cNvPr id="3" name="Footer Placeholder 2">
            <a:extLst>
              <a:ext uri="{FF2B5EF4-FFF2-40B4-BE49-F238E27FC236}">
                <a16:creationId xmlns:a16="http://schemas.microsoft.com/office/drawing/2014/main" id="{0CDD76D2-26DB-E629-D32A-76B5B591EDD5}"/>
              </a:ext>
            </a:extLst>
          </p:cNvPr>
          <p:cNvSpPr>
            <a:spLocks noGrp="1"/>
          </p:cNvSpPr>
          <p:nvPr>
            <p:ph type="ftr" sz="quarter" idx="16"/>
          </p:nvPr>
        </p:nvSpPr>
        <p:spPr>
          <a:xfrm>
            <a:off x="3067619" y="6356350"/>
            <a:ext cx="4114800" cy="365125"/>
          </a:xfrm>
        </p:spPr>
        <p:txBody>
          <a:bodyPr vert="horz" lIns="91440" tIns="45720" rIns="91440" bIns="45720" rtlCol="0" anchor="ctr">
            <a:normAutofit/>
          </a:bodyPr>
          <a:lstStyle/>
          <a:p>
            <a:pPr algn="ctr">
              <a:spcAft>
                <a:spcPts val="600"/>
              </a:spcAft>
              <a:defRPr/>
            </a:pPr>
            <a:r>
              <a:rPr lang="en-US" sz="1200" kern="1200" spc="0" dirty="0">
                <a:solidFill>
                  <a:srgbClr val="FFFFFF"/>
                </a:solidFill>
                <a:latin typeface="Calibri" panose="020F0502020204030204"/>
                <a:ea typeface="+mn-ea"/>
                <a:cs typeface="+mn-cs"/>
              </a:rPr>
              <a:t>Moyagabo Raphasha</a:t>
            </a:r>
          </a:p>
        </p:txBody>
      </p:sp>
      <p:sp>
        <p:nvSpPr>
          <p:cNvPr id="5" name="Slide Number Placeholder 4">
            <a:extLst>
              <a:ext uri="{FF2B5EF4-FFF2-40B4-BE49-F238E27FC236}">
                <a16:creationId xmlns:a16="http://schemas.microsoft.com/office/drawing/2014/main" id="{EB86AA73-93FA-5081-E4F7-AD47172383C0}"/>
              </a:ext>
            </a:extLst>
          </p:cNvPr>
          <p:cNvSpPr>
            <a:spLocks noGrp="1"/>
          </p:cNvSpPr>
          <p:nvPr>
            <p:ph type="sldNum" sz="quarter" idx="17"/>
          </p:nvPr>
        </p:nvSpPr>
        <p:spPr>
          <a:xfrm>
            <a:off x="8610600" y="6356350"/>
            <a:ext cx="2743200" cy="365125"/>
          </a:xfrm>
        </p:spPr>
        <p:txBody>
          <a:bodyPr vert="horz" lIns="91440" tIns="45720" rIns="91440" bIns="45720" rtlCol="0" anchor="ctr">
            <a:normAutofit/>
          </a:bodyPr>
          <a:lstStyle/>
          <a:p>
            <a:pPr>
              <a:spcAft>
                <a:spcPts val="600"/>
              </a:spcAft>
              <a:defRPr/>
            </a:pPr>
            <a:fld id="{24D65F33-A771-944D-9289-CA575F1D1B7F}" type="slidenum">
              <a:rPr lang="en-US" sz="1200" spc="0" smtClean="0">
                <a:solidFill>
                  <a:prstClr val="black">
                    <a:tint val="75000"/>
                  </a:prstClr>
                </a:solidFill>
                <a:latin typeface="Calibri" panose="020F0502020204030204"/>
              </a:rPr>
              <a:pPr>
                <a:spcAft>
                  <a:spcPts val="600"/>
                </a:spcAft>
                <a:defRPr/>
              </a:pPr>
              <a:t>38</a:t>
            </a:fld>
            <a:endParaRPr lang="en-US" sz="1200" spc="0" dirty="0">
              <a:solidFill>
                <a:prstClr val="black">
                  <a:tint val="75000"/>
                </a:prstClr>
              </a:solidFill>
              <a:latin typeface="Calibri" panose="020F0502020204030204"/>
            </a:endParaRPr>
          </a:p>
        </p:txBody>
      </p:sp>
      <p:sp>
        <p:nvSpPr>
          <p:cNvPr id="4" name="TextBox 3">
            <a:extLst>
              <a:ext uri="{FF2B5EF4-FFF2-40B4-BE49-F238E27FC236}">
                <a16:creationId xmlns:a16="http://schemas.microsoft.com/office/drawing/2014/main" id="{BF294623-9DE0-EF7C-5D4C-AC758A5C7E6F}"/>
              </a:ext>
            </a:extLst>
          </p:cNvPr>
          <p:cNvSpPr txBox="1"/>
          <p:nvPr/>
        </p:nvSpPr>
        <p:spPr>
          <a:xfrm>
            <a:off x="1495245" y="12038043"/>
            <a:ext cx="9144000" cy="317500"/>
          </a:xfrm>
          <a:prstGeom prst="rect">
            <a:avLst/>
          </a:prstGeom>
        </p:spPr>
        <p:txBody>
          <a:bodyPr>
            <a:normAutofit lnSpcReduction="10000"/>
          </a:bodyPr>
          <a:lstStyle/>
          <a:p>
            <a:pPr>
              <a:lnSpc>
                <a:spcPct val="90000"/>
              </a:lnSpc>
              <a:spcAft>
                <a:spcPts val="600"/>
              </a:spcAft>
            </a:pPr>
            <a:r>
              <a:rPr lang="en-US" sz="1700"/>
              <a:t>ThePhoto by PhotoAuthor is licensed under CCYYSA.</a:t>
            </a:r>
          </a:p>
        </p:txBody>
      </p:sp>
    </p:spTree>
    <p:extLst>
      <p:ext uri="{BB962C8B-B14F-4D97-AF65-F5344CB8AC3E}">
        <p14:creationId xmlns:p14="http://schemas.microsoft.com/office/powerpoint/2010/main" val="4065765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ADBD6-0C6B-368B-9D80-E6666D2FECB3}"/>
              </a:ext>
            </a:extLst>
          </p:cNvPr>
          <p:cNvSpPr>
            <a:spLocks noGrp="1"/>
          </p:cNvSpPr>
          <p:nvPr>
            <p:ph type="title"/>
          </p:nvPr>
        </p:nvSpPr>
        <p:spPr>
          <a:xfrm>
            <a:off x="6555546" y="-983318"/>
            <a:ext cx="5636453" cy="2614292"/>
          </a:xfrm>
        </p:spPr>
        <p:txBody>
          <a:bodyPr/>
          <a:lstStyle/>
          <a:p>
            <a:r>
              <a:rPr lang="en-ZA" dirty="0"/>
              <a:t>KEY CONCEPTS SUMMARY</a:t>
            </a:r>
            <a:endParaRPr lang="en-US" dirty="0"/>
          </a:p>
        </p:txBody>
      </p:sp>
      <p:pic>
        <p:nvPicPr>
          <p:cNvPr id="8" name="Picture Placeholder 7" descr="A group of blue balls">
            <a:extLst>
              <a:ext uri="{FF2B5EF4-FFF2-40B4-BE49-F238E27FC236}">
                <a16:creationId xmlns:a16="http://schemas.microsoft.com/office/drawing/2014/main" id="{C1BE2DAA-A927-641E-5043-30798D20E4BC}"/>
              </a:ext>
            </a:extLst>
          </p:cNvPr>
          <p:cNvPicPr>
            <a:picLocks noGrp="1" noChangeAspect="1"/>
          </p:cNvPicPr>
          <p:nvPr>
            <p:ph type="pic" sz="quarter" idx="13"/>
          </p:nvPr>
        </p:nvPicPr>
        <p:blipFill>
          <a:blip r:embed="rId2"/>
          <a:srcRect t="20" b="20"/>
          <a:stretch/>
        </p:blipFill>
        <p:spPr>
          <a:xfrm>
            <a:off x="-1" y="0"/>
            <a:ext cx="6286497" cy="6223000"/>
          </a:xfrm>
        </p:spPr>
      </p:pic>
      <p:sp>
        <p:nvSpPr>
          <p:cNvPr id="4" name="Footer Placeholder 3">
            <a:extLst>
              <a:ext uri="{FF2B5EF4-FFF2-40B4-BE49-F238E27FC236}">
                <a16:creationId xmlns:a16="http://schemas.microsoft.com/office/drawing/2014/main" id="{31C57666-E757-5964-277D-17A6DCF4C63A}"/>
              </a:ext>
            </a:extLst>
          </p:cNvPr>
          <p:cNvSpPr>
            <a:spLocks noGrp="1"/>
          </p:cNvSpPr>
          <p:nvPr>
            <p:ph type="ftr" sz="quarter" idx="17"/>
          </p:nvPr>
        </p:nvSpPr>
        <p:spPr>
          <a:xfrm>
            <a:off x="6857463" y="13328"/>
            <a:ext cx="2828913" cy="621671"/>
          </a:xfrm>
        </p:spPr>
        <p:txBody>
          <a:bodyPr/>
          <a:lstStyle/>
          <a:p>
            <a:r>
              <a:rPr lang="en-US"/>
              <a:t>Moyagabo Raphasha</a:t>
            </a:r>
          </a:p>
        </p:txBody>
      </p:sp>
      <p:sp>
        <p:nvSpPr>
          <p:cNvPr id="6" name="Slide Number Placeholder 5">
            <a:extLst>
              <a:ext uri="{FF2B5EF4-FFF2-40B4-BE49-F238E27FC236}">
                <a16:creationId xmlns:a16="http://schemas.microsoft.com/office/drawing/2014/main" id="{07A36A96-8A3B-5A1A-C091-A5963E10E23A}"/>
              </a:ext>
            </a:extLst>
          </p:cNvPr>
          <p:cNvSpPr>
            <a:spLocks noGrp="1"/>
          </p:cNvSpPr>
          <p:nvPr>
            <p:ph type="sldNum" sz="quarter" idx="18"/>
          </p:nvPr>
        </p:nvSpPr>
        <p:spPr>
          <a:xfrm>
            <a:off x="10614988" y="0"/>
            <a:ext cx="386389" cy="621671"/>
          </a:xfrm>
        </p:spPr>
        <p:txBody>
          <a:bodyPr/>
          <a:lstStyle/>
          <a:p>
            <a:fld id="{24D65F33-A771-944D-9289-CA575F1D1B7F}" type="slidenum">
              <a:rPr lang="en-US" smtClean="0"/>
              <a:pPr/>
              <a:t>39</a:t>
            </a:fld>
            <a:endParaRPr lang="en-US"/>
          </a:p>
        </p:txBody>
      </p:sp>
      <p:sp>
        <p:nvSpPr>
          <p:cNvPr id="14" name="Text Placeholder 13">
            <a:extLst>
              <a:ext uri="{FF2B5EF4-FFF2-40B4-BE49-F238E27FC236}">
                <a16:creationId xmlns:a16="http://schemas.microsoft.com/office/drawing/2014/main" id="{AB240928-9180-14ED-39F3-DC4B586C76B8}"/>
              </a:ext>
            </a:extLst>
          </p:cNvPr>
          <p:cNvSpPr>
            <a:spLocks noGrp="1"/>
          </p:cNvSpPr>
          <p:nvPr>
            <p:ph type="body" sz="quarter" idx="15"/>
          </p:nvPr>
        </p:nvSpPr>
        <p:spPr>
          <a:xfrm>
            <a:off x="6555546" y="1702344"/>
            <a:ext cx="5237581" cy="4520656"/>
          </a:xfrm>
        </p:spPr>
        <p:txBody>
          <a:bodyPr vert="horz" lIns="91440" tIns="45720" rIns="91440" bIns="45720" rtlCol="0" anchor="t">
            <a:normAutofit/>
          </a:bodyPr>
          <a:lstStyle/>
          <a:p>
            <a:r>
              <a:rPr lang="en-GB" dirty="0"/>
              <a:t>When the user types a message and presses Enter or clicks Send, the call chain is:</a:t>
            </a:r>
          </a:p>
          <a:p>
            <a:r>
              <a:rPr lang="en-GB" dirty="0" err="1"/>
              <a:t>UserInput_KeyDown</a:t>
            </a:r>
            <a:r>
              <a:rPr lang="en-GB" dirty="0"/>
              <a:t> (or </a:t>
            </a:r>
            <a:r>
              <a:rPr lang="en-GB" dirty="0" err="1"/>
              <a:t>SendButton_Click</a:t>
            </a:r>
            <a:r>
              <a:rPr lang="en-GB" dirty="0"/>
              <a:t>) → </a:t>
            </a:r>
            <a:r>
              <a:rPr lang="en-GB" dirty="0" err="1"/>
              <a:t>ProcessInput</a:t>
            </a:r>
            <a:r>
              <a:rPr lang="en-GB" dirty="0"/>
              <a:t>() → _</a:t>
            </a:r>
            <a:r>
              <a:rPr lang="en-GB" dirty="0" err="1"/>
              <a:t>chatService.GetResponse</a:t>
            </a:r>
            <a:r>
              <a:rPr lang="en-GB" dirty="0"/>
              <a:t>() → (inside </a:t>
            </a:r>
            <a:r>
              <a:rPr lang="en-GB" dirty="0" err="1"/>
              <a:t>ChatService</a:t>
            </a:r>
            <a:r>
              <a:rPr lang="en-GB" dirty="0"/>
              <a:t>) 7-step pipeline → (back in </a:t>
            </a:r>
            <a:r>
              <a:rPr lang="en-GB" dirty="0" err="1"/>
              <a:t>ProcessInput</a:t>
            </a:r>
            <a:r>
              <a:rPr lang="en-GB" dirty="0"/>
              <a:t>) </a:t>
            </a:r>
            <a:r>
              <a:rPr lang="en-GB" dirty="0" err="1"/>
              <a:t>AddBotMessage</a:t>
            </a:r>
            <a:r>
              <a:rPr lang="en-GB" dirty="0"/>
              <a:t>() → </a:t>
            </a:r>
            <a:r>
              <a:rPr lang="en-GB" dirty="0" err="1"/>
              <a:t>ObservableCollection</a:t>
            </a:r>
            <a:r>
              <a:rPr lang="en-GB" dirty="0"/>
              <a:t> fires change event → WPF </a:t>
            </a:r>
            <a:r>
              <a:rPr lang="en-GB" dirty="0" err="1"/>
              <a:t>DataTemplate</a:t>
            </a:r>
            <a:r>
              <a:rPr lang="en-GB" dirty="0"/>
              <a:t> renders new bubble → </a:t>
            </a:r>
            <a:r>
              <a:rPr lang="en-GB" dirty="0" err="1"/>
              <a:t>ChatScroll.ScrollToEnd</a:t>
            </a:r>
            <a:r>
              <a:rPr lang="en-GB" dirty="0"/>
              <a:t>() shows it</a:t>
            </a:r>
          </a:p>
          <a:p>
            <a:r>
              <a:rPr lang="en-GB" dirty="0"/>
              <a:t>The delegate flows separately: it is created in </a:t>
            </a:r>
            <a:r>
              <a:rPr lang="en-GB" dirty="0" err="1"/>
              <a:t>InitializeChat</a:t>
            </a:r>
            <a:r>
              <a:rPr lang="en-GB" dirty="0"/>
              <a:t>() and injected into </a:t>
            </a:r>
            <a:r>
              <a:rPr lang="en-GB" dirty="0" err="1"/>
              <a:t>ChatService</a:t>
            </a:r>
            <a:r>
              <a:rPr lang="en-GB" dirty="0"/>
              <a:t> at construction. Every time </a:t>
            </a:r>
            <a:r>
              <a:rPr lang="en-GB" dirty="0" err="1"/>
              <a:t>ChatService</a:t>
            </a:r>
            <a:r>
              <a:rPr lang="en-GB" dirty="0"/>
              <a:t> finds a keyword match, it calls _</a:t>
            </a:r>
            <a:r>
              <a:rPr lang="en-GB" dirty="0" err="1"/>
              <a:t>formatResponse</a:t>
            </a:r>
            <a:r>
              <a:rPr lang="en-GB" dirty="0"/>
              <a:t>() — which executes the lambda defined in </a:t>
            </a:r>
            <a:r>
              <a:rPr lang="en-GB" dirty="0" err="1"/>
              <a:t>InitializeChat</a:t>
            </a:r>
            <a:r>
              <a:rPr lang="en-GB" dirty="0"/>
              <a:t>() — before returning the final string. This means the formatting logic (sentiment prefix, personalisation) runs inside </a:t>
            </a:r>
            <a:r>
              <a:rPr lang="en-GB" dirty="0" err="1"/>
              <a:t>ChatService's</a:t>
            </a:r>
            <a:r>
              <a:rPr lang="en-GB" dirty="0"/>
              <a:t> context but with code that was written in </a:t>
            </a:r>
            <a:r>
              <a:rPr lang="en-GB" dirty="0" err="1"/>
              <a:t>MainWindow</a:t>
            </a:r>
            <a:r>
              <a:rPr lang="en-GB" dirty="0"/>
              <a:t>.</a:t>
            </a:r>
          </a:p>
          <a:p>
            <a:endParaRPr lang="en-US" dirty="0"/>
          </a:p>
        </p:txBody>
      </p:sp>
    </p:spTree>
    <p:extLst>
      <p:ext uri="{BB962C8B-B14F-4D97-AF65-F5344CB8AC3E}">
        <p14:creationId xmlns:p14="http://schemas.microsoft.com/office/powerpoint/2010/main" val="25207510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4F69895C-B7BA-DF47-C649-05DCDD16DAC9}"/>
              </a:ext>
            </a:extLst>
          </p:cNvPr>
          <p:cNvSpPr>
            <a:spLocks noGrp="1"/>
          </p:cNvSpPr>
          <p:nvPr>
            <p:ph type="ctrTitle"/>
          </p:nvPr>
        </p:nvSpPr>
        <p:spPr>
          <a:xfrm>
            <a:off x="7677213" y="2130882"/>
            <a:ext cx="3215303" cy="3718873"/>
          </a:xfrm>
        </p:spPr>
        <p:txBody>
          <a:bodyPr/>
          <a:lstStyle/>
          <a:p>
            <a:r>
              <a:rPr lang="en-US"/>
              <a:t>Thank you</a:t>
            </a:r>
          </a:p>
        </p:txBody>
      </p:sp>
      <p:sp>
        <p:nvSpPr>
          <p:cNvPr id="3" name="Footer Placeholder 2">
            <a:extLst>
              <a:ext uri="{FF2B5EF4-FFF2-40B4-BE49-F238E27FC236}">
                <a16:creationId xmlns:a16="http://schemas.microsoft.com/office/drawing/2014/main" id="{29F43F1F-A598-0415-C465-0600A883D104}"/>
              </a:ext>
            </a:extLst>
          </p:cNvPr>
          <p:cNvSpPr>
            <a:spLocks noGrp="1"/>
          </p:cNvSpPr>
          <p:nvPr>
            <p:ph type="ftr" sz="quarter" idx="18"/>
          </p:nvPr>
        </p:nvSpPr>
        <p:spPr>
          <a:xfrm>
            <a:off x="1190626" y="1"/>
            <a:ext cx="6981821" cy="634996"/>
          </a:xfrm>
        </p:spPr>
        <p:txBody>
          <a:bodyPr/>
          <a:lstStyle/>
          <a:p>
            <a:r>
              <a:rPr lang="en-US"/>
              <a:t>Moyagabo Raphasha</a:t>
            </a:r>
          </a:p>
        </p:txBody>
      </p:sp>
      <p:sp>
        <p:nvSpPr>
          <p:cNvPr id="5" name="Slide Number Placeholder 4">
            <a:extLst>
              <a:ext uri="{FF2B5EF4-FFF2-40B4-BE49-F238E27FC236}">
                <a16:creationId xmlns:a16="http://schemas.microsoft.com/office/drawing/2014/main" id="{ABDF2E1D-16A2-139F-9A01-337CF9A28775}"/>
              </a:ext>
            </a:extLst>
          </p:cNvPr>
          <p:cNvSpPr>
            <a:spLocks noGrp="1"/>
          </p:cNvSpPr>
          <p:nvPr>
            <p:ph type="sldNum" sz="quarter" idx="19"/>
          </p:nvPr>
        </p:nvSpPr>
        <p:spPr>
          <a:xfrm>
            <a:off x="10614988" y="1"/>
            <a:ext cx="386385" cy="634996"/>
          </a:xfrm>
        </p:spPr>
        <p:txBody>
          <a:bodyPr/>
          <a:lstStyle/>
          <a:p>
            <a:fld id="{24D65F33-A771-944D-9289-CA575F1D1B7F}" type="slidenum">
              <a:rPr lang="en-US" smtClean="0"/>
              <a:pPr/>
              <a:t>40</a:t>
            </a:fld>
            <a:endParaRPr lang="en-US"/>
          </a:p>
        </p:txBody>
      </p:sp>
      <p:pic>
        <p:nvPicPr>
          <p:cNvPr id="19" name="Picture Placeholder 18" descr="A pink and purple background with a pearl on top of a pink ribbon">
            <a:extLst>
              <a:ext uri="{FF2B5EF4-FFF2-40B4-BE49-F238E27FC236}">
                <a16:creationId xmlns:a16="http://schemas.microsoft.com/office/drawing/2014/main" id="{69D0DC8B-194D-785A-AE8F-8B2E68946193}"/>
              </a:ext>
            </a:extLst>
          </p:cNvPr>
          <p:cNvPicPr>
            <a:picLocks noGrp="1" noChangeAspect="1"/>
          </p:cNvPicPr>
          <p:nvPr>
            <p:ph type="pic" sz="quarter" idx="16"/>
          </p:nvPr>
        </p:nvPicPr>
        <p:blipFill>
          <a:blip r:embed="rId2"/>
          <a:srcRect t="1" b="1"/>
          <a:stretch>
            <a:fillRect/>
          </a:stretch>
        </p:blipFill>
        <p:spPr>
          <a:prstGeom prst="rect">
            <a:avLst/>
          </a:prstGeom>
        </p:spPr>
      </p:pic>
      <p:sp>
        <p:nvSpPr>
          <p:cNvPr id="17" name="Text Placeholder 16">
            <a:extLst>
              <a:ext uri="{FF2B5EF4-FFF2-40B4-BE49-F238E27FC236}">
                <a16:creationId xmlns:a16="http://schemas.microsoft.com/office/drawing/2014/main" id="{30457DCF-5867-5D2F-3FDF-F6A18D74D00D}"/>
              </a:ext>
            </a:extLst>
          </p:cNvPr>
          <p:cNvSpPr>
            <a:spLocks noGrp="1"/>
          </p:cNvSpPr>
          <p:nvPr>
            <p:ph type="body" sz="quarter" idx="14"/>
          </p:nvPr>
        </p:nvSpPr>
        <p:spPr>
          <a:xfrm>
            <a:off x="7551960" y="6089237"/>
            <a:ext cx="5299988" cy="1155069"/>
          </a:xfrm>
        </p:spPr>
        <p:txBody>
          <a:bodyPr vert="horz" lIns="91440" tIns="45720" rIns="91440" bIns="45720" rtlCol="0" anchor="t">
            <a:normAutofit/>
          </a:bodyPr>
          <a:lstStyle/>
          <a:p>
            <a:r>
              <a:rPr lang="en-US">
                <a:ea typeface="+mn-lt"/>
                <a:cs typeface="+mn-lt"/>
              </a:rPr>
              <a:t>| Protecting South African Digital Citizens | PROG6221</a:t>
            </a:r>
            <a:endParaRPr lang="en-US"/>
          </a:p>
        </p:txBody>
      </p:sp>
    </p:spTree>
    <p:extLst>
      <p:ext uri="{BB962C8B-B14F-4D97-AF65-F5344CB8AC3E}">
        <p14:creationId xmlns:p14="http://schemas.microsoft.com/office/powerpoint/2010/main" val="517791253"/>
      </p:ext>
    </p:extLst>
  </p:cSld>
  <p:clrMapOvr>
    <a:masterClrMapping/>
  </p:clrMapOvr>
</p:sld>
</file>

<file path=ppt/theme/theme1.xml><?xml version="1.0" encoding="utf-8"?>
<a:theme xmlns:a="http://schemas.openxmlformats.org/drawingml/2006/main" name="Office Theme">
  <a:themeElements>
    <a:clrScheme name="Slideshow Portfolio fine art">
      <a:dk1>
        <a:srgbClr val="000000"/>
      </a:dk1>
      <a:lt1>
        <a:srgbClr val="FFFFFF"/>
      </a:lt1>
      <a:dk2>
        <a:srgbClr val="0E2841"/>
      </a:dk2>
      <a:lt2>
        <a:srgbClr val="E8E8E8"/>
      </a:lt2>
      <a:accent1>
        <a:srgbClr val="4DB8D8"/>
      </a:accent1>
      <a:accent2>
        <a:srgbClr val="EAA1CF"/>
      </a:accent2>
      <a:accent3>
        <a:srgbClr val="FC5C2A"/>
      </a:accent3>
      <a:accent4>
        <a:srgbClr val="F3DC30"/>
      </a:accent4>
      <a:accent5>
        <a:srgbClr val="A0BBD8"/>
      </a:accent5>
      <a:accent6>
        <a:srgbClr val="9C99E5"/>
      </a:accent6>
      <a:hlink>
        <a:srgbClr val="467886"/>
      </a:hlink>
      <a:folHlink>
        <a:srgbClr val="96607D"/>
      </a:folHlink>
    </a:clrScheme>
    <a:fontScheme name="Custom 7">
      <a:majorFont>
        <a:latin typeface="Avenir Next LT Pro"/>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inimalist bold art portfolio slideshow_win32_SD_V6" id="{C52A829B-9920-4C81-8D0C-F76930EFCFE6}" vid="{BCF2A361-6E4A-4ACF-87F2-C79EA6C3764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0a338a6a-bbc2-46ef-b767-d3f83094b422"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6995911294417449E08EE0062394338" ma:contentTypeVersion="9" ma:contentTypeDescription="Create a new document." ma:contentTypeScope="" ma:versionID="9a126dd1d18f36a3d747a41f01a38ac2">
  <xsd:schema xmlns:xsd="http://www.w3.org/2001/XMLSchema" xmlns:xs="http://www.w3.org/2001/XMLSchema" xmlns:p="http://schemas.microsoft.com/office/2006/metadata/properties" xmlns:ns3="0a338a6a-bbc2-46ef-b767-d3f83094b422" targetNamespace="http://schemas.microsoft.com/office/2006/metadata/properties" ma:root="true" ma:fieldsID="05d3253d96078d77e03ad42ca5752b6f" ns3:_="">
    <xsd:import namespace="0a338a6a-bbc2-46ef-b767-d3f83094b422"/>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338a6a-bbc2-46ef-b767-d3f83094b422"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ACB12F-DD39-4F86-BACC-E4030A817FCA}">
  <ds:schemaRefs>
    <ds:schemaRef ds:uri="http://schemas.microsoft.com/sharepoint/v3/contenttype/forms"/>
  </ds:schemaRefs>
</ds:datastoreItem>
</file>

<file path=customXml/itemProps2.xml><?xml version="1.0" encoding="utf-8"?>
<ds:datastoreItem xmlns:ds="http://schemas.openxmlformats.org/officeDocument/2006/customXml" ds:itemID="{A4A27870-E3A0-4DC2-ACD3-2BFDF0AC42FB}">
  <ds:schemaRefs>
    <ds:schemaRef ds:uri="http://schemas.openxmlformats.org/package/2006/metadata/core-properties"/>
    <ds:schemaRef ds:uri="http://schemas.microsoft.com/office/infopath/2007/PartnerControls"/>
    <ds:schemaRef ds:uri="http://purl.org/dc/dcmitype/"/>
    <ds:schemaRef ds:uri="http://purl.org/dc/terms/"/>
    <ds:schemaRef ds:uri="http://www.w3.org/XML/1998/namespace"/>
    <ds:schemaRef ds:uri="http://schemas.microsoft.com/office/2006/documentManagement/types"/>
    <ds:schemaRef ds:uri="0a338a6a-bbc2-46ef-b767-d3f83094b422"/>
    <ds:schemaRef ds:uri="http://schemas.microsoft.com/office/2006/metadata/properties"/>
    <ds:schemaRef ds:uri="http://purl.org/dc/elements/1.1/"/>
  </ds:schemaRefs>
</ds:datastoreItem>
</file>

<file path=customXml/itemProps3.xml><?xml version="1.0" encoding="utf-8"?>
<ds:datastoreItem xmlns:ds="http://schemas.openxmlformats.org/officeDocument/2006/customXml" ds:itemID="{7448604C-B90F-4F1F-A71D-FBA3822ADA1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a338a6a-bbc2-46ef-b767-d3f83094b42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102</TotalTime>
  <Words>9960</Words>
  <Application>Microsoft Office PowerPoint</Application>
  <PresentationFormat>Widescreen</PresentationFormat>
  <Paragraphs>653</Paragraphs>
  <Slides>40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Aptos</vt:lpstr>
      <vt:lpstr>Arial</vt:lpstr>
      <vt:lpstr>Avenir Next LT Pro</vt:lpstr>
      <vt:lpstr>Avenir Next LT Pro Light</vt:lpstr>
      <vt:lpstr>Calibri</vt:lpstr>
      <vt:lpstr>Office Theme</vt:lpstr>
      <vt:lpstr>Maya CyberSecurity Awareness Bot</vt:lpstr>
      <vt:lpstr>Project Background</vt:lpstr>
      <vt:lpstr>AsciiArt.cs</vt:lpstr>
      <vt:lpstr>AudioPlayer.cs</vt:lpstr>
      <vt:lpstr>AudioPlayer.cs</vt:lpstr>
      <vt:lpstr>ChatMessage.cs</vt:lpstr>
      <vt:lpstr>ChatService.cs</vt:lpstr>
      <vt:lpstr>ChatService.cs</vt:lpstr>
      <vt:lpstr>ChatService.cs</vt:lpstr>
      <vt:lpstr>ChatService.cs</vt:lpstr>
      <vt:lpstr>ChatService.cs</vt:lpstr>
      <vt:lpstr>MainWindow.xaml.cs</vt:lpstr>
      <vt:lpstr>MainWindow.xaml.cs</vt:lpstr>
      <vt:lpstr>MainWindow.xaml.cs</vt:lpstr>
      <vt:lpstr>MainWindow.xaml.cs</vt:lpstr>
      <vt:lpstr>MainWindow.xaml.cs</vt:lpstr>
      <vt:lpstr>MainWindow.xaml.cs</vt:lpstr>
      <vt:lpstr>MainWindow.xaml.cs</vt:lpstr>
      <vt:lpstr>MainWindow.xaml.cs</vt:lpstr>
      <vt:lpstr>MainWindow.xaml.cs</vt:lpstr>
      <vt:lpstr>MainWindow.xaml.cs</vt:lpstr>
      <vt:lpstr>MainWindow.xaml.cs</vt:lpstr>
      <vt:lpstr>MainWindow.xaml.cs</vt:lpstr>
      <vt:lpstr>MainWindow.xaml.cs</vt:lpstr>
      <vt:lpstr>MainWindow.xaml.cs</vt:lpstr>
      <vt:lpstr>MainWindow.xaml.cs</vt:lpstr>
      <vt:lpstr>MainWindow.xaml.cs</vt:lpstr>
      <vt:lpstr>MainWindow.xaml.cs</vt:lpstr>
      <vt:lpstr>MainWindow.xaml.cs</vt:lpstr>
      <vt:lpstr>MainWindow.xaml.cs</vt:lpstr>
      <vt:lpstr>MainWindow.xaml.cs</vt:lpstr>
      <vt:lpstr>MainWindow.xaml.cs</vt:lpstr>
      <vt:lpstr>MainWindow.xaml.cs</vt:lpstr>
      <vt:lpstr>MainWindow.xaml.cs</vt:lpstr>
      <vt:lpstr>MainWindow.xaml.cs</vt:lpstr>
      <vt:lpstr>MainWindow.xaml.cs</vt:lpstr>
      <vt:lpstr>MainWindow.xaml.cs</vt:lpstr>
      <vt:lpstr>MainWindow.xaml.cs</vt:lpstr>
      <vt:lpstr>KEY CONCEPTS 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Moyagabo Raphasha</cp:lastModifiedBy>
  <cp:revision>1</cp:revision>
  <dcterms:created xsi:type="dcterms:W3CDTF">2026-04-02T11:50:39Z</dcterms:created>
  <dcterms:modified xsi:type="dcterms:W3CDTF">2026-05-29T09:55:10Z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0x010100B6995911294417449E08EE0062394338</vt:lpwstr>
  </property>
  <property fmtid="{D5CDD505-2E9C-101B-9397-08002B2CF9AE}" pid="3" name="MediaServiceImageTags">
    <vt:lpwstr/>
  </property>
</Properties>
</file>